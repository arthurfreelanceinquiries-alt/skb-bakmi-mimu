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202D44"/>
          </a:solidFill>
          <a:ln w="19050"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6A840"/>
                </a:solidFill>
                <a:latin typeface="Times New Roman"/>
              </a:defRPr>
            </a:pPr>
            <a:r>
              <a:t>STUDI KELAYAKAN BISNIS (SKB)</a:t>
            </a:r>
          </a:p>
          <a:p>
            <a:pPr algn="ctr">
              <a:defRPr sz="3600" b="1">
                <a:solidFill>
                  <a:srgbClr val="FFFFFF"/>
                </a:solidFill>
                <a:latin typeface="Times New Roman"/>
              </a:defRPr>
            </a:pPr>
            <a:r>
              <a:t>“ BAKMI MIMU CARINA SAYANG ”</a:t>
            </a:r>
          </a:p>
          <a:p>
            <a:pPr algn="ctr">
              <a:defRPr sz="1600" i="1">
                <a:solidFill>
                  <a:srgbClr val="BEC8D7"/>
                </a:solidFill>
                <a:latin typeface="Times New Roman"/>
              </a:defRPr>
            </a:pPr>
            <a:r>
              <a:t>- Cita Rasa Bakmi Legendaris &amp; Otentik Sejak 1999 -</a:t>
            </a:r>
          </a:p>
          <a:p>
            <a:pPr algn="ctr">
              <a:defRPr sz="1300">
                <a:solidFill>
                  <a:srgbClr val="FFFFFF"/>
                </a:solidFill>
                <a:latin typeface="Times New Roman"/>
              </a:defRPr>
            </a:pPr>
            <a:br/>
            <a:br/>
            <a:r>
              <a:t>Disusun Oleh: Debby Delicia / Tim SKB FEB (NIM: 312020064)</a:t>
            </a:r>
            <a:br/>
            <a:r>
              <a:t>Universitas Kristen Krida Wacana | Fakultas Ekonomi &amp; Bisnis | 2023/2024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Daftar Isi &amp; Struktur Laporan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Gambaran komprehensif kajian studi kelayakan bisnis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BAGIAN 01</a:t>
            </a:r>
          </a:p>
          <a:p>
            <a:pPr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PENDAHULUAN &amp; PROFIL USAHA</a:t>
            </a:r>
          </a:p>
          <a:p>
            <a:pPr>
              <a:defRPr sz="1200">
                <a:solidFill>
                  <a:srgbClr val="BEC8D7"/>
                </a:solidFill>
                <a:latin typeface="Times New Roman"/>
              </a:defRPr>
            </a:pPr>
            <a:r>
              <a:t>Latar belakang kuliner legendaris sejak 1999, peluang pasar perumahan, dan konsep modernisasi gerai.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BAGIAN 02</a:t>
            </a:r>
          </a:p>
          <a:p>
            <a:pPr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ASPEK PASAR &amp; PEMASARAN</a:t>
            </a:r>
          </a:p>
          <a:p>
            <a:pPr>
              <a:defRPr sz="1200">
                <a:solidFill>
                  <a:srgbClr val="BEC8D7"/>
                </a:solidFill>
                <a:latin typeface="Times New Roman"/>
              </a:defRPr>
            </a:pPr>
            <a:r>
              <a:t>Segmentasi demografis/geografis, 5 pilar diferensiasi, aspek lokasi strategis, dan bauran 7P.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BAGIAN 03</a:t>
            </a:r>
          </a:p>
          <a:p>
            <a:pPr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MANAJEMEN &amp; TEKNIS OPERASI</a:t>
            </a:r>
          </a:p>
          <a:p>
            <a:pPr>
              <a:defRPr sz="1200">
                <a:solidFill>
                  <a:srgbClr val="BEC8D7"/>
                </a:solidFill>
                <a:latin typeface="Times New Roman"/>
              </a:defRPr>
            </a:pPr>
            <a:r>
              <a:t>Struktur organisasi, job description, layout ruko, kebutuhan aktiva tetap, dan network planning A-L.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97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BAGIAN 04</a:t>
            </a:r>
          </a:p>
          <a:p>
            <a:pPr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ASPEK KEUANGAN &amp; KELAYAKAN</a:t>
            </a:r>
          </a:p>
          <a:p>
            <a:pPr>
              <a:defRPr sz="1200">
                <a:solidFill>
                  <a:srgbClr val="BEC8D7"/>
                </a:solidFill>
                <a:latin typeface="Times New Roman"/>
              </a:defRPr>
            </a:pPr>
            <a:r>
              <a:t>Initial outlay, proyeksi 5 tahun arus kas, depresiasi 20%, serta evaluasi NPV, IRR, PP, dan 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Latar Belakang &amp; Filosofi Usaha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Eksistensi kuliner bakmi legendaris sejak 1999 di Jakarta Barat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94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A840"/>
                </a:solidFill>
                <a:latin typeface="Times New Roman"/>
              </a:defRPr>
            </a:pPr>
            <a:r>
              <a:t>Sejarah Tradisi Bakmi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Bakmi merupakan hidangan akulturasi budaya Tionghoa dan Indonesia yang telah menjadi makanan pokok alternatif paling digemari lintas generasi.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56032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286000"/>
            <a:ext cx="2194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A840"/>
                </a:solidFill>
                <a:latin typeface="Times New Roman"/>
              </a:defRPr>
            </a:pPr>
            <a:r>
              <a:t>Otentisitas Sejak 1999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Bakmi Mimu Carina Sayang telah melayani pelanggan selama lebih dari 25 tahun di kawasan Duri Kosambi dengan resep keluarga turun-temurun.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256032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2194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A840"/>
                </a:solidFill>
                <a:latin typeface="Times New Roman"/>
              </a:defRPr>
            </a:pPr>
            <a:r>
              <a:t>Kualitas Tanpa Pengawet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Menggunakan adonan mie segar bertekstur kenyal berkilau alami (shining) yang diproduksi higienis setiap pagi tanpa bahan kimia pengawet.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011680"/>
            <a:ext cx="256032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286000"/>
            <a:ext cx="2194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A840"/>
                </a:solidFill>
                <a:latin typeface="Times New Roman"/>
              </a:defRPr>
            </a:pPr>
            <a:r>
              <a:t>Peluang Modernisasi Gerai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Ekspansi ruko baru memberikan kenyamanan ruang dine-in ber-AC, standar sanitasi open-kitchen, serta integrasi pemesanan digital GoFood/GrabFood.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Karakteristik &amp; Varian Produk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Kombinasi tekstur mie kenyal, topping gurih, dan pelengkap homemade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94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Bakmi Spesial Campur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Signature menu dengan kombinasi topping ayam jamur cincang, babi kecap, dan casiu merah manis gurih.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56032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286000"/>
            <a:ext cx="2194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Swikiauw Homemade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Olahan daging cincang dan udang segar bertekstur juicy dengan bumbu khas rebusan kaldu wangi.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256032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2194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Pangsit Goreng / Rebus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Kulit pangsit renyah dengan isian daging gurih yang melengkapi kenikmatan semangkuk bakmi.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011680"/>
            <a:ext cx="256032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286000"/>
            <a:ext cx="2194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Minuman Tradisional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Pilihan penyegar otentik: Es Jeruk Sonkit Kietna, Es Liang Teh Herbal Medan, dan Badak Sarsaparilla.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Daftar Menu &amp; Penetapan Harga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Struktur harga terjangkau dan bernilai tinggi (Value-Based Pricing)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0089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D2C"/>
                          </a:solidFill>
                          <a:latin typeface="Times New Roman"/>
                        </a:defRPr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E6A8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D2C"/>
                          </a:solidFill>
                          <a:latin typeface="Times New Roman"/>
                        </a:defRPr>
                      </a:pPr>
                      <a:r>
                        <a:t>Nama Menu Hidangan</a:t>
                      </a:r>
                    </a:p>
                  </a:txBody>
                  <a:tcPr>
                    <a:solidFill>
                      <a:srgbClr val="E6A8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D2C"/>
                          </a:solidFill>
                          <a:latin typeface="Times New Roman"/>
                        </a:defRPr>
                      </a:pPr>
                      <a:r>
                        <a:t>Deskripsi / Porsi</a:t>
                      </a:r>
                    </a:p>
                  </a:txBody>
                  <a:tcPr>
                    <a:solidFill>
                      <a:srgbClr val="E6A8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D2C"/>
                          </a:solidFill>
                          <a:latin typeface="Times New Roman"/>
                        </a:defRPr>
                      </a:pPr>
                      <a:r>
                        <a:t>Harga Satuan</a:t>
                      </a:r>
                    </a:p>
                  </a:txBody>
                  <a:tcPr>
                    <a:solidFill>
                      <a:srgbClr val="E6A84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Bakmi Utama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Bakmi Spesial Campur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Topping Ayam Jamur, Babi Kecap &amp; Casiu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37.000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Bakmi Utama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Bakmi Daging Babi Casiu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Mie kenyal dengan casiu merah manis gurih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34.000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Bakmi Utama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Bakmi Daging Ayam Jamur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Mie kenyal dengan olahan ayam jamur gurih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30.000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Pelengkap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Swikiauw Homemade (5 pcs)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Isian daging babi dan udang segar kuah kaldu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32.000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Pelengkap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Pangsit Rebus / Goreng (5 pcs)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Olahan pangsit gurih renyah homemade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25.000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Minuman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Es Jeruk Sonkit / Liang Teh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Minuman segar tradisional pendamping makan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12.000 - 15.000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5 Pilar Diferensiasi Usaha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Keunggulan kompetitif unik dalam memenangkan pasar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574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1783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1. RASA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Tekstur mie kenyal berkilau alami tanpa pengawet dipadu topping babi casiu, babi kecap, dan ayam gurih kaldu asli.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9504" y="2011680"/>
            <a:ext cx="20574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26664" y="2194560"/>
            <a:ext cx="1783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2. LOKASI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Berada di pusat keramaian perumahan Duri Kosambi persis di depan Sekolah Kristen Kalam Kudus.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7488" y="2011680"/>
            <a:ext cx="20574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4648" y="2194560"/>
            <a:ext cx="1783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3. LAYANAN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Sistem open-kitchen higienis, staf berseragam rapi, waktu penyajian cepat, dan delivery box penjaga suhu.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5472" y="2011680"/>
            <a:ext cx="20574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42632" y="2194560"/>
            <a:ext cx="1783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4. UKURAN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Pilihan porsi fleksibel (Regular, Spesial Campur, Jumbo) serta aneka jenis mie (halus, lebar, kwetiau, bihun).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63456" y="2011680"/>
            <a:ext cx="20574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0616" y="2194560"/>
            <a:ext cx="1783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5. PENYAJIAN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Mangkok keramik oriental estetik, kuah kaldu terpisah, sambal khas, dan kemasan takeaway ramah lingkungan.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Segmenting, Targeting, Positioning (STP)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Fokus pada pangsa pasar strategis kawasan Duri Kosambi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Segmentasi Demografis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Masyarakat keluarga, orang tua murid, guru Kalam Kudus, pelajar, dan pekerja usia 7-65 tahun kelas menengah ke bawah hingga atas.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Segmentasi Geografis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Wilayah perumahan Duri Kosambi, Taman Semanan Indah, Cengkareng, Puri Indah, dan sekitarnya di Jakarta Barat.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Target Pemasaran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Fokus sarapan dan makan siang keluarga serta civitas sekolah Kalam Kudus dengan daya beli stabil dan repeat order tinggi.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97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Positioning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Sebagai kedai bakmi legendaris terpercaya sejak 1999 yang menyajikan bakmi otentik paling lezat, higienis, dan nyaman.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Bauran Pemasaran (7P) - Bagian 1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Strategi produk, harga, distribusi, dan promosi agresif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94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PRODUCT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Resep keluarga otentik sejak 1999 tanpa bahan pengawet, varian topping babi casiu, babi kecap, dan ayam jamur, serta pelengkap swikiauw homemade.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56032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286000"/>
            <a:ext cx="2194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PRICE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Rentang harga terjangkau Rp 15.000 - Rp 45.000 dengan porsi mengenyangkan dan value-for-money yang sangat tinggi.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256032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2194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PLACE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Ruko 2 lantai komersial tepat di depan Sekolah Kristen Kalam Kudus Duri Kosambi dengan fasilitas dine-in ber-AC dan parkir nyaman.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011680"/>
            <a:ext cx="256032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286000"/>
            <a:ext cx="2194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PROMOTION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Promosi media sosial Instagram/TikTok kuliner, voucher potongan harga pembukaan, kerja sama komunitas, dan layanan GoFood/GrabFood.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Bauran Pemasaran (7P) - Bagian 2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Standarisasi sumber daya manusia, proses produksi, dan bukti fisik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290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297180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840"/>
                </a:solidFill>
                <a:latin typeface="Times New Roman"/>
              </a:defRPr>
            </a:pPr>
            <a:r>
              <a:t>PEOPLE (SDM)</a:t>
            </a:r>
          </a:p>
          <a:p>
            <a:br/>
            <a:pPr>
              <a:defRPr sz="1300">
                <a:solidFill>
                  <a:srgbClr val="FFFFFF"/>
                </a:solidFill>
                <a:latin typeface="Times New Roman"/>
              </a:defRPr>
            </a:pPr>
            <a:r>
              <a:t>Tenaga koki ahli peracik resep keluarga, kasir yang teliti, pramusaji ramah berseragam rapi, dan kurir pengantaran sigap.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11680"/>
            <a:ext cx="34290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297180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840"/>
                </a:solidFill>
                <a:latin typeface="Times New Roman"/>
              </a:defRPr>
            </a:pPr>
            <a:r>
              <a:t>PROCESS (PROSES)</a:t>
            </a:r>
          </a:p>
          <a:p>
            <a:br/>
            <a:pPr>
              <a:defRPr sz="1300">
                <a:solidFill>
                  <a:srgbClr val="FFFFFF"/>
                </a:solidFill>
                <a:latin typeface="Times New Roman"/>
              </a:defRPr>
            </a:pPr>
            <a:r>
              <a:t>Sistem operasional open-kitchen higienis, peracikan mie berstandar waktu cepat (&lt; 7 menit), dan SOP pengemasan rapi anti-tumpah.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2011680"/>
            <a:ext cx="34290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286000"/>
            <a:ext cx="297180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840"/>
                </a:solidFill>
                <a:latin typeface="Times New Roman"/>
              </a:defRPr>
            </a:pPr>
            <a:r>
              <a:t>PHYSICAL EVIDENCE</a:t>
            </a:r>
          </a:p>
          <a:p>
            <a:br/>
            <a:pPr>
              <a:defRPr sz="1300">
                <a:solidFill>
                  <a:srgbClr val="FFFFFF"/>
                </a:solidFill>
                <a:latin typeface="Times New Roman"/>
              </a:defRPr>
            </a:pPr>
            <a:r>
              <a:t>Desain interior oriental kontemporer ber-AC, kebersihan meja makan, etalase kaca display transparan, dan kemasan berlogo resmi.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Aspek Lokasi &amp; Keunggulan Aksesibilitas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Kawasan komersial prima di Jalan Angsoka Hijau IV, Duri Kosambi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Titik Lokasi Prima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Jl. Angsoka Hijau IV No. 17 E6, Perumahan Duri Kosambi, Jakarta Barat. Tepat berhadapan langsung dengan gerbang Sekolah Kristen Kalam Kudus.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Tingkat Kepadatan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Dikelilingi kawasan perumahan padat keluarga menengah-atas dengan tingkat mobilitas harian tinggi pada jam sarapan dan makan siang.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Fasilitas Penunjang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Area parkir motor dan mobil, akses jalan 2 lajur yang mudah dijangkau, dan kedekatan dengan jalur utama Semanan-Cengkareng.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97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Konektivitas Online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Radius jangkauan pengiriman cepat mencakup Semanan, Cengkareng, Puri Kembangan, hingga perbatasan Cipondoh.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Aspek Manajemen &amp; Struktur Organisasi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Struktur fungsional untuk mengontrol kualitas mutu dan operasional gerai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0632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Manajer Kedai (1 Orang)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Penanggung jawab operasional harian, laporan keuangan, pengawasan SOP mutu.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2900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65960"/>
            <a:ext cx="30632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Kepala Dapur (Chef) (1 Orang)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Pengawasan racikan bumbu otentik, perebusan mie presisi, dan konsistensi rasa.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965960"/>
            <a:ext cx="30632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Asisten Koki (1 Orang)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Persiapan topping daging, adonan swikiauw &amp; pangsit homemade, dan plating hidangan.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42900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30632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Kasir (Cashier) (1 Orang)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Transaksi tunai &amp; non-tunai (POS/QRIS), pencatatan pesanan GoFood/GrabFood.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114800"/>
            <a:ext cx="342900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251960"/>
            <a:ext cx="30632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Pramusaji (Server) (2 Orang)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Penyajian makanan ke meja tamu, kebersihan ruang makan dine-in, hospitality.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4114800"/>
            <a:ext cx="342900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251960"/>
            <a:ext cx="30632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Stock &amp; Delivery (1 Orang)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Pengelolaan stok bahan baku, kontrol suhu chiller, dan pengantaran lokal.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Aktiva Tetap (Capex) Peralatan &amp; Renovasi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Total investasi aktiva tetap mencapai Rp 182.700.000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9601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Renovasi Interior &amp; Partisi Kaca Ruko (1 Paket)</a:t>
            </a:r>
          </a:p>
          <a:p>
            <a:pPr>
              <a:defRPr sz="1200">
                <a:solidFill>
                  <a:srgbClr val="E6A840"/>
                </a:solidFill>
                <a:latin typeface="Times New Roman"/>
              </a:defRPr>
            </a:pPr>
            <a:r>
              <a:t>Nilai Investasi: Rp 28.000.000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9601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846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2 Unit Motor Operasional Delivery (2 Unit)</a:t>
            </a:r>
          </a:p>
          <a:p>
            <a:pPr>
              <a:defRPr sz="1200">
                <a:solidFill>
                  <a:srgbClr val="E6A840"/>
                </a:solidFill>
                <a:latin typeface="Times New Roman"/>
              </a:defRPr>
            </a:pPr>
            <a:r>
              <a:t>Nilai Investasi: Rp 42.000.000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5212080" cy="9601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4846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Dandang Rebus Mie 4 Lubang Stainless (2 Unit)</a:t>
            </a:r>
          </a:p>
          <a:p>
            <a:pPr>
              <a:defRPr sz="1200">
                <a:solidFill>
                  <a:srgbClr val="E6A840"/>
                </a:solidFill>
                <a:latin typeface="Times New Roman"/>
              </a:defRPr>
            </a:pPr>
            <a:r>
              <a:t>Nilai Investasi: Rp 9.000.000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71800"/>
            <a:ext cx="5212080" cy="9601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40"/>
            <a:ext cx="4846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Chiller Undercounter &amp; Chest Freezer 400L (2 Unit)</a:t>
            </a:r>
          </a:p>
          <a:p>
            <a:pPr>
              <a:defRPr sz="1200">
                <a:solidFill>
                  <a:srgbClr val="E6A840"/>
                </a:solidFill>
                <a:latin typeface="Times New Roman"/>
              </a:defRPr>
            </a:pPr>
            <a:r>
              <a:t>Nilai Investasi: Rp 15.500.000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212080" cy="9601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4846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Mesin Press / Adonan Mie Komersial (1 Unit)</a:t>
            </a:r>
          </a:p>
          <a:p>
            <a:pPr>
              <a:defRPr sz="1200">
                <a:solidFill>
                  <a:srgbClr val="E6A840"/>
                </a:solidFill>
                <a:latin typeface="Times New Roman"/>
              </a:defRPr>
            </a:pPr>
            <a:r>
              <a:t>Nilai Investasi: Rp 8.500.000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5212080" cy="9601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4846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Meja Kursi Kayu Resto (10 Meja, 40 Kursi) (50 Item)</a:t>
            </a:r>
          </a:p>
          <a:p>
            <a:pPr>
              <a:defRPr sz="1200">
                <a:solidFill>
                  <a:srgbClr val="E6A840"/>
                </a:solidFill>
                <a:latin typeface="Times New Roman"/>
              </a:defRPr>
            </a:pPr>
            <a:r>
              <a:t>Nilai Investasi: Rp 22.000.000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57800"/>
            <a:ext cx="5212080" cy="9601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4846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AC Inverter 2 PK &amp; Kipas Exhaust Ducting (3 Unit)</a:t>
            </a:r>
          </a:p>
          <a:p>
            <a:pPr>
              <a:defRPr sz="1200">
                <a:solidFill>
                  <a:srgbClr val="E6A840"/>
                </a:solidFill>
                <a:latin typeface="Times New Roman"/>
              </a:defRPr>
            </a:pPr>
            <a:r>
              <a:t>Nilai Investasi: Rp 20.500.000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257800"/>
            <a:ext cx="5212080" cy="9601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349240"/>
            <a:ext cx="4846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Mesin Kasir POS, CCTV 8 Cam, TV LED &amp; Signage (1 Paket)</a:t>
            </a:r>
          </a:p>
          <a:p>
            <a:pPr>
              <a:defRPr sz="1200">
                <a:solidFill>
                  <a:srgbClr val="E6A840"/>
                </a:solidFill>
                <a:latin typeface="Times New Roman"/>
              </a:defRPr>
            </a:pPr>
            <a:r>
              <a:t>Nilai Investasi: Rp 16.200.000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Layout Tata Letak Ruangan Gerai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Desain fungsional untuk mengoptimalkan kenyamanan dan efisiensi alur kerja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0632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Dining Area (Lantai 1)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Kapasitas 10 meja makan (40 kursi) dengan pendingin udara AC 2 PK, Wi-Fi gratis, dan penerangan nyaman.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2900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65960"/>
            <a:ext cx="30632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Open-Kitchen Stainless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Dapur bersih dengan partisi kaca transparan agar konsumen dapat melihat proses perebusan mie yang higienis.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965960"/>
            <a:ext cx="30632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Cashier Counter &amp; POS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Meja kasir terintegrasi mesin POS touchscreen, printer struk dapur, dan display menu transparan.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42900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30632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Waiting Area Ojek Online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Ruang tunggu khusus driver GoFood/GrabFood agar tidak mengganggu kenyamanan tamu dine-in.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114800"/>
            <a:ext cx="342900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251960"/>
            <a:ext cx="30632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Chiller &amp; Dry Storage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Gudang penyimpanan mie segar harian, chiller daging, dan stok bumbu terpisah bebas hama.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4114800"/>
            <a:ext cx="342900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251960"/>
            <a:ext cx="30632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Staff Room &amp; Fasilitas</a:t>
            </a:r>
          </a:p>
          <a:p>
            <a:br/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Ruang istirahat karyawan di lantai 2, toilet bersih pengunjung, dan area parkir motor di depan ruko.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Network Planning (A s/d L) &amp; Timeline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Jadwal tahapan pra-operasional selama 3 bulan intensif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290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297180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Bulan 1: Perencanaan &amp; Legalitas</a:t>
            </a:r>
          </a:p>
          <a:p>
            <a:br/>
            <a:pPr>
              <a:defRPr sz="1300">
                <a:solidFill>
                  <a:srgbClr val="FFFFFF"/>
                </a:solidFill>
                <a:latin typeface="Times New Roman"/>
              </a:defRPr>
            </a:pPr>
            <a:r>
              <a:t>A. Penyusunan proposal SKB</a:t>
            </a:r>
            <a:br/>
            <a:r>
              <a:t>B. Survei ruko Duri Kosambi</a:t>
            </a:r>
            <a:br/>
            <a:r>
              <a:t>C. Studi kelayakan lingkungan</a:t>
            </a:r>
            <a:br/>
            <a:r>
              <a:t>D. Penandatanganan akad sewa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11680"/>
            <a:ext cx="34290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297180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Bulan 2: Renovasi &amp; Pengadaan</a:t>
            </a:r>
          </a:p>
          <a:p>
            <a:br/>
            <a:pPr>
              <a:defRPr sz="1300">
                <a:solidFill>
                  <a:srgbClr val="FFFFFF"/>
                </a:solidFill>
                <a:latin typeface="Times New Roman"/>
              </a:defRPr>
            </a:pPr>
            <a:r>
              <a:t>E. Desain arsitektur interior</a:t>
            </a:r>
            <a:br/>
            <a:r>
              <a:t>F. Renovasi fisik &amp; instalasi dapur</a:t>
            </a:r>
            <a:br/>
            <a:r>
              <a:t>G. Pengadaan mesin rebus &amp; chiller</a:t>
            </a:r>
            <a:br/>
            <a:r>
              <a:t>H. Setting meja kursi &amp; tata letak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2011680"/>
            <a:ext cx="34290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286000"/>
            <a:ext cx="297180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Bulan 3: Persiapan &amp; Launching</a:t>
            </a:r>
          </a:p>
          <a:p>
            <a:br/>
            <a:pPr>
              <a:defRPr sz="1300">
                <a:solidFill>
                  <a:srgbClr val="FFFFFF"/>
                </a:solidFill>
                <a:latin typeface="Times New Roman"/>
              </a:defRPr>
            </a:pPr>
            <a:r>
              <a:t>I. Uji coba fungsi dapur &amp; sanitasi</a:t>
            </a:r>
            <a:br/>
            <a:r>
              <a:t>J. Perekrutan 7 staf operasional</a:t>
            </a:r>
            <a:br/>
            <a:r>
              <a:t>K. Pelatihan SOP resep &amp; kasir</a:t>
            </a:r>
            <a:br/>
            <a:r>
              <a:t>L. Grand Opening &amp; promo diskon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Rincian Investasi Awal (Initial Outlay)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Total modal awal yang dibutuhkan: Rp 231.200.000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7724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Aktiva Tetap (Capex) : Rp 182.700.000</a:t>
            </a:r>
          </a:p>
          <a:p>
            <a:pPr>
              <a:defRPr sz="1100">
                <a:solidFill>
                  <a:srgbClr val="BEC8D7"/>
                </a:solidFill>
                <a:latin typeface="Times New Roman"/>
              </a:defRPr>
            </a:pPr>
            <a:r>
              <a:t>Pengadaan peralatan dapur rebus mie, chiller, motor delivery, meja kursi, renovasi ruko.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698480" cy="77724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Biaya Sewa Ruko : Rp 45.000.000</a:t>
            </a:r>
          </a:p>
          <a:p>
            <a:pPr>
              <a:defRPr sz="1100">
                <a:solidFill>
                  <a:srgbClr val="BEC8D7"/>
                </a:solidFill>
                <a:latin typeface="Times New Roman"/>
              </a:defRPr>
            </a:pPr>
            <a:r>
              <a:t>Alokasi sewa ruko 2 lantai komersial selama 1 tahun pertama.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10698480" cy="77724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Biaya AMDAL &amp; Sanitasi : Rp 500.000</a:t>
            </a:r>
          </a:p>
          <a:p>
            <a:pPr>
              <a:defRPr sz="1100">
                <a:solidFill>
                  <a:srgbClr val="BEC8D7"/>
                </a:solidFill>
                <a:latin typeface="Times New Roman"/>
              </a:defRPr>
            </a:pPr>
            <a:r>
              <a:t>Penyediaan fasilitas tempat sampah pilah, grease trap lemak, dan sanitasi.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34840"/>
            <a:ext cx="10698480" cy="77724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Biaya Survei &amp; Perizinan : Rp 1.000.000</a:t>
            </a:r>
          </a:p>
          <a:p>
            <a:pPr>
              <a:defRPr sz="1100">
                <a:solidFill>
                  <a:srgbClr val="BEC8D7"/>
                </a:solidFill>
                <a:latin typeface="Times New Roman"/>
              </a:defRPr>
            </a:pPr>
            <a:r>
              <a:t>Biaya transportasi, uji pasar lingkungan, dan perizinan kelayakan usaha.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Biaya Promosi Awal : Rp 2.000.000</a:t>
            </a:r>
          </a:p>
          <a:p>
            <a:pPr>
              <a:defRPr sz="1100">
                <a:solidFill>
                  <a:srgbClr val="BEC8D7"/>
                </a:solidFill>
                <a:latin typeface="Times New Roman"/>
              </a:defRPr>
            </a:pPr>
            <a:r>
              <a:t>Pemasangan neon box, spanduk grand opening, iklan media sosial, dan voucher promo.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Proyeksi Penerimaan Kas (Cash Inflow 5 Tahun)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Asumsi 25 hari kerja/bulan (300 hari operasi/tahun) dengan pertumbuhan penjualan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574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7830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840"/>
                </a:solidFill>
                <a:latin typeface="Times New Roman"/>
              </a:defRPr>
            </a:pPr>
            <a:r>
              <a:t>TAHUN 1</a:t>
            </a:r>
          </a:p>
          <a:p>
            <a:br/>
            <a:pPr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Rp 1.476.000.000</a:t>
            </a:r>
          </a:p>
          <a:p>
            <a:br/>
            <a:pPr>
              <a:defRPr sz="1100">
                <a:solidFill>
                  <a:srgbClr val="BEC8D7"/>
                </a:solidFill>
                <a:latin typeface="Times New Roman"/>
              </a:defRPr>
            </a:pPr>
            <a:r>
              <a:t>Proyeksi penjualan bakmi dan minuman segar dengan volume penjualan harian terstandarisasi.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9504" y="2011680"/>
            <a:ext cx="20574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26664" y="2286000"/>
            <a:ext cx="17830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840"/>
                </a:solidFill>
                <a:latin typeface="Times New Roman"/>
              </a:defRPr>
            </a:pPr>
            <a:r>
              <a:t>TAHUN 2</a:t>
            </a:r>
          </a:p>
          <a:p>
            <a:br/>
            <a:pPr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Rp 1.953.600.000</a:t>
            </a:r>
          </a:p>
          <a:p>
            <a:br/>
            <a:pPr>
              <a:defRPr sz="1100">
                <a:solidFill>
                  <a:srgbClr val="BEC8D7"/>
                </a:solidFill>
                <a:latin typeface="Times New Roman"/>
              </a:defRPr>
            </a:pPr>
            <a:r>
              <a:t>Proyeksi penjualan bakmi dan minuman segar dengan volume penjualan harian terstandarisasi.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7488" y="2011680"/>
            <a:ext cx="20574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4648" y="2286000"/>
            <a:ext cx="17830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840"/>
                </a:solidFill>
                <a:latin typeface="Times New Roman"/>
              </a:defRPr>
            </a:pPr>
            <a:r>
              <a:t>TAHUN 3</a:t>
            </a:r>
          </a:p>
          <a:p>
            <a:br/>
            <a:pPr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Rp 2.561.700.000</a:t>
            </a:r>
          </a:p>
          <a:p>
            <a:br/>
            <a:pPr>
              <a:defRPr sz="1100">
                <a:solidFill>
                  <a:srgbClr val="BEC8D7"/>
                </a:solidFill>
                <a:latin typeface="Times New Roman"/>
              </a:defRPr>
            </a:pPr>
            <a:r>
              <a:t>Proyeksi penjualan bakmi dan minuman segar dengan volume penjualan harian terstandarisasi.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5472" y="2011680"/>
            <a:ext cx="20574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42632" y="2286000"/>
            <a:ext cx="17830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840"/>
                </a:solidFill>
                <a:latin typeface="Times New Roman"/>
              </a:defRPr>
            </a:pPr>
            <a:r>
              <a:t>TAHUN 4</a:t>
            </a:r>
          </a:p>
          <a:p>
            <a:br/>
            <a:pPr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Rp 3.301.800.000</a:t>
            </a:r>
          </a:p>
          <a:p>
            <a:br/>
            <a:pPr>
              <a:defRPr sz="1100">
                <a:solidFill>
                  <a:srgbClr val="BEC8D7"/>
                </a:solidFill>
                <a:latin typeface="Times New Roman"/>
              </a:defRPr>
            </a:pPr>
            <a:r>
              <a:t>Proyeksi penjualan bakmi dan minuman segar dengan volume penjualan harian terstandarisasi.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63456" y="2011680"/>
            <a:ext cx="20574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0616" y="2286000"/>
            <a:ext cx="17830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840"/>
                </a:solidFill>
                <a:latin typeface="Times New Roman"/>
              </a:defRPr>
            </a:pPr>
            <a:r>
              <a:t>TAHUN 5</a:t>
            </a:r>
          </a:p>
          <a:p>
            <a:br/>
            <a:pPr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Rp 4.296.300.000</a:t>
            </a:r>
          </a:p>
          <a:p>
            <a:br/>
            <a:pPr>
              <a:defRPr sz="1100">
                <a:solidFill>
                  <a:srgbClr val="BEC8D7"/>
                </a:solidFill>
                <a:latin typeface="Times New Roman"/>
              </a:defRPr>
            </a:pPr>
            <a:r>
              <a:t>Proyeksi penjualan bakmi dan minuman segar dengan volume penjualan harian terstandarisasi.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Proyeksi Pengeluaran Kas (Cash Outflow 5 Tahun)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Beban gaji karyawan, bahan baku daging &amp; mie segar, serta utilitas komersial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574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7830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840"/>
                </a:solidFill>
                <a:latin typeface="Times New Roman"/>
              </a:defRPr>
            </a:pPr>
            <a:r>
              <a:t>TAHUN 1</a:t>
            </a:r>
          </a:p>
          <a:p>
            <a:br/>
            <a:pPr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Rp 840.600.000</a:t>
            </a:r>
          </a:p>
          <a:p>
            <a:br/>
            <a:pPr>
              <a:defRPr sz="1100">
                <a:solidFill>
                  <a:srgbClr val="BEC8D7"/>
                </a:solidFill>
                <a:latin typeface="Times New Roman"/>
              </a:defRPr>
            </a:pPr>
            <a:r>
              <a:t>Mencakup gaji 7 staf, bahan baku daging babi/ayam/mie, listrik PLN B-1, gas LPG, dan air PAM.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9504" y="2011680"/>
            <a:ext cx="20574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26664" y="2286000"/>
            <a:ext cx="17830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840"/>
                </a:solidFill>
                <a:latin typeface="Times New Roman"/>
              </a:defRPr>
            </a:pPr>
            <a:r>
              <a:t>TAHUN 2</a:t>
            </a:r>
          </a:p>
          <a:p>
            <a:br/>
            <a:pPr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Rp 948.372.000</a:t>
            </a:r>
          </a:p>
          <a:p>
            <a:br/>
            <a:pPr>
              <a:defRPr sz="1100">
                <a:solidFill>
                  <a:srgbClr val="BEC8D7"/>
                </a:solidFill>
                <a:latin typeface="Times New Roman"/>
              </a:defRPr>
            </a:pPr>
            <a:r>
              <a:t>Mencakup gaji 7 staf, bahan baku daging babi/ayam/mie, listrik PLN B-1, gas LPG, dan air PAM.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7488" y="2011680"/>
            <a:ext cx="20574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4648" y="2286000"/>
            <a:ext cx="17830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840"/>
                </a:solidFill>
                <a:latin typeface="Times New Roman"/>
              </a:defRPr>
            </a:pPr>
            <a:r>
              <a:t>TAHUN 3</a:t>
            </a:r>
          </a:p>
          <a:p>
            <a:br/>
            <a:pPr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Rp 1.092.877.680</a:t>
            </a:r>
          </a:p>
          <a:p>
            <a:br/>
            <a:pPr>
              <a:defRPr sz="1100">
                <a:solidFill>
                  <a:srgbClr val="BEC8D7"/>
                </a:solidFill>
                <a:latin typeface="Times New Roman"/>
              </a:defRPr>
            </a:pPr>
            <a:r>
              <a:t>Mencakup gaji 7 staf, bahan baku daging babi/ayam/mie, listrik PLN B-1, gas LPG, dan air PAM.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5472" y="2011680"/>
            <a:ext cx="20574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42632" y="2286000"/>
            <a:ext cx="17830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840"/>
                </a:solidFill>
                <a:latin typeface="Times New Roman"/>
              </a:defRPr>
            </a:pPr>
            <a:r>
              <a:t>TAHUN 4</a:t>
            </a:r>
          </a:p>
          <a:p>
            <a:br/>
            <a:pPr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Rp 1.286.287.481</a:t>
            </a:r>
          </a:p>
          <a:p>
            <a:br/>
            <a:pPr>
              <a:defRPr sz="1100">
                <a:solidFill>
                  <a:srgbClr val="BEC8D7"/>
                </a:solidFill>
                <a:latin typeface="Times New Roman"/>
              </a:defRPr>
            </a:pPr>
            <a:r>
              <a:t>Mencakup gaji 7 staf, bahan baku daging babi/ayam/mie, listrik PLN B-1, gas LPG, dan air PAM.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63456" y="2011680"/>
            <a:ext cx="2057400" cy="393192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0616" y="2286000"/>
            <a:ext cx="17830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840"/>
                </a:solidFill>
                <a:latin typeface="Times New Roman"/>
              </a:defRPr>
            </a:pPr>
            <a:r>
              <a:t>TAHUN 5</a:t>
            </a:r>
          </a:p>
          <a:p>
            <a:br/>
            <a:pPr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Rp 1.546.179.938</a:t>
            </a:r>
          </a:p>
          <a:p>
            <a:br/>
            <a:pPr>
              <a:defRPr sz="1100">
                <a:solidFill>
                  <a:srgbClr val="BEC8D7"/>
                </a:solidFill>
                <a:latin typeface="Times New Roman"/>
              </a:defRPr>
            </a:pPr>
            <a:r>
              <a:t>Mencakup gaji 7 staf, bahan baku daging babi/ayam/mie, listrik PLN B-1, gas LPG, dan air PAM.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Tabel Arus Kas Bersih (NCF) &amp; Proceed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Penyusutan aktiva tetap metode garis lurus sebesar 20% per tahun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D2C"/>
                          </a:solidFill>
                          <a:latin typeface="Times New Roman"/>
                        </a:defRPr>
                      </a:pPr>
                      <a:r>
                        <a:t>Komponen Arus Kas</a:t>
                      </a:r>
                    </a:p>
                  </a:txBody>
                  <a:tcPr>
                    <a:solidFill>
                      <a:srgbClr val="E6A8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D2C"/>
                          </a:solidFill>
                          <a:latin typeface="Times New Roman"/>
                        </a:defRPr>
                      </a:pPr>
                      <a:r>
                        <a:t>Tahun 1</a:t>
                      </a:r>
                    </a:p>
                  </a:txBody>
                  <a:tcPr>
                    <a:solidFill>
                      <a:srgbClr val="E6A8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D2C"/>
                          </a:solidFill>
                          <a:latin typeface="Times New Roman"/>
                        </a:defRPr>
                      </a:pPr>
                      <a:r>
                        <a:t>Tahun 2</a:t>
                      </a:r>
                    </a:p>
                  </a:txBody>
                  <a:tcPr>
                    <a:solidFill>
                      <a:srgbClr val="E6A8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D2C"/>
                          </a:solidFill>
                          <a:latin typeface="Times New Roman"/>
                        </a:defRPr>
                      </a:pPr>
                      <a:r>
                        <a:t>Tahun 3</a:t>
                      </a:r>
                    </a:p>
                  </a:txBody>
                  <a:tcPr>
                    <a:solidFill>
                      <a:srgbClr val="E6A8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D2C"/>
                          </a:solidFill>
                          <a:latin typeface="Times New Roman"/>
                        </a:defRPr>
                      </a:pPr>
                      <a:r>
                        <a:t>Tahun 4</a:t>
                      </a:r>
                    </a:p>
                  </a:txBody>
                  <a:tcPr>
                    <a:solidFill>
                      <a:srgbClr val="E6A8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D2C"/>
                          </a:solidFill>
                          <a:latin typeface="Times New Roman"/>
                        </a:defRPr>
                      </a:pPr>
                      <a:r>
                        <a:t>Tahun 5</a:t>
                      </a:r>
                    </a:p>
                  </a:txBody>
                  <a:tcPr>
                    <a:solidFill>
                      <a:srgbClr val="E6A84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Cash Inflow (CIF)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1.476.000.000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1.953.600.000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2.561.700.000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3.301.800.000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4.296.300.000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Cash Outflow (COF)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840.600.000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948.372.000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1.092.877.680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1.286.287.481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1.546.179.938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NCF = EAT (CIF - COF)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635.400.000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1.005.228.000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1.468.822.320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2.015.512.519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2.750.120.062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Depresiasi Garis Lurus (20%)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36.540.000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36.540.000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36.540.000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36.540.000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36.540.000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Proceed (NCF - Depresiasi)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598.860.000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968.688.000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1.432.282.320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1.978.972.519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2.713.580.062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Present Value PV (20%)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499.050.000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672.700.000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828.867.083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954.365.605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1.090.526.967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Hasil Evaluasi Kelayakan Finansial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Seluruh indikator melampaui standar kelayakan investasi FEB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20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6634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NET PRESENT VALUE (NPV)</a:t>
            </a:r>
          </a:p>
          <a:p>
            <a:pPr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t>Rp 3.814.309.656</a:t>
            </a:r>
          </a:p>
          <a:p>
            <a:pPr>
              <a:defRPr sz="1200" b="1">
                <a:solidFill>
                  <a:srgbClr val="2ECC71"/>
                </a:solidFill>
                <a:latin typeface="Times New Roman"/>
              </a:defRPr>
            </a:pPr>
            <a:r>
              <a:t>Standar: &gt; 0 (Positif)</a:t>
            </a:r>
            <a:br/>
            <a:r>
              <a:t>STATUS: SANGAT LAYAK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2011680"/>
          </a:xfrm>
          <a:prstGeom prst="roundRect">
            <a:avLst/>
          </a:prstGeom>
          <a:solidFill>
            <a:srgbClr val="20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6634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INTERNAL RATE OF RETURN (IRR)</a:t>
            </a:r>
          </a:p>
          <a:p>
            <a:pPr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t>312.98%</a:t>
            </a:r>
          </a:p>
          <a:p>
            <a:pPr>
              <a:defRPr sz="1200" b="1">
                <a:solidFill>
                  <a:srgbClr val="2ECC71"/>
                </a:solidFill>
                <a:latin typeface="Times New Roman"/>
              </a:defRPr>
            </a:pPr>
            <a:r>
              <a:t>Standar: &gt; 20.00% (Opportunity Cost)</a:t>
            </a:r>
            <a:br/>
            <a:r>
              <a:t>STATUS: SANGAT LAYAK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20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46634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PAYBACK PERIOD (PP)</a:t>
            </a:r>
          </a:p>
          <a:p>
            <a:pPr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t>4.63 Bulan (0.39 Thn)</a:t>
            </a:r>
          </a:p>
          <a:p>
            <a:pPr>
              <a:defRPr sz="1200" b="1">
                <a:solidFill>
                  <a:srgbClr val="2ECC71"/>
                </a:solidFill>
                <a:latin typeface="Times New Roman"/>
              </a:defRPr>
            </a:pPr>
            <a:r>
              <a:t>Standar: &lt; 3.0 Tahun (36 Bulan)</a:t>
            </a:r>
            <a:br/>
            <a:r>
              <a:t>STATUS: SANGAT LAYAK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20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51960"/>
            <a:ext cx="46634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A840"/>
                </a:solidFill>
                <a:latin typeface="Times New Roman"/>
              </a:defRPr>
            </a:pPr>
            <a:r>
              <a:t>PROFITABILITY INDEX (PI)</a:t>
            </a:r>
          </a:p>
          <a:p>
            <a:pPr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t>33.27</a:t>
            </a:r>
          </a:p>
          <a:p>
            <a:pPr>
              <a:defRPr sz="1200" b="1">
                <a:solidFill>
                  <a:srgbClr val="2ECC71"/>
                </a:solidFill>
                <a:latin typeface="Times New Roman"/>
              </a:defRPr>
            </a:pPr>
            <a:r>
              <a:t>Standar: &gt; 1.20</a:t>
            </a:r>
            <a:br/>
            <a:r>
              <a:t>STATUS: SANGAT LAYAK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Tabel 6.1 Kesimpulan Kelayakan Investasi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Rekapitulasi kualifikasi kelayakan finansial Bakmi Mimu Carina Sayang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78638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D2C"/>
                          </a:solidFill>
                          <a:latin typeface="Times New Roman"/>
                        </a:defRPr>
                      </a:pPr>
                      <a:r>
                        <a:t>Kriteria Evaluasi</a:t>
                      </a:r>
                    </a:p>
                  </a:txBody>
                  <a:tcPr>
                    <a:solidFill>
                      <a:srgbClr val="E6A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D2C"/>
                          </a:solidFill>
                          <a:latin typeface="Times New Roman"/>
                        </a:defRPr>
                      </a:pPr>
                      <a:r>
                        <a:t>Hasil Perhitungan</a:t>
                      </a:r>
                    </a:p>
                  </a:txBody>
                  <a:tcPr>
                    <a:solidFill>
                      <a:srgbClr val="E6A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D2C"/>
                          </a:solidFill>
                          <a:latin typeface="Times New Roman"/>
                        </a:defRPr>
                      </a:pPr>
                      <a:r>
                        <a:t>Standar Kelayakan</a:t>
                      </a:r>
                    </a:p>
                  </a:txBody>
                  <a:tcPr>
                    <a:solidFill>
                      <a:srgbClr val="E6A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D2C"/>
                          </a:solidFill>
                          <a:latin typeface="Times New Roman"/>
                        </a:defRPr>
                      </a:pPr>
                      <a:r>
                        <a:t>Status Kelayakan</a:t>
                      </a:r>
                    </a:p>
                  </a:txBody>
                  <a:tcPr>
                    <a:solidFill>
                      <a:srgbClr val="E6A840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Net Present Value (NPV)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Rp 3.814.309.656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&gt; 0 (Bernilai Positif)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CC71"/>
                          </a:solidFill>
                          <a:latin typeface="Times New Roman"/>
                        </a:defRPr>
                      </a:pPr>
                      <a:r>
                        <a:t>LAYAK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Internal Rate of Return (IRR)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312.98%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&gt; 20.00% (Opportunity Cost)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CC71"/>
                          </a:solidFill>
                          <a:latin typeface="Times New Roman"/>
                        </a:defRPr>
                      </a:pPr>
                      <a:r>
                        <a:t>LAYAK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Payback Period (PP)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4.63 Bulan (&lt; 1 Tahun)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&lt; 3.0 Tahun (36 Bulan)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CC71"/>
                          </a:solidFill>
                          <a:latin typeface="Times New Roman"/>
                        </a:defRPr>
                      </a:pPr>
                      <a:r>
                        <a:t>LAYAK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Profitability Index (PI)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33.27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&gt; 1.20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CC71"/>
                          </a:solidFill>
                          <a:latin typeface="Times New Roman"/>
                        </a:defRPr>
                      </a:pPr>
                      <a:r>
                        <a:t>LAYAK</a:t>
                      </a:r>
                    </a:p>
                  </a:txBody>
                  <a:tcPr>
                    <a:solidFill>
                      <a:srgbClr val="202D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A840"/>
                </a:solidFill>
                <a:latin typeface="Times New Roman"/>
              </a:defRPr>
            </a:pPr>
            <a:r>
              <a:t>STUDI KELAYAKAN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Analisis Risiko &amp; Strategi Mitigasi</a:t>
            </a:r>
          </a:p>
          <a:p>
            <a:pPr>
              <a:defRPr sz="1300">
                <a:solidFill>
                  <a:srgbClr val="BEC8D7"/>
                </a:solidFill>
                <a:latin typeface="Times New Roman"/>
              </a:defRPr>
            </a:pPr>
            <a:r>
              <a:t>Langkah antisipatif menjamin keberlangsungan operasional gerai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Fluktuasi Harga Daging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Mitigasi: Mengikat kontrak kemitraan dengan supplier pasar induk grosir dan menjaga stok beku di chest freezer 400L.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Persaingan Kedai Bakmi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Mitigasi: Mempertahankan keaslian resep turun-temurun sejak 1999, higienitas dapur terbuka, dan konsistensi rasa mie kenyal berkilau.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Kenaikan Biaya Sewa Ruko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Mitigasi: Menandatangani kontrak sewa jangka panjang (5 tahun) dengan nilai tetap guna menghindari lonjakan biaya tempat.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202D44"/>
          </a:solidFill>
          <a:ln>
            <a:solidFill>
              <a:srgbClr val="E6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9768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840"/>
                </a:solidFill>
                <a:latin typeface="Times New Roman"/>
              </a:defRPr>
            </a:pPr>
            <a:r>
              <a:t>Ketergantungan Koki</a:t>
            </a:r>
          </a:p>
          <a:p>
            <a:br/>
            <a:pPr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Mitigasi: Standardisasi resep bumbu minyak dalam takaran baku (SOP terpusat) sehingga proses peracikan dapat diduplikasi asisten koki.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202D4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696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6A840"/>
                </a:solidFill>
                <a:latin typeface="Times New Roman"/>
              </a:defRPr>
            </a:pPr>
            <a:r>
              <a:t>KESIMPULAN AKHIR KELAYAKAN BISNIS</a:t>
            </a:r>
          </a:p>
          <a:p>
            <a:pPr algn="ctr">
              <a:defRPr sz="3200" b="1">
                <a:solidFill>
                  <a:srgbClr val="2ECC71"/>
                </a:solidFill>
                <a:latin typeface="Times New Roman"/>
              </a:defRPr>
            </a:pPr>
            <a:r>
              <a:t>“ BISNIS DINYATAKAN SANGAT LAYAK ”</a:t>
            </a:r>
          </a:p>
          <a:p>
            <a:pPr algn="ctr">
              <a:defRPr sz="1400">
                <a:solidFill>
                  <a:srgbClr val="FFFFFF"/>
                </a:solidFill>
                <a:latin typeface="Times New Roman"/>
              </a:defRPr>
            </a:pPr>
            <a:br/>
            <a:r>
              <a:t>Berdasarkan kajian menyeluruh aspek pasar, manajemen, teknis operasi, serta finansial, usaha Bakmi Mimu Carina Sayang membuktikan prospek laba yang sangat solid dengan pengembalian investasi hanya dalam tempo 4.63 bulan.</a:t>
            </a:r>
          </a:p>
          <a:p>
            <a:pPr algn="ctr">
              <a:defRPr sz="1300" i="1">
                <a:solidFill>
                  <a:srgbClr val="BEC8D7"/>
                </a:solidFill>
                <a:latin typeface="Times New Roman"/>
              </a:defRPr>
            </a:pPr>
            <a:br/>
            <a:r>
              <a:t>Sekian &amp; Terima Kasih</a:t>
            </a:r>
            <a:br/>
            <a:r>
              <a:t>Fakultas Ekonomi &amp; Bisnis | Universitas Kristen Krida Wacana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