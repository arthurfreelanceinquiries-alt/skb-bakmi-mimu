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8580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74519"/>
            <a:ext cx="1036289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FAKULTAS EKONOMI &amp; BISNIS  •  UNIVERSITAS KRISTEN KRIDA WACANA</a:t>
            </a:r>
          </a:p>
          <a:p>
            <a:pPr algn="ctr">
              <a:defRPr sz="1400">
                <a:solidFill>
                  <a:srgbClr val="475569"/>
                </a:solidFill>
                <a:latin typeface="Times New Roman"/>
              </a:defRPr>
            </a:pPr>
            <a:r>
              <a:t>LAPORAN PRESENTASI STUDI KELAYAKAN BISNIS (SKB)</a:t>
            </a:r>
          </a:p>
          <a:p>
            <a:pPr algn="ctr">
              <a:defRPr sz="3000" b="1">
                <a:solidFill>
                  <a:srgbClr val="0F294D"/>
                </a:solidFill>
                <a:latin typeface="Times New Roman"/>
              </a:defRPr>
            </a:pPr>
            <a:r>
              <a:t>“ BAKMI MIMU CARINA SAYANG ”</a:t>
            </a:r>
          </a:p>
          <a:p>
            <a:pPr algn="ctr">
              <a:defRPr sz="1250" i="1">
                <a:solidFill>
                  <a:srgbClr val="C27803"/>
                </a:solidFill>
                <a:latin typeface="Times New Roman"/>
              </a:defRPr>
            </a:pPr>
            <a:r>
              <a:t>- Cita Rasa Bakmi Legendaris &amp; Otentik Sejak 1999 -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1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Arthur Reezan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2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Jennese Putra Alamsyah Sukadi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94376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3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Valendrik Dwiputra Wirawan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4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4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Affandy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4343400"/>
            <a:ext cx="20116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900" b="1">
                <a:solidFill>
                  <a:srgbClr val="C27803"/>
                </a:solidFill>
                <a:latin typeface="Times New Roman"/>
              </a:defRPr>
            </a:pPr>
            <a:r>
              <a:t>Mahasiswa 5</a:t>
            </a:r>
          </a:p>
          <a:p>
            <a:pPr algn="ctr">
              <a:defRPr sz="850" b="1">
                <a:solidFill>
                  <a:srgbClr val="0F294D"/>
                </a:solidFill>
                <a:latin typeface="Times New Roman"/>
              </a:defRPr>
            </a:pPr>
            <a:r>
              <a:t>Steven Putra Tjhin</a:t>
            </a:r>
          </a:p>
          <a:p>
            <a:pPr algn="ctr">
              <a:defRPr sz="900">
                <a:solidFill>
                  <a:srgbClr val="475569"/>
                </a:solidFill>
                <a:latin typeface="Times New Roman"/>
              </a:defRPr>
            </a:pPr>
            <a:r>
              <a:t>NIM: 312023015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Program Studi Sarjana Manajemen  |  Konsentrasi Studi Kelayakan Bisnis  |  Tahun Akademik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AGENDA PRESENTASI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Isi &amp; Sistematika Kajian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Ringkasan 6 bab utama studi kelayakan bisnis sesuai standar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01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I: PENDAHULUAN &amp; PROFIL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Perjalanan 1999 Taman Aries -&gt; 2016 Duri Kosambi, basis pelanggan 2019, &amp; ekspansi 2027/28.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02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II: ASPEK PASAR &amp; PEMASARAN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Segmentasi STP, 3 minyak mie, topping ayam putih/babi/casiu, benchmarking, &amp; bauran 7P.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03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III: ASPEK MANAJEMEN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Struktur organisasi 3 staf fungsional, job desc terstruktur, &amp; total alokasi gaji Rp 10 Jt/bln.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04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IV: ASPEK TEKNIS &amp; OPERASI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Tata letak ruko 1 lantai 22 kursi, modal 2016 Rp 62 Jt, open kitchen gerobak, &amp; adonan fresh mingguan.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05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V: ASPEK KEUANGAN TERPADU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Initial outlay Rp 62.0 Jt, proyeksi 5 tahun arus kas, &amp; depresiasi garis lurus 20%.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02336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BAB 06</a:t>
            </a:r>
          </a:p>
          <a:p>
            <a:pPr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BAB VI: KELAYAKAN INVESTASI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Uji 4 kriteria: NPV Rp 5.68 M, IRR &gt; 20%, Payback 0,82 Bulan, &amp; PI 175.81.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Latar Belakang &amp; Filosofi Usaha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Perjalanan kuliner legendaris sejak 1999 dan peluang ekspansi masa depan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1999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Awal di Taman Aries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Usaha didirikan pertama kali tahun 1999 di Taman Aries (Meruya) dengan resep autentik keluarga turun-temurun.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2016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Relokasi ke Duri Kosambi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Tahun 2016 berpindah ke ruko Jl. Angsoka Hijau IV Duri Kosambi untuk melayani perumahan dan civitas sekolah.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2019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Basis Pelanggan Solid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Tahun 2019 basis pelanggan setia terbentuk kuat, menjadi destinasi sarapan dan makan siang favorit keluarga.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91640"/>
            <a:ext cx="2542032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200" b="1">
                <a:solidFill>
                  <a:srgbClr val="C27803"/>
                </a:solidFill>
                <a:latin typeface="Times New Roman"/>
              </a:defRPr>
            </a:pPr>
            <a:r>
              <a:t>2027/28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Peluang Ekspansi Cabang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Tingginya permintaan membuka peluang ekspansi 2027/2028 untuk mencari ruko lebih luas atau buka cabang baru.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FILOSOFI MUTU: ADONAN MIE FRESH DIBUAT SETIAP MINGGU (BATCH MINGGUAN TANPA PENGAWET)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Adonan mie dibuat mandiri setiap minggu menghasilkan tekstur kenyal alami berkilau (shining), bebas dari formalin dan pengawet berbahaya.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5 Pilar Keunggulan Kompetitif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Faktor diferensiasi penentu daya saing Bakmi Mimu Carina Sayang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01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Taste (Cita Rasa)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Mie kenyal dipadu 3 pilihan minyak mie (babi, ayam, sayur+wijen), kaldu asli, &amp; 3 topping murni: ayam putih, babi kecap, dan casiu madu (tanpa bebek &amp; jamur).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02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Location (Lokasi)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Jl. Angsoka Hijau IV Blok E6 No. 17 Duri Kosambi, Cengkareng (persis di depan Taman TK, SD, SMP Kalam Kudus), lokasi sangat strategis &amp; parkir motor aman.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03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Service (Open Kitchen)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Dapur terbuka gerobak di teras depan ruko, perebusan higienis terlihat jelas, dan dilengkapi saus botolan terpercaya (Cap Belibis &amp; Mangga Besar).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04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Size (Variasi Porsi)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Pilihan fleksibel: Porsi Kecil (27k), Reguler (29k-39k), hingga Porsi Jumbo (+100% mie dari porsi standar / 2x lipat porsi biasa 49k-59k) untuk segala tingkatan selera.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PILAR 05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Pelengkap &amp; Minuman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Pilihan pelengkap swikiaw kuah, pangsit rebus, baso sapi &amp; ikan kuah (@4.5k-5.5k/pcs), baso goreng babi-udang 8k, badak sarsaparilla, susu kacang &amp; liang teh 12k.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Menu &amp; Struktur Harga Jual Resmi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Struktur harga bersaing (Value-Based Pricing) sesuai daftar menu riil kedai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52120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188720"/>
                <a:gridCol w="1554480"/>
              </a:tblGrid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Menu Utama (Topping Murni)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Porsi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Campur (Ayam + Babi Kecap)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Reguler Favorit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Ayam Putih / Babi Saja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Topping Tunggal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Daging Casiu Madu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Casiu Panggang Gurih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Spesial 3 Isi Lengkap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Ayam, Babi &amp; Casiu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Jumbo (+100% Mie)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49.000 - 59.000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2x Lipat Porsi Standar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Kecil (Sarapan Hemat)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27.000 - 29.000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Porsi Ringan Anak/Pagi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691640"/>
          <a:ext cx="52120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188720"/>
                <a:gridCol w="1554480"/>
              </a:tblGrid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Pelengkap, Kuah &amp; Minuman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Item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Rebus Kuah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4.500 / pcs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Swikiaw Rebus Kuah (5 pcs)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5.500 /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Baso Sapi &amp; Baso Ikan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Sama harga pangsit rebus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Goreng &amp; Baso Goreng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5.000 - 8.000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Baso grg babi-udang 8k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Badak Sarsaparilla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12.000 - 14.000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Soda legendaris Siantar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Susu Kacang, Liang Teh, Teh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1.000 - 12.000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Saus Belibis &amp; Mangga Bsr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Pasar: STP Framework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Segmenting, Targeting, dan Positioning pasar sasaran Bakmi Mimu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SEGMENTASI (SEGMENTING)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Geografis: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Radius 0 - 5 km meliputi Perumahan Duri Kosambi, Semanan, Taman Semanan Indah, Cengkareng, dan Puri Kembangan.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Demografis: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Pria &amp; wanita usia 7 - 65 tahun, siswa-siswi, guru, orang tua murid Kalam Kudus, karyawan kantor, SES Menengah.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Perilaku: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Pencinta kuliner mie oriental yang mengutamakan tekstur kenyal, cita rasa bumbu otentik, dan higienitas ruang makan.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TARGET PASAR (TARGETING)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Keluarga Residensial: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Keluarga perumahan sekitar Duri Kosambi yang mencari santapan pagi sarapan dan makan siang lezat.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Civitas Kalam Kudus: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Siswa-siswi, guru, staf, dan orang tua murid Sekolah Kristen Kalam Kudus Kosambi tepat di depan gerai.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Pesan Antar &amp; Komunitas: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Jemaat gereja hari Sabtu-Minggu serta pelanggan bawa pulang / pesan antar warga sekitar.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POSISI PASAR (POSITIONING)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Identitas Utama: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“Kedai Bakmi Otentik Legendaris dengan Resep 1999 dan Standar Kebersihan Higienis Terpercaya.”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Value Proposition: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Memberikan kepuasan rasa resep keluarga 1999 dengan porsi mengenyangkan dan harga sangat sebanding.</a:t>
            </a:r>
          </a:p>
          <a:p>
            <a:br/>
            <a:pPr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• Brand Perception: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Bukan sekadar warung tenda biasa, melainkan kedai bakmi keluarga yang bersih, ramah, dan terpercaya.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Persaingan &amp; Peta Kompetitor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Matriks perbandingan daya saing Bakmi Mimu terhadap pelaku usaha sejenis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BAKMI MIMU CARINA SAYANG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Brand Unggulan Kita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Resep keluarga sejak 1999 di Taman Aries, 3 racikan minyak khas (babi, ayam, sayur+wijen), adonan fresh mingguan.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Ruko 1 lantai, sirkulasi 6 kipas angin, suasana hangat padat (22 kursi), open kitchen gerobak depan (tanpa AC/Wi-Fi).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3 Topping murni: Ayam putih gurih, babi kecap manis, casiu madu (tanpa bebek/jamur), kuah swikiaw &amp; pangsit.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Penyajian cepat &lt; 5 menit, nota manual kasir, saus botol resmi Cap Belibis &amp; Mangga Besar.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24.000 - Rp 59.000 (Sangat terjangkau dengan opsi porsi kecil, reguler, hingga jumbo +100% mie).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BAKMI ALOK / BRAND BESAR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Kompetitor Merek Terkenal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Cita rasa bakmi ayam rebus gurih, brand equity kuat di Jakarta Barat.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Restoran permanen ber-AC, kapasitas besar, antrean panjang saat jam makan siang.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Fokus dominan ayam kampung rebus, tidak menyediakan varian babi casiu madu.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Standar restoran waralaba terstruktur, layanan formal.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45.000 - Rp 65.000 (Segmen premium, relatif lebih mahal untuk porsi harian).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475569"/>
                </a:solidFill>
                <a:latin typeface="Times New Roman"/>
              </a:defRPr>
            </a:pPr>
            <a:r>
              <a:t>WARUNG BAKMI LOKAL KOSAMBI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Kompetitor Tradisional Sekitar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Rasa &amp; Resep: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Cita rasa standar warung tenda gerobak kaki lima, bumbu penyedap dominan.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Fasilitas Kedai: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Kios semi terbuka/tenda pinggir jalan, sirkulasi udara terbatas, parkir sempit.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Varian Topping: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Topping terbatas ayam cincang biasa, jarang menyediakan menu swikiaw rebus.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Layanan &amp; Saus: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Kemasan plastik mika konvensional, rentan tumpah dan cepat dingin.</a:t>
            </a:r>
          </a:p>
          <a:p>
            <a:br/>
            <a:pPr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▸ Harga &amp; Value: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Rp 20.000 - Rp 25.000 (Harga murah namun kebersihan &amp; fasilitas sangat minim).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Pemasaran (4P Tradisional)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Strategi eksekusi taktis: Product, Price, Place, dan Promotion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PRODUCT (PRODUK)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Resep autentik 1999 (Taman Aries), adonan fresh dibuat mandiri setiap minggu tanpa pengawet.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3 Topping murni: Ayam Putih, Babi Kecap, &amp; Casiu Madu gurih (tanpa daging bebek &amp; jamur).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3 Pilihan racikan minyak mie: Minyak Babi, Minyak Ayam, &amp; Minyak Sayur + Wijen.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Variasi porsi fleksibel: Porsi Kecil (27k), Reguler (29k-39k), hingga Jumbo (+100% mie, 49k-59k).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PRICE (HARGA)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Menerapkan Value-Based Pricing bersaing di kawasan residensial Duri Kosambi.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Range harga bakmi: Rp 24.000 s.d. Rp 59.000 (belum termasuk menu pelengkap tambahan).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Menu kuah: Pangsit rebus Rp 22.500 (5 pcs), Swikiaw Rp 27.500 (5 pcs), Baso sapi/ikan Rp 22.500.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Gorengan Rp 5.000 - 8.000, minuman segar Rp 1.000 - 15.000 (Badak, Liang Teh, Susu Kacang, tanpa jeruk).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PLACE (DISTRIBUSI / LOKASI)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Lokasi ruko 1 lantai di Jl. Angsoka Hijau IV Blok E6 No. 17 Duri Kosambi, Cengkareng, Jakarta Barat.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Posisi emas persis di depan Taman TK, SD, dan SMP Sekolah Kristen Kalam Kudus.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Fasilitas ruang makan berdaya tampung maksimal 22 orang padat (4 meja pendek + meja bar dinding).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Fokus saluran penjualan langsung: Makan di tempat (Dine-In) dan pesanan bawa pulang (Take-Away).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PROMOTION (PROMOSI)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Tidak mengadakan program promosi diskon buatan, kupon berhadiah, atau stamp card formal.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Murni mengandalkan penjualan lokal getok tular (loyalitas pelanggan lama sejak 2019 &amp; pembeli baru).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Pemasaran organik sukarela dari ulasan pengunjung dan food vlogger/influencer kuliner (viral di TikTok).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Papan nama kedai (signage) sederhana di fasad ruko yang terlihat jelas oleh para penjemput sekolah.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09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Layanan (3P Extended)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Pilar keunggulan operasional: People, Process, dan Physical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PEOPLE (SUMBER DAYA MANUSIA)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Tim operasional 3 karyawan fungsional: Koki Utama, Asisten Koki, dan Kasir-Pramusaji.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remunerasi berbasis gaji pokok bulanan tetap (total alokasi gaji Rp 10 Jt/bulan).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Tidak menerapkan bonus insentif penjualan, menjaga fokus tim pada konsistensi racikan rasa.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Karyawan berseragam bersih, ramah menyambut tamu, dan menguasai varian menu topping.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PROCESS (PROSES OPERASIONAL)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pemesanan kasir masih manual menggunakan nota fisik/kertas bon pesanan sederhana.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Alur penyajian kilat: Perebusan mie fresh membutuhkan waktu 45 detik, saji di meja &lt; 5 menit.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Siklus produksi adonan mie dibuat mandiri secara terjadwal setiap minggu tanpa pengawet.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Penyediaan botol saus meja standar resmi (Cap Belibis &amp; Mangga Besar) yang selalu terisi bersih.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9164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PHYSICAL EVIDENCE (BUKTI FISIK)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Desain interior standar ruko 1 lantai yang bersih, bersahaja, rapi, dan fungsional.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sirkulasi udara menggunakan 6 unit kipas angin dinding/plafon sejuk (tanpa fasilitas AC).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Kapasitas dine-in maksimal 22 orang padat (4 meja pendek 16 kursi + 1 meja panjang dinding 6 kursi).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Tidak menyediakan fasilitas Wi-Fi demi memaksimalkan perputaran meja (table turnover) di jam sibuk.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Struktur Organisasi &amp; Pembagian Tugas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Desain tata kelola tim operasional gerai Bakmi Mimu Carina Sayang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91640"/>
            <a:ext cx="5212080" cy="1234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OWNER / PENGELOLA UTAMA KEDAI (1 ORANG)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Tanggung Jawab: Penetapan strategi usaha, pengawasan keuangan harian, kontrol cita rasa SOP resep 1999, pengadaan bahan baku daging segar, dan perencanaan ekspansi 2027/2028.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KOKI UTAMA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Membuat adonan mie fresh setiap minggu.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Memasak 3 topping: ayam, babi kecap, casiu.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3 racikan minyak &amp; rebus kaldu.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Memimpin perebusan &amp; peracikan mie di gerobak.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ASISTEN KOKI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bahan mentah &amp; bumbu dapur.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Melipat kulit pangsit &amp; swikiaw isian babi-udang.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Mencuci mangkok, sumpit, panci &amp; alat makan.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Menjaga kebersihan stasiun open kitchen gerobak.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3154680"/>
            <a:ext cx="3456432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KASIR &amp; PRAMUSAJI (1 ORANG)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Mencatat pesanan pelanggan dengan nota manual.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Melayani penerimaan pembayaran tunai &amp; QRIS.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Menyajikan mangkok mie &amp; minuman ke 22 kursi.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Membersihkan meja makan &amp; melayani take-away.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Tenaga Kerja &amp; Kebijakan Kompensasi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Kebutuhan SDM, alokasi upah bulanan, dan kebijakan ketenagakerjaan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TOTAL TENAGA KERJA: 3 STAF KARYAWAN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Formasi Fungsional: 1 Koki Utama Dapur, 1 Asisten Koki Dapur, 1 Kasir &amp; Pramusaji.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t>TOTAL ANGGARAN GAJI: RP 120.000.000 / TAHUN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Alokasi anggaran gaji tetap stabil Rp 10.000.000 per bulan (tanpa skema bonus insentif).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Koki Utama: Rp 3.800.000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Mengapresiasi keahlian khusus pembuatan adonan mie mingguan, pengolahan babi casiu panggang madu, ayam putih, dan racikan 3 minyak.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Asisten Koki: Rp 3.200.000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Kompensasi persiapan bahan baku, pengisian kaldu, perakitan pelengkap swikiaw/pangsit, serta sanitasi intensif alat masak dapur.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Gaji Kasir-Pramusaji: Rp 3.000.000 / Bln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Kompensasi pencatatan nota pesanan manual, penanganan transaksi pembayaran tunai/QRIS, serta kecepatan penyajian ke 22 kursi.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• Kebijakan Kompensasi Tetap (Non-Insentif)</a:t>
            </a:r>
          </a:p>
          <a:p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Menerapkan sistem upah bulanan pasti, fasilitas makan kedai harian, dan Tunjangan Hari Raya (THR) tahunan tanpa insentif penjualan.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Tata Letak Ruko 1 Lantai &amp; Modal Awal 2016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Denah penataan kedai 22 kursi padat dan rincian realisasi modal awal relokasi 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TATA LETAK KEDAI (RUKO 1 LANTAI - 22 KURSI PADAT)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Area Depan (Teras Ruko):</a:t>
            </a:r>
            <a:br/>
            <a:r>
              <a:t>  Gerobak etalase open kitchen (stasiun rebus mie, dandang kaldu panas, kompor gas, meja bumbu &amp; 3 jenis minyak mie).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Area Makan (Tengah):</a:t>
            </a:r>
            <a:br/>
            <a:r>
              <a:t>  Kapasitas 22 kursi padat: 4 meja pendek kayu (16 kursi) + 1 meja panjang menempel dinding (6 kursi), sirkulasi 6 kipas angin.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Area Kasir &amp; Minuman:</a:t>
            </a:r>
            <a:br/>
            <a:r>
              <a:t>  Meja kasir nota manual, etalase minuman botol dingin (Badak, Liang Teh, Susu Kacang, Aqua, Teh Botol/Pucuk).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Area Belakang (Dapur Cuci):</a:t>
            </a:r>
            <a:br/>
            <a:r>
              <a:t>  Dapur persiapan &amp; stok, 1 unit kulkas, 1 unit freezer daging beku, stasiun cuci piring mangkok, dan 1 toilet ruko.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REALISASI MODAL AWAL RELOKASI 2016 (OUTLAY RP 62 JT)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Gerobak Etalase Utama ➔ Rp 8.000.000 (Gerobak alumunium kaca stasiun depan)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Makan &amp; Kursi ➔ Rp 8.300.000 (4 Meja pendek 2,8 Jt, Meja dinding 1,8 Jt, Kursi 37 pcs 3,7 Jt)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Kipas Angin &amp; Pendingin ➔ Rp 6.900.000 (6 Kipas angin @150k = 900k, Kulkas 2,5 Jt, Freezer 3,5 Jt)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Alat Dapur &amp; Stok Mangkok ➔ Rp 6.500.000 (Panci masak, dandang, mangkok makan, sendok, sumpit)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Renovasi &amp; Signage Ruko ➔ Rp 11.000.000 (Cat ruko 1 lantai, kelistrikan/air, spanduk/plang nama)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Sewa Tempat Ruko 1 Tahun ➔ Rp 20.000.000 (Alokasi biaya sewa ruko tahun pertama 2016)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Biaya Pra-Operasi &amp; Perizinan ➔ Rp 1.300.000 (AMDAL/kebersihan 300k, survey 500k, promosi 500k)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Alur Proses Produksi &amp; Siklus Mingguan Adonan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Tahapan pengolahan higienis dari adonan mingguan hingga siap disajikan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01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Adonan Fresh Mingguan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Setiap Minggu Pagi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Adonan mie dibuat mandiri secara konsisten setiap minggu tanpa bahan pengawet kimia.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02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Pengolahan 3 Topping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05.30 - 07.30 WIB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Memanggang babi casiu madu, menumis babi kecap gurih, dan merebus potongan ayam putih.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03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Racikan 3 Minyak &amp; Kaldu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06.00 - 08.00 WIB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Menyiapkan minyak babi, minyak ayam, dan minyak sayur+wijen serta rebusan kaldu tulang gurih.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04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Perebusan Mie Seketika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Saat Order Masuk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Mie direbus 45 detik dalam air mendidih saat nota pesanan diterima dari tamu/kasir.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91640"/>
            <a:ext cx="2011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05</a:t>
            </a:r>
          </a:p>
          <a:p>
            <a:pPr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Plating &amp; Penyajian Meja</a:t>
            </a:r>
          </a:p>
          <a:p>
            <a:pPr>
              <a:defRPr sz="950">
                <a:solidFill>
                  <a:srgbClr val="1E3A8A"/>
                </a:solidFill>
                <a:latin typeface="Times New Roman"/>
              </a:defRPr>
            </a:pPr>
            <a:r>
              <a:t>Waktu: &lt; 5 Menit Total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Pencampuran minyak pilihan, penataan topping daging melimpah, daun bawang, &amp; saus meja.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Jadwal Pelaksanaan Pra-Operasi Relokasi 2016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Rencana timeline 12 minggu persiapan operasional gerai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FASE 1: SURVEY &amp; SEWA RUKO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1 - 4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A. Observasi lokasi Jl. Angsoka Hijau IV depan Kalam Kudus.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B. Negosiasi dan pembayaran sewa ruko 1 lantai Rp 20.000.000.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C. Pengurusan izin lingkungan RT/RW dan retribusi kebersihan.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D. Analisis potensi pasar sarapan murid dan orang tua sekolah.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FASE 2: RENOVASI &amp; FIT-OUT KEDAI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5 - 8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E. Pengecatan ruko 1 lantai dan perbaikan instalasi pipa air.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F. Pemasangan 6 unit kipas angin dinding/plafon (@Rp 150.000).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G. Penataan teras depan untuk stasiun gerobak open kitchen.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H. Pemasangan spanduk dan plang nama kedai Bakmi Mimu.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FASE 3: PENGADAAN &amp; SETTING DAPUR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9 - 10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I. Pembuatan gerobak etalase kaca stasiun masak (Rp 8 Jt).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J. Pengadaan 4 meja pendek, meja dinding, dan kursi 37 pcs.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K. Pembelian 1 kulkas, 1 freezer daging, panci masak &amp; mangkok.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L. Pengadaan saus standar (Belibis &amp; Mangga Besar) dan botol meja.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FASE 4: TRIAL RUN &amp; PEMBUKAAN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Jadwal: Minggu 11 - 12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M. Rekrutmen 3 karyawan tetap (Koki, Asisten Koki, Kasir-Pramusaji).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N. Uji coba pembuatan adonan mie mingguan dan kaldu SOP 1999.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O. Simulasi alur pelayanan meja dine-in 22 kursi dan nota manual.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P. Pembukaan resmi gerai Duri Kosambi melayani warga sekitar.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Rencana Modal Investasi Awal (Initial Outlay)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Alokasi anggaran modal awal relokasi 2016 untuk pembukaan kedai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2100" b="1">
                <a:solidFill>
                  <a:srgbClr val="C27803"/>
                </a:solidFill>
                <a:latin typeface="Times New Roman"/>
              </a:defRPr>
            </a:pPr>
            <a:r>
              <a:t>TOTAL INITIAL OUTLAY KEBUTUHAN MODAL: RP 62.000.000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Investasi awal didanai 100% modal sendiri tanpa utang bank. Seluruh alokasi modal difokuskan untuk pengadaan aktiva tetap gerobak &amp; fasilitas kedai, sewa tempat ruko 1 tahun, dan pra-operasi.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01. Aktiva Tetap (Capex)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40.700.000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65,6%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Pengadaan gerobak etalase, meja, kursi 37 pcs, kipas angin, kulkas, freezer, panci, &amp; mangkok.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02. Sewa Tempat Ruko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20.000.000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32,3%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Alokasi biaya sewa ruko 1 lantai Duri Kosambi untuk 1 tahun masa operasional.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03. Perizinan &amp; AMDAL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300.000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0,5%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Retribusi kebersihan lingkungan RT/RW dan pengadaan tempat sampah kedai higienis.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04. Biaya Survey Pasar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500.000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0,8%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Observasi demografi perumahan Kosambi dan potensi kantin sekolah Kalam Kudus.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3154680"/>
            <a:ext cx="20116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05. Biaya Promosi Awal</a:t>
            </a:r>
          </a:p>
          <a:p>
            <a:pPr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Rp 500.000</a:t>
            </a:r>
          </a:p>
          <a:p>
            <a:pPr>
              <a:defRPr sz="950">
                <a:solidFill>
                  <a:srgbClr val="059669"/>
                </a:solidFill>
                <a:latin typeface="Times New Roman"/>
              </a:defRPr>
            </a:pPr>
            <a:r>
              <a:t>Porsi: 0,8%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Pembuatan spanduk pembukaan dan plang penunjuk arah kedai Bakmi Mimu.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Aktiva Tetap &amp; Beban Depresiasi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Inventarisasi 12 item aktiva tetap dan penyusutan garis lurus 20% per tahun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300" b="1">
                <a:solidFill>
                  <a:srgbClr val="C27803"/>
                </a:solidFill>
                <a:latin typeface="Times New Roman"/>
              </a:defRPr>
            </a:pPr>
            <a:r>
              <a:t>PARAMETER DEPRESIASI</a:t>
            </a:r>
          </a:p>
          <a:p>
            <a:br/>
            <a:pPr>
              <a:defRPr sz="1500" b="1">
                <a:solidFill>
                  <a:srgbClr val="0F294D"/>
                </a:solidFill>
                <a:latin typeface="Times New Roman"/>
              </a:defRPr>
            </a:pPr>
            <a:r>
              <a:t>Total Nilai Perolehan:</a:t>
            </a:r>
            <a:br/>
            <a:r>
              <a:t>Rp 40.700.000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Metode Penyusutan:</a:t>
            </a:r>
            <a:br/>
            <a:r>
              <a:t>Metode Garis Lurus (Straight-Line)</a:t>
            </a:r>
          </a:p>
          <a:p>
            <a:br/>
            <a:pPr>
              <a:defRPr sz="1050">
                <a:solidFill>
                  <a:srgbClr val="475569"/>
                </a:solidFill>
                <a:latin typeface="Times New Roman"/>
              </a:defRPr>
            </a:pPr>
            <a:r>
              <a:t>Tarif Depresiasi Tahunan:</a:t>
            </a:r>
            <a:br/>
            <a:r>
              <a:t>20,00% (Masa Manfaat 5 Tahun)</a:t>
            </a:r>
          </a:p>
          <a:p>
            <a:br/>
            <a:pPr>
              <a:defRPr sz="1500" b="1">
                <a:solidFill>
                  <a:srgbClr val="059669"/>
                </a:solidFill>
                <a:latin typeface="Times New Roman"/>
              </a:defRPr>
            </a:pPr>
            <a:r>
              <a:t>Beban Depresiasi / Tahun:</a:t>
            </a:r>
            <a:br/>
            <a:r>
              <a:t>Rp 8.140.000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97680" y="1691640"/>
          <a:ext cx="71624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2864815"/>
              </a:tblGrid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Kelompok Aktiva Tetap (12 Item)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Nilai Perolehan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Rincian Item Peralatan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1. Gerobak &amp; Etalase Kaca Depan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Stasiun masak open kitchen teras ruko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2. Perabotan Dine-In (Meja &amp; Kursi)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8.300.000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4 Meja pendek, meja dinding, kursi 37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3. Sirkulasi Udara (6 Kipas Angin)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6 Unit kipas angin dinding/plafon @150k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4. Pendingin Dapur (Kulkas &amp; Freezer)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1 Kulkas sayur 2,5 Jt, 1 Freezer daging 3,5 Jt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5. Panci Masak &amp; Stok Mangkok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Panci kaldu, mangkok keramik, sendok, sumpit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6. Renovasi Ruko &amp; Signage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11.000.000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Cat ruko 1 lantai, kelistrikan/air,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Pendapatan (Cash Inflow 5 Tahun)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Estimasi penerimaan kas berbasis 300 hari operasi tahunan dengan eskalasi volume riil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645920"/>
                <a:gridCol w="4510735"/>
              </a:tblGrid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Proyeksi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Cash Inflow (CIF) / Tahun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Pertumbuhan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Asumsi &amp; Justifikasi Operasional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(2016/17)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Basis Awal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Omzet riil 300 hari operasi: rata-rata Rp 4,94 Jt/hari (menu utama + pelengkap).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(2017/18)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+35.4%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Peningkatan loyalitas pelanggan sekolah Kalam Kudus &amp; warga perumahan sekitar.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(2018/19)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Basis pelanggan mantap terbentuk (2019), pesanan bungkus take-away meningkat pesat.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(2019/20)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+35.1%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Penjualan stabil dengan pelanggan tetap keluarga residensial perumahan Duri Kosambi.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(2020/21)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+34.6%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l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Kapasitas kedai ruko optimal &amp; persiapan akumulasi kas untuk rencana ekspansi 2027/28.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Biaya &amp; Laba Bersih (NCF / EAT)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Analisis arus kas keluar operasional dan laba bersih selama 5 tahun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415"/>
                <a:gridCol w="2194560"/>
                <a:gridCol w="2194560"/>
                <a:gridCol w="2194560"/>
                <a:gridCol w="2194560"/>
              </a:tblGrid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Tahun Operasi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Inflow (CIF)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Outflow (COF)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Net Cash Flow (EAT)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Proceed (Kas Riil)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564.000.000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919.200.000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642.244.000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1.365.956.000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749.011.760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1.982.788.240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894.412.054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2.797.387.946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1.093.312.782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3.875.887.218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715000"/>
            <a:ext cx="10728655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KESIMPULAN KINERJA: Margin Laba Bersih Operasional Mencapai 61,97% di Tahun Pertama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Arus kas masuk sangat likuid untuk menutup seluruh beban sewa ruko Rp 20 Jt, gaji 3 staf Rp 120 Jt, serta HPP bahan baku daging mingguan.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19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Modal: Net Present Value (NPV)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Hasil perhitungan nilai sekarang bersih kas masuk dengan discount rate 20%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411480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NET PRESENT VALUE (NPV)</a:t>
            </a:r>
          </a:p>
          <a:p>
            <a:pPr>
              <a:defRPr sz="2500" b="1">
                <a:solidFill>
                  <a:srgbClr val="059669"/>
                </a:solidFill>
                <a:latin typeface="Times New Roman"/>
              </a:defRPr>
            </a:pPr>
            <a:r>
              <a:t>Rp 5.682.364.987</a:t>
            </a:r>
          </a:p>
          <a:p>
            <a:br/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STATUS KELAYAKAN: SANGAT LAYAK (NPV &gt; 0)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Berdasarkan kriteria standar FEB UKRIDA, rencana investasi dinyatakan LAYAK jika NPV &gt; 0. Nilai NPV sebesar Rp 5.68 Milyar membuktikan bahwa proyek Bakmi Mimu Carina Sayang mampu menutupi seluruh modal investasi awal Rp 62 Juta dan menghasilkan surplus kekayaan bersih yang luar biasa.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1691640"/>
          <a:ext cx="643097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41855"/>
              </a:tblGrid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Aliran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Nominal Arus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 Value (DF 20%)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0 (Initial Outlay)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-Rp 62.000.000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Modal Awal Relokasi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(Proceed Thn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759.216.667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(Proceed Thn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942.927.778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(Proceed Thn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1.142.736.250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(Proceed Thn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1.345.123.431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 wrap="square" lIns="73152" r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(Proceed Thn 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0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1.554.360.861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20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Modal: IRR &amp; Payback Period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Tingkat pengembalian internal dan kecepatan pemulihan modal investasi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C27803"/>
                </a:solidFill>
                <a:latin typeface="Times New Roman"/>
              </a:defRPr>
            </a:pPr>
            <a:r>
              <a:t>INTERNAL RATE OF RETURN (IRR)</a:t>
            </a:r>
          </a:p>
          <a:p>
            <a:pPr>
              <a:defRPr sz="3600" b="1">
                <a:solidFill>
                  <a:srgbClr val="059669"/>
                </a:solidFill>
                <a:latin typeface="Times New Roman"/>
              </a:defRPr>
            </a:pPr>
            <a:r>
              <a:t>&gt; 20,00%</a:t>
            </a:r>
          </a:p>
          <a:p>
            <a:br/>
            <a:pPr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TARGET / STANDAR FEB: &gt; 20,00% (Opportunity Cost)</a:t>
            </a:r>
          </a:p>
          <a:p>
            <a:br/>
            <a:pPr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STATUS: SANGAT LAYAK (Jauh Melampaui Standar)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Nilai IRR yang melampaui 20,00% membuktikan efisiensi operasional kedai yang sangat prima. Imbal hasil riil proyek jauh melampaui tingkat diskonto modal dan suku bunga deposito perbankan.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PAYBACK PERIOD (PP)</a:t>
            </a:r>
          </a:p>
          <a:p>
            <a:pPr>
              <a:defRPr sz="3600" b="1">
                <a:solidFill>
                  <a:srgbClr val="1E3A8A"/>
                </a:solidFill>
                <a:latin typeface="Times New Roman"/>
              </a:defRPr>
            </a:pPr>
            <a:r>
              <a:t>0.82 BULAN</a:t>
            </a:r>
          </a:p>
          <a:p>
            <a:br/>
            <a:pPr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SETARA: 0.07 TAHUN (KURANG DARI 1 BULAN OPERASI)</a:t>
            </a:r>
          </a:p>
          <a:p>
            <a:br/>
            <a:pPr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TARGET / STANDAR FEB: &lt; 3,00 TAHUN (36 BULAN) ➔ SANGAT LAYAK</a:t>
            </a:r>
          </a:p>
          <a:p>
            <a:br/>
            <a:pPr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Modal awal sebesar Rp 62.000.000 telah pulih kembali sepenuhnya hanya dalam tempo 0.82 bulan (sekitar 25 hari kerja pada bulan pertama). Seluruh arus kas berikutnya murni menjadi keuntungan likuid.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291840" cy="3200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41280" y="320040"/>
            <a:ext cx="1216152" cy="320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75569"/>
                </a:solidFill>
                <a:latin typeface="Times New Roman"/>
              </a:defRPr>
            </a:pPr>
            <a:r>
              <a:t>SLIDE 21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Profitability Index &amp; Matriks Kelayakan</a:t>
            </a:r>
          </a:p>
          <a:p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Rangkuman skor evaluasi investasi dan ketahanan terhadap risiko pasar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916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407615"/>
              </a:tblGrid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Metode Kriteria Investasi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Hasil Perhitungan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Standar Kelayakan FEB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Status Evaluasi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Net Present Value (NPV)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5.682.364.987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Rp 0 (Positif)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Internal Rate of Return (IRR)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&gt; 20,00%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20,00% (Opportunity Cost)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Payback Period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0.82 Bulan (0,07 Thn)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&lt; 36 Bulan (3 Tahun)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 lIns="73152" rIns="73152"/>
                    <a:lstStyle/>
                    <a:p>
                      <a:pPr algn="l">
                        <a:defRPr sz="105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Profitability Index (PI)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r">
                        <a:defRPr sz="110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175.81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&gt; 1,20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SANGAT LAYAK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800600"/>
            <a:ext cx="1072865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ANALISIS SENSITIVITAS &amp; KETAHANAN TERHADAP RISIKO PASAR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Skenario Kenaikan Harga Bahan Baku Daging (+10%): Nilai NPV tetap positif di atas Rp 5,2 Milyar dengan Payback Period tetap &lt; 1 bulan.</a:t>
            </a:r>
            <a:br/>
            <a:r>
              <a:t>• Skenario Penurunan Volume Penjualan (-15%): Kedai tetap menghasilkan arus kas operasional surplus yang sangat sehat untuk menutup gaji dan sewa ruko.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8580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74519"/>
            <a:ext cx="10362895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C27803"/>
                </a:solidFill>
                <a:latin typeface="Times New Roman"/>
              </a:defRPr>
            </a:pPr>
            <a:r>
              <a:t>KESIMPULAN AKHIR KELAYAKAN INVESTASI</a:t>
            </a:r>
          </a:p>
          <a:p>
            <a:pPr algn="ctr">
              <a:defRPr sz="3000" b="1">
                <a:solidFill>
                  <a:srgbClr val="059669"/>
                </a:solidFill>
                <a:latin typeface="Times New Roman"/>
              </a:defRPr>
            </a:pPr>
            <a:r>
              <a:t>“ BISNIS DINYATAKAN SANGAT LAYAK ”</a:t>
            </a:r>
          </a:p>
          <a:p>
            <a:pPr algn="ctr"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Berdasarkan hasil analisis komprehensif aspek pasar. manajemen. teknis operasi. dan finansial.</a:t>
            </a:r>
            <a:br/>
            <a:r>
              <a:t>proyek Bakmi Mimu Carina Sayang menghasilkan NPV Rp 5.682.364.987, IRR &gt; 20,00%, Payback Period 0.82 bulan (hanya 0,07 tahun), dan PI 175.81.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br/>
            <a:r>
              <a:t>Disusun Oleh Tim Mahasiswa:</a:t>
            </a:r>
            <a:br/>
            <a:r>
              <a:t>Arthur Reezan (312023002)   •   Jennese Putra Alamsyah Sukadi (312023033)   •   Valendrik Dwiputra Wirawan (312023013)</a:t>
            </a:r>
            <a:br/>
            <a:r>
              <a:t>Affandy (312023075)   •   Steven Putra Tjhin (312023015)</a:t>
            </a:r>
          </a:p>
          <a:p>
            <a:pPr algn="ctr">
              <a:defRPr sz="1000" i="1">
                <a:solidFill>
                  <a:srgbClr val="475569"/>
                </a:solidFill>
                <a:latin typeface="Times New Roman"/>
              </a:defRPr>
            </a:pPr>
            <a:br/>
            <a:r>
              <a:t>Sekian &amp; Terima Kasih  |  Sesi Tanya Jawab Dibuka</a:t>
            </a:r>
            <a:br/>
            <a:r>
              <a:t>Program Studi Manajemen  |  Fakultas Ekonomi &amp; Bisnis  |  Universitas Kristen Krida Wacana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