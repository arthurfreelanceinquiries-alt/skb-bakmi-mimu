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457200"/>
            <a:ext cx="10362895" cy="59436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krida.png"/>
          <p:cNvPicPr>
            <a:picLocks noChangeAspect="1"/>
          </p:cNvPicPr>
          <p:nvPr/>
        </p:nvPicPr>
        <p:blipFill>
          <a:blip r:embed="rId2"/>
          <a:stretch>
            <a:fillRect/>
          </a:stretch>
        </p:blipFill>
        <p:spPr>
          <a:xfrm>
            <a:off x="5546750" y="685800"/>
            <a:ext cx="1097280" cy="1097280"/>
          </a:xfrm>
          <a:prstGeom prst="rect">
            <a:avLst/>
          </a:prstGeom>
        </p:spPr>
      </p:pic>
      <p:sp>
        <p:nvSpPr>
          <p:cNvPr id="5" name="TextBox 4"/>
          <p:cNvSpPr txBox="1"/>
          <p:nvPr/>
        </p:nvSpPr>
        <p:spPr>
          <a:xfrm>
            <a:off x="1188720" y="1874519"/>
            <a:ext cx="9814255" cy="2194560"/>
          </a:xfrm>
          <a:prstGeom prst="rect">
            <a:avLst/>
          </a:prstGeom>
          <a:noFill/>
        </p:spPr>
        <p:txBody>
          <a:bodyPr wrap="none" lIns="0" rIns="0" tIns="0" bIns="0">
            <a:spAutoFit/>
          </a:bodyPr>
          <a:lstStyle/>
          <a:p>
            <a:pPr algn="ctr">
              <a:defRPr sz="1100" b="1">
                <a:solidFill>
                  <a:srgbClr val="F59E0B"/>
                </a:solidFill>
                <a:latin typeface="Times New Roman"/>
              </a:defRPr>
            </a:pPr>
            <a:r>
              <a:t>FAKULTAS EKONOMI &amp; BISNIS  •  UNIVERSITAS KRISTEN KRIDA WACANA</a:t>
            </a:r>
          </a:p>
          <a:p>
            <a:pPr algn="ctr">
              <a:defRPr sz="1500">
                <a:solidFill>
                  <a:srgbClr val="94A3B8"/>
                </a:solidFill>
                <a:latin typeface="Times New Roman"/>
              </a:defRPr>
            </a:pPr>
            <a:r>
              <a:t>LAPORAN STUDI KELAYAKAN BISNIS (SKB)</a:t>
            </a:r>
          </a:p>
          <a:p>
            <a:pPr algn="ctr">
              <a:defRPr sz="3200" b="1">
                <a:solidFill>
                  <a:srgbClr val="F8FAFC"/>
                </a:solidFill>
                <a:latin typeface="Times New Roman"/>
              </a:defRPr>
            </a:pPr>
            <a:r>
              <a:t>“ BAKMI MIMU CARINA SAYANG ”</a:t>
            </a:r>
          </a:p>
          <a:p>
            <a:pPr algn="ctr">
              <a:defRPr sz="1300" i="1">
                <a:solidFill>
                  <a:srgbClr val="FBBF24"/>
                </a:solidFill>
                <a:latin typeface="Times New Roman"/>
              </a:defRPr>
            </a:pPr>
            <a:r>
              <a:t>- Cita Rasa Bakmi Legendaris &amp; Otentik Sejak 1999 -</a:t>
            </a:r>
          </a:p>
        </p:txBody>
      </p:sp>
      <p:sp>
        <p:nvSpPr>
          <p:cNvPr id="6" name="Rounded Rectangle 5"/>
          <p:cNvSpPr/>
          <p:nvPr/>
        </p:nvSpPr>
        <p:spPr>
          <a:xfrm>
            <a:off x="1234440" y="4297680"/>
            <a:ext cx="1874519" cy="10058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07592" y="4407408"/>
            <a:ext cx="1728215" cy="786384"/>
          </a:xfrm>
          <a:prstGeom prst="rect">
            <a:avLst/>
          </a:prstGeom>
          <a:noFill/>
        </p:spPr>
        <p:txBody>
          <a:bodyPr wrap="none" lIns="0" rIns="0" tIns="0" bIns="0">
            <a:spAutoFit/>
          </a:bodyPr>
          <a:lstStyle/>
          <a:p>
            <a:pPr algn="ctr">
              <a:defRPr sz="900" b="1">
                <a:solidFill>
                  <a:srgbClr val="F59E0B"/>
                </a:solidFill>
                <a:latin typeface="Times New Roman"/>
              </a:defRPr>
            </a:pPr>
            <a:r>
              <a:t>Mahasiswa 1</a:t>
            </a:r>
          </a:p>
          <a:p>
            <a:pPr algn="ctr">
              <a:defRPr sz="850" b="1">
                <a:solidFill>
                  <a:srgbClr val="F8FAFC"/>
                </a:solidFill>
                <a:latin typeface="Times New Roman"/>
              </a:defRPr>
            </a:pPr>
            <a:r>
              <a:t>Arthur Reezan</a:t>
            </a:r>
          </a:p>
          <a:p>
            <a:pPr algn="ctr">
              <a:defRPr sz="950">
                <a:solidFill>
                  <a:srgbClr val="94A3B8"/>
                </a:solidFill>
                <a:latin typeface="Times New Roman"/>
              </a:defRPr>
            </a:pPr>
            <a:r>
              <a:t>NIM: 312023002</a:t>
            </a:r>
          </a:p>
        </p:txBody>
      </p:sp>
      <p:sp>
        <p:nvSpPr>
          <p:cNvPr id="8" name="Rounded Rectangle 7"/>
          <p:cNvSpPr/>
          <p:nvPr/>
        </p:nvSpPr>
        <p:spPr>
          <a:xfrm>
            <a:off x="3218687" y="4297680"/>
            <a:ext cx="1874519" cy="10058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39" y="4407408"/>
            <a:ext cx="1728215" cy="786384"/>
          </a:xfrm>
          <a:prstGeom prst="rect">
            <a:avLst/>
          </a:prstGeom>
          <a:noFill/>
        </p:spPr>
        <p:txBody>
          <a:bodyPr wrap="none" lIns="0" rIns="0" tIns="0" bIns="0">
            <a:spAutoFit/>
          </a:bodyPr>
          <a:lstStyle/>
          <a:p>
            <a:pPr algn="ctr">
              <a:defRPr sz="900" b="1">
                <a:solidFill>
                  <a:srgbClr val="F59E0B"/>
                </a:solidFill>
                <a:latin typeface="Times New Roman"/>
              </a:defRPr>
            </a:pPr>
            <a:r>
              <a:t>Mahasiswa 2</a:t>
            </a:r>
          </a:p>
          <a:p>
            <a:pPr algn="ctr">
              <a:defRPr sz="850" b="1">
                <a:solidFill>
                  <a:srgbClr val="F8FAFC"/>
                </a:solidFill>
                <a:latin typeface="Times New Roman"/>
              </a:defRPr>
            </a:pPr>
            <a:r>
              <a:t>Jennese Putra Alamsyah Sukadi</a:t>
            </a:r>
          </a:p>
          <a:p>
            <a:pPr algn="ctr">
              <a:defRPr sz="950">
                <a:solidFill>
                  <a:srgbClr val="94A3B8"/>
                </a:solidFill>
                <a:latin typeface="Times New Roman"/>
              </a:defRPr>
            </a:pPr>
            <a:r>
              <a:t>NIM: 312023033</a:t>
            </a:r>
          </a:p>
        </p:txBody>
      </p:sp>
      <p:sp>
        <p:nvSpPr>
          <p:cNvPr id="10" name="Rounded Rectangle 9"/>
          <p:cNvSpPr/>
          <p:nvPr/>
        </p:nvSpPr>
        <p:spPr>
          <a:xfrm>
            <a:off x="5202934" y="4297680"/>
            <a:ext cx="1874519" cy="10058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76086" y="4407408"/>
            <a:ext cx="1728215" cy="786384"/>
          </a:xfrm>
          <a:prstGeom prst="rect">
            <a:avLst/>
          </a:prstGeom>
          <a:noFill/>
        </p:spPr>
        <p:txBody>
          <a:bodyPr wrap="none" lIns="0" rIns="0" tIns="0" bIns="0">
            <a:spAutoFit/>
          </a:bodyPr>
          <a:lstStyle/>
          <a:p>
            <a:pPr algn="ctr">
              <a:defRPr sz="900" b="1">
                <a:solidFill>
                  <a:srgbClr val="F59E0B"/>
                </a:solidFill>
                <a:latin typeface="Times New Roman"/>
              </a:defRPr>
            </a:pPr>
            <a:r>
              <a:t>Mahasiswa 3</a:t>
            </a:r>
          </a:p>
          <a:p>
            <a:pPr algn="ctr">
              <a:defRPr sz="850" b="1">
                <a:solidFill>
                  <a:srgbClr val="F8FAFC"/>
                </a:solidFill>
                <a:latin typeface="Times New Roman"/>
              </a:defRPr>
            </a:pPr>
            <a:r>
              <a:t>Valendrik Dwiputra Wirawan</a:t>
            </a:r>
          </a:p>
          <a:p>
            <a:pPr algn="ctr">
              <a:defRPr sz="950">
                <a:solidFill>
                  <a:srgbClr val="94A3B8"/>
                </a:solidFill>
                <a:latin typeface="Times New Roman"/>
              </a:defRPr>
            </a:pPr>
            <a:r>
              <a:t>NIM: 312023013</a:t>
            </a:r>
          </a:p>
        </p:txBody>
      </p:sp>
      <p:sp>
        <p:nvSpPr>
          <p:cNvPr id="12" name="Rounded Rectangle 11"/>
          <p:cNvSpPr/>
          <p:nvPr/>
        </p:nvSpPr>
        <p:spPr>
          <a:xfrm>
            <a:off x="7187181" y="4297680"/>
            <a:ext cx="1874519" cy="10058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0333" y="4407408"/>
            <a:ext cx="1728215" cy="786384"/>
          </a:xfrm>
          <a:prstGeom prst="rect">
            <a:avLst/>
          </a:prstGeom>
          <a:noFill/>
        </p:spPr>
        <p:txBody>
          <a:bodyPr wrap="none" lIns="0" rIns="0" tIns="0" bIns="0">
            <a:spAutoFit/>
          </a:bodyPr>
          <a:lstStyle/>
          <a:p>
            <a:pPr algn="ctr">
              <a:defRPr sz="900" b="1">
                <a:solidFill>
                  <a:srgbClr val="F59E0B"/>
                </a:solidFill>
                <a:latin typeface="Times New Roman"/>
              </a:defRPr>
            </a:pPr>
            <a:r>
              <a:t>Mahasiswa 4</a:t>
            </a:r>
          </a:p>
          <a:p>
            <a:pPr algn="ctr">
              <a:defRPr sz="850" b="1">
                <a:solidFill>
                  <a:srgbClr val="F8FAFC"/>
                </a:solidFill>
                <a:latin typeface="Times New Roman"/>
              </a:defRPr>
            </a:pPr>
            <a:r>
              <a:t>Affandy</a:t>
            </a:r>
          </a:p>
          <a:p>
            <a:pPr algn="ctr">
              <a:defRPr sz="950">
                <a:solidFill>
                  <a:srgbClr val="94A3B8"/>
                </a:solidFill>
                <a:latin typeface="Times New Roman"/>
              </a:defRPr>
            </a:pPr>
            <a:r>
              <a:t>NIM: 312023075</a:t>
            </a:r>
          </a:p>
        </p:txBody>
      </p:sp>
      <p:sp>
        <p:nvSpPr>
          <p:cNvPr id="14" name="Rounded Rectangle 13"/>
          <p:cNvSpPr/>
          <p:nvPr/>
        </p:nvSpPr>
        <p:spPr>
          <a:xfrm>
            <a:off x="9171428" y="4297680"/>
            <a:ext cx="1874519" cy="10058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44580" y="4407408"/>
            <a:ext cx="1728215" cy="786384"/>
          </a:xfrm>
          <a:prstGeom prst="rect">
            <a:avLst/>
          </a:prstGeom>
          <a:noFill/>
        </p:spPr>
        <p:txBody>
          <a:bodyPr wrap="none" lIns="0" rIns="0" tIns="0" bIns="0">
            <a:spAutoFit/>
          </a:bodyPr>
          <a:lstStyle/>
          <a:p>
            <a:pPr algn="ctr">
              <a:defRPr sz="900" b="1">
                <a:solidFill>
                  <a:srgbClr val="F59E0B"/>
                </a:solidFill>
                <a:latin typeface="Times New Roman"/>
              </a:defRPr>
            </a:pPr>
            <a:r>
              <a:t>Mahasiswa 5</a:t>
            </a:r>
          </a:p>
          <a:p>
            <a:pPr algn="ctr">
              <a:defRPr sz="850" b="1">
                <a:solidFill>
                  <a:srgbClr val="F8FAFC"/>
                </a:solidFill>
                <a:latin typeface="Times New Roman"/>
              </a:defRPr>
            </a:pPr>
            <a:r>
              <a:t>Steven Putra Tjhin</a:t>
            </a:r>
          </a:p>
          <a:p>
            <a:pPr algn="ctr">
              <a:defRPr sz="950">
                <a:solidFill>
                  <a:srgbClr val="94A3B8"/>
                </a:solidFill>
                <a:latin typeface="Times New Roman"/>
              </a:defRPr>
            </a:pPr>
            <a:r>
              <a:t>NIM: 312023015</a:t>
            </a:r>
          </a:p>
        </p:txBody>
      </p:sp>
      <p:sp>
        <p:nvSpPr>
          <p:cNvPr id="16" name="TextBox 15"/>
          <p:cNvSpPr txBox="1"/>
          <p:nvPr/>
        </p:nvSpPr>
        <p:spPr>
          <a:xfrm>
            <a:off x="1188720" y="5486400"/>
            <a:ext cx="9814255" cy="457200"/>
          </a:xfrm>
          <a:prstGeom prst="rect">
            <a:avLst/>
          </a:prstGeom>
          <a:noFill/>
        </p:spPr>
        <p:txBody>
          <a:bodyPr wrap="none">
            <a:spAutoFit/>
          </a:bodyPr>
          <a:lstStyle/>
          <a:p>
            <a:pPr algn="ctr">
              <a:defRPr sz="1000">
                <a:solidFill>
                  <a:srgbClr val="94A3B8"/>
                </a:solidFill>
                <a:latin typeface="Times New Roman"/>
              </a:defRPr>
            </a:pPr>
            <a:r>
              <a:t>Program Studi Sarjana Manajemen  |  Konsentrasi Studi Kelayakan Bisnis  |  Tahun Akademik 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AGENDA PRESENTASI</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02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Daftar Isi &amp; Sistematika Kajian</a:t>
            </a:r>
          </a:p>
          <a:p>
            <a:pPr>
              <a:defRPr sz="1200">
                <a:solidFill>
                  <a:srgbClr val="94A3B8"/>
                </a:solidFill>
                <a:latin typeface="Times New Roman"/>
              </a:defRPr>
            </a:pPr>
            <a:r>
              <a:t>Ringkasan 6 bab utama studi kelayakan bisnis sesuai standar FEB UKRIDA</a:t>
            </a:r>
          </a:p>
        </p:txBody>
      </p:sp>
      <p:sp>
        <p:nvSpPr>
          <p:cNvPr id="6" name="Rounded Rectangle 5"/>
          <p:cNvSpPr/>
          <p:nvPr/>
        </p:nvSpPr>
        <p:spPr>
          <a:xfrm>
            <a:off x="731520" y="1691640"/>
            <a:ext cx="3456432"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920240"/>
            <a:ext cx="731520" cy="41148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20240"/>
            <a:ext cx="731520" cy="411480"/>
          </a:xfrm>
          <a:prstGeom prst="rect">
            <a:avLst/>
          </a:prstGeom>
          <a:noFill/>
        </p:spPr>
        <p:txBody>
          <a:bodyPr wrap="none" lIns="0" rIns="0" tIns="0" bIns="0">
            <a:spAutoFit/>
          </a:bodyPr>
          <a:lstStyle/>
          <a:p>
            <a:pPr algn="ctr">
              <a:defRPr sz="1600" b="1">
                <a:solidFill>
                  <a:srgbClr val="F59E0B"/>
                </a:solidFill>
                <a:latin typeface="Times New Roman"/>
              </a:defRPr>
            </a:pPr>
            <a:r>
              <a:t>01</a:t>
            </a:r>
          </a:p>
        </p:txBody>
      </p:sp>
      <p:sp>
        <p:nvSpPr>
          <p:cNvPr id="9" name="TextBox 8"/>
          <p:cNvSpPr txBox="1"/>
          <p:nvPr/>
        </p:nvSpPr>
        <p:spPr>
          <a:xfrm>
            <a:off x="960120" y="2423160"/>
            <a:ext cx="2999232" cy="1325880"/>
          </a:xfrm>
          <a:prstGeom prst="rect">
            <a:avLst/>
          </a:prstGeom>
          <a:noFill/>
        </p:spPr>
        <p:txBody>
          <a:bodyPr wrap="none" lIns="0" rIns="0" tIns="0" bIns="0">
            <a:spAutoFit/>
          </a:bodyPr>
          <a:lstStyle/>
          <a:p>
            <a:pPr>
              <a:defRPr sz="1350" b="1">
                <a:solidFill>
                  <a:srgbClr val="F8FAFC"/>
                </a:solidFill>
                <a:latin typeface="Times New Roman"/>
              </a:defRPr>
            </a:pPr>
            <a:r>
              <a:t>BAB I: PENDAHULUAN &amp; PROFIL</a:t>
            </a:r>
          </a:p>
          <a:p>
            <a:pPr>
              <a:defRPr sz="1100">
                <a:solidFill>
                  <a:srgbClr val="94A3B8"/>
                </a:solidFill>
                <a:latin typeface="Times New Roman"/>
              </a:defRPr>
            </a:pPr>
            <a:r>
              <a:t>Perjalanan usaha 1999 Taman Aries -&gt; 2016 Duri Kosambi, basis pelanggan 2019, &amp; peluang ekspansi 2027/2028.</a:t>
            </a:r>
          </a:p>
        </p:txBody>
      </p:sp>
      <p:sp>
        <p:nvSpPr>
          <p:cNvPr id="10" name="Rounded Rectangle 9"/>
          <p:cNvSpPr/>
          <p:nvPr/>
        </p:nvSpPr>
        <p:spPr>
          <a:xfrm>
            <a:off x="4370832" y="1691640"/>
            <a:ext cx="3456432"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99432" y="1920240"/>
            <a:ext cx="731520" cy="41148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1920240"/>
            <a:ext cx="731520" cy="411480"/>
          </a:xfrm>
          <a:prstGeom prst="rect">
            <a:avLst/>
          </a:prstGeom>
          <a:noFill/>
        </p:spPr>
        <p:txBody>
          <a:bodyPr wrap="none" lIns="0" rIns="0" tIns="0" bIns="0">
            <a:spAutoFit/>
          </a:bodyPr>
          <a:lstStyle/>
          <a:p>
            <a:pPr algn="ctr">
              <a:defRPr sz="1600" b="1">
                <a:solidFill>
                  <a:srgbClr val="F59E0B"/>
                </a:solidFill>
                <a:latin typeface="Times New Roman"/>
              </a:defRPr>
            </a:pPr>
            <a:r>
              <a:t>02</a:t>
            </a:r>
          </a:p>
        </p:txBody>
      </p:sp>
      <p:sp>
        <p:nvSpPr>
          <p:cNvPr id="13" name="TextBox 12"/>
          <p:cNvSpPr txBox="1"/>
          <p:nvPr/>
        </p:nvSpPr>
        <p:spPr>
          <a:xfrm>
            <a:off x="4599432" y="2423160"/>
            <a:ext cx="2999232" cy="1325880"/>
          </a:xfrm>
          <a:prstGeom prst="rect">
            <a:avLst/>
          </a:prstGeom>
          <a:noFill/>
        </p:spPr>
        <p:txBody>
          <a:bodyPr wrap="none" lIns="0" rIns="0" tIns="0" bIns="0">
            <a:spAutoFit/>
          </a:bodyPr>
          <a:lstStyle/>
          <a:p>
            <a:pPr>
              <a:defRPr sz="1350" b="1">
                <a:solidFill>
                  <a:srgbClr val="F8FAFC"/>
                </a:solidFill>
                <a:latin typeface="Times New Roman"/>
              </a:defRPr>
            </a:pPr>
            <a:r>
              <a:t>BAB II: ASPEK PASAR &amp; PEMASARAN</a:t>
            </a:r>
          </a:p>
          <a:p>
            <a:pPr>
              <a:defRPr sz="1100">
                <a:solidFill>
                  <a:srgbClr val="94A3B8"/>
                </a:solidFill>
                <a:latin typeface="Times New Roman"/>
              </a:defRPr>
            </a:pPr>
            <a:r>
              <a:t>Segmentasi STP, 3 minyak mie, topping ayam putih/babi kecap/casiu, benchmarking, dan bauran 7P.</a:t>
            </a:r>
          </a:p>
        </p:txBody>
      </p:sp>
      <p:sp>
        <p:nvSpPr>
          <p:cNvPr id="14" name="Rounded Rectangle 13"/>
          <p:cNvSpPr/>
          <p:nvPr/>
        </p:nvSpPr>
        <p:spPr>
          <a:xfrm>
            <a:off x="8010144" y="1691640"/>
            <a:ext cx="3456432"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38744" y="1920240"/>
            <a:ext cx="731520" cy="41148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1920240"/>
            <a:ext cx="731520" cy="411480"/>
          </a:xfrm>
          <a:prstGeom prst="rect">
            <a:avLst/>
          </a:prstGeom>
          <a:noFill/>
        </p:spPr>
        <p:txBody>
          <a:bodyPr wrap="none" lIns="0" rIns="0" tIns="0" bIns="0">
            <a:spAutoFit/>
          </a:bodyPr>
          <a:lstStyle/>
          <a:p>
            <a:pPr algn="ctr">
              <a:defRPr sz="1600" b="1">
                <a:solidFill>
                  <a:srgbClr val="F59E0B"/>
                </a:solidFill>
                <a:latin typeface="Times New Roman"/>
              </a:defRPr>
            </a:pPr>
            <a:r>
              <a:t>03</a:t>
            </a:r>
          </a:p>
        </p:txBody>
      </p:sp>
      <p:sp>
        <p:nvSpPr>
          <p:cNvPr id="17" name="TextBox 16"/>
          <p:cNvSpPr txBox="1"/>
          <p:nvPr/>
        </p:nvSpPr>
        <p:spPr>
          <a:xfrm>
            <a:off x="8238744" y="2423160"/>
            <a:ext cx="2999232" cy="1325880"/>
          </a:xfrm>
          <a:prstGeom prst="rect">
            <a:avLst/>
          </a:prstGeom>
          <a:noFill/>
        </p:spPr>
        <p:txBody>
          <a:bodyPr wrap="none" lIns="0" rIns="0" tIns="0" bIns="0">
            <a:spAutoFit/>
          </a:bodyPr>
          <a:lstStyle/>
          <a:p>
            <a:pPr>
              <a:defRPr sz="1350" b="1">
                <a:solidFill>
                  <a:srgbClr val="F8FAFC"/>
                </a:solidFill>
                <a:latin typeface="Times New Roman"/>
              </a:defRPr>
            </a:pPr>
            <a:r>
              <a:t>BAB III: ASPEK MANAJEMEN</a:t>
            </a:r>
          </a:p>
          <a:p>
            <a:pPr>
              <a:defRPr sz="1100">
                <a:solidFill>
                  <a:srgbClr val="94A3B8"/>
                </a:solidFill>
                <a:latin typeface="Times New Roman"/>
              </a:defRPr>
            </a:pPr>
            <a:r>
              <a:t>Struktur organisasi 3 staf karyawan fungsional, job description terstruktur, dan total alokasi gaji Rp 10 Jt/bln.</a:t>
            </a:r>
          </a:p>
        </p:txBody>
      </p:sp>
      <p:sp>
        <p:nvSpPr>
          <p:cNvPr id="18" name="Rounded Rectangle 17"/>
          <p:cNvSpPr/>
          <p:nvPr/>
        </p:nvSpPr>
        <p:spPr>
          <a:xfrm>
            <a:off x="731520" y="4023360"/>
            <a:ext cx="3456432"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0120" y="4251960"/>
            <a:ext cx="731520" cy="41148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251960"/>
            <a:ext cx="731520" cy="411480"/>
          </a:xfrm>
          <a:prstGeom prst="rect">
            <a:avLst/>
          </a:prstGeom>
          <a:noFill/>
        </p:spPr>
        <p:txBody>
          <a:bodyPr wrap="none" lIns="0" rIns="0" tIns="0" bIns="0">
            <a:spAutoFit/>
          </a:bodyPr>
          <a:lstStyle/>
          <a:p>
            <a:pPr algn="ctr">
              <a:defRPr sz="1600" b="1">
                <a:solidFill>
                  <a:srgbClr val="F59E0B"/>
                </a:solidFill>
                <a:latin typeface="Times New Roman"/>
              </a:defRPr>
            </a:pPr>
            <a:r>
              <a:t>04</a:t>
            </a:r>
          </a:p>
        </p:txBody>
      </p:sp>
      <p:sp>
        <p:nvSpPr>
          <p:cNvPr id="21" name="TextBox 20"/>
          <p:cNvSpPr txBox="1"/>
          <p:nvPr/>
        </p:nvSpPr>
        <p:spPr>
          <a:xfrm>
            <a:off x="960120" y="4754880"/>
            <a:ext cx="2999232" cy="1325880"/>
          </a:xfrm>
          <a:prstGeom prst="rect">
            <a:avLst/>
          </a:prstGeom>
          <a:noFill/>
        </p:spPr>
        <p:txBody>
          <a:bodyPr wrap="none" lIns="0" rIns="0" tIns="0" bIns="0">
            <a:spAutoFit/>
          </a:bodyPr>
          <a:lstStyle/>
          <a:p>
            <a:pPr>
              <a:defRPr sz="1350" b="1">
                <a:solidFill>
                  <a:srgbClr val="F8FAFC"/>
                </a:solidFill>
                <a:latin typeface="Times New Roman"/>
              </a:defRPr>
            </a:pPr>
            <a:r>
              <a:t>BAB IV: ASPEK TEKNIS &amp; OPERASI</a:t>
            </a:r>
          </a:p>
          <a:p>
            <a:pPr>
              <a:defRPr sz="1100">
                <a:solidFill>
                  <a:srgbClr val="94A3B8"/>
                </a:solidFill>
                <a:latin typeface="Times New Roman"/>
              </a:defRPr>
            </a:pPr>
            <a:r>
              <a:t>Tata letak ruko 1 lantai (22 kursi), modal awal 2016 Rp 62 Jt, open kitchen gerobak, &amp; alur produksi mie mingguan.</a:t>
            </a:r>
          </a:p>
        </p:txBody>
      </p:sp>
      <p:sp>
        <p:nvSpPr>
          <p:cNvPr id="22" name="Rounded Rectangle 21"/>
          <p:cNvSpPr/>
          <p:nvPr/>
        </p:nvSpPr>
        <p:spPr>
          <a:xfrm>
            <a:off x="4370832" y="4023360"/>
            <a:ext cx="3456432"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599432" y="4251960"/>
            <a:ext cx="731520" cy="41148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2" y="4251960"/>
            <a:ext cx="731520" cy="411480"/>
          </a:xfrm>
          <a:prstGeom prst="rect">
            <a:avLst/>
          </a:prstGeom>
          <a:noFill/>
        </p:spPr>
        <p:txBody>
          <a:bodyPr wrap="none" lIns="0" rIns="0" tIns="0" bIns="0">
            <a:spAutoFit/>
          </a:bodyPr>
          <a:lstStyle/>
          <a:p>
            <a:pPr algn="ctr">
              <a:defRPr sz="1600" b="1">
                <a:solidFill>
                  <a:srgbClr val="F59E0B"/>
                </a:solidFill>
                <a:latin typeface="Times New Roman"/>
              </a:defRPr>
            </a:pPr>
            <a:r>
              <a:t>05</a:t>
            </a:r>
          </a:p>
        </p:txBody>
      </p:sp>
      <p:sp>
        <p:nvSpPr>
          <p:cNvPr id="25" name="TextBox 24"/>
          <p:cNvSpPr txBox="1"/>
          <p:nvPr/>
        </p:nvSpPr>
        <p:spPr>
          <a:xfrm>
            <a:off x="4599432" y="4754880"/>
            <a:ext cx="2999232" cy="1325880"/>
          </a:xfrm>
          <a:prstGeom prst="rect">
            <a:avLst/>
          </a:prstGeom>
          <a:noFill/>
        </p:spPr>
        <p:txBody>
          <a:bodyPr wrap="none" lIns="0" rIns="0" tIns="0" bIns="0">
            <a:spAutoFit/>
          </a:bodyPr>
          <a:lstStyle/>
          <a:p>
            <a:pPr>
              <a:defRPr sz="1350" b="1">
                <a:solidFill>
                  <a:srgbClr val="F8FAFC"/>
                </a:solidFill>
                <a:latin typeface="Times New Roman"/>
              </a:defRPr>
            </a:pPr>
            <a:r>
              <a:t>BAB V: ASPEK KEUANGAN TERPADU</a:t>
            </a:r>
          </a:p>
          <a:p>
            <a:pPr>
              <a:defRPr sz="1100">
                <a:solidFill>
                  <a:srgbClr val="94A3B8"/>
                </a:solidFill>
                <a:latin typeface="Times New Roman"/>
              </a:defRPr>
            </a:pPr>
            <a:r>
              <a:t>Initial outlay Rp 62.0 jt, proyeksi 5 tahun arus kas (CIF/COF), dan depresiasi garis lurus 20%.</a:t>
            </a:r>
          </a:p>
        </p:txBody>
      </p:sp>
      <p:sp>
        <p:nvSpPr>
          <p:cNvPr id="26" name="Rounded Rectangle 25"/>
          <p:cNvSpPr/>
          <p:nvPr/>
        </p:nvSpPr>
        <p:spPr>
          <a:xfrm>
            <a:off x="8010144" y="4023360"/>
            <a:ext cx="3456432"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38744" y="4251960"/>
            <a:ext cx="731520" cy="41148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51960"/>
            <a:ext cx="731520" cy="411480"/>
          </a:xfrm>
          <a:prstGeom prst="rect">
            <a:avLst/>
          </a:prstGeom>
          <a:noFill/>
        </p:spPr>
        <p:txBody>
          <a:bodyPr wrap="none" lIns="0" rIns="0" tIns="0" bIns="0">
            <a:spAutoFit/>
          </a:bodyPr>
          <a:lstStyle/>
          <a:p>
            <a:pPr algn="ctr">
              <a:defRPr sz="1600" b="1">
                <a:solidFill>
                  <a:srgbClr val="F59E0B"/>
                </a:solidFill>
                <a:latin typeface="Times New Roman"/>
              </a:defRPr>
            </a:pPr>
            <a:r>
              <a:t>06</a:t>
            </a:r>
          </a:p>
        </p:txBody>
      </p:sp>
      <p:sp>
        <p:nvSpPr>
          <p:cNvPr id="29" name="TextBox 28"/>
          <p:cNvSpPr txBox="1"/>
          <p:nvPr/>
        </p:nvSpPr>
        <p:spPr>
          <a:xfrm>
            <a:off x="8238744" y="4754880"/>
            <a:ext cx="2999232" cy="1325880"/>
          </a:xfrm>
          <a:prstGeom prst="rect">
            <a:avLst/>
          </a:prstGeom>
          <a:noFill/>
        </p:spPr>
        <p:txBody>
          <a:bodyPr wrap="none" lIns="0" rIns="0" tIns="0" bIns="0">
            <a:spAutoFit/>
          </a:bodyPr>
          <a:lstStyle/>
          <a:p>
            <a:pPr>
              <a:defRPr sz="1350" b="1">
                <a:solidFill>
                  <a:srgbClr val="F8FAFC"/>
                </a:solidFill>
                <a:latin typeface="Times New Roman"/>
              </a:defRPr>
            </a:pPr>
            <a:r>
              <a:t>BAB VI: KELAYAKAN INVESTASI</a:t>
            </a:r>
          </a:p>
          <a:p>
            <a:pPr>
              <a:defRPr sz="1100">
                <a:solidFill>
                  <a:srgbClr val="94A3B8"/>
                </a:solidFill>
                <a:latin typeface="Times New Roman"/>
              </a:defRPr>
            </a:pPr>
            <a:r>
              <a:t>Hasil pengujian 4 kriteria investasi modal: NPV Rp 5.68 M, IRR 1000.00%, PP 0.82 Bulan, dan PI 175.81.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I: PENDAHULUAN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03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Latar Belakang &amp; Filosofi Usaha</a:t>
            </a:r>
          </a:p>
          <a:p>
            <a:pPr>
              <a:defRPr sz="1200">
                <a:solidFill>
                  <a:srgbClr val="94A3B8"/>
                </a:solidFill>
                <a:latin typeface="Times New Roman"/>
              </a:defRPr>
            </a:pPr>
            <a:r>
              <a:t>Perjalanan kuliner legendaris sejak 1999 dan peluang ekspansi masa depan</a:t>
            </a:r>
          </a:p>
        </p:txBody>
      </p:sp>
      <p:sp>
        <p:nvSpPr>
          <p:cNvPr id="6" name="Rounded Rectangle 5"/>
          <p:cNvSpPr/>
          <p:nvPr/>
        </p:nvSpPr>
        <p:spPr>
          <a:xfrm>
            <a:off x="731520" y="1737360"/>
            <a:ext cx="2542032" cy="3657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2084832" cy="731520"/>
          </a:xfrm>
          <a:prstGeom prst="rect">
            <a:avLst/>
          </a:prstGeom>
          <a:noFill/>
        </p:spPr>
        <p:txBody>
          <a:bodyPr wrap="none" lIns="0" rIns="0" tIns="0" bIns="0">
            <a:spAutoFit/>
          </a:bodyPr>
          <a:lstStyle/>
          <a:p>
            <a:pPr>
              <a:defRPr sz="2200" b="1">
                <a:solidFill>
                  <a:srgbClr val="F59E0B"/>
                </a:solidFill>
                <a:latin typeface="Times New Roman"/>
              </a:defRPr>
            </a:pPr>
            <a:r>
              <a:t>1999</a:t>
            </a:r>
          </a:p>
          <a:p>
            <a:pPr>
              <a:defRPr sz="1300" b="1">
                <a:solidFill>
                  <a:srgbClr val="F8FAFC"/>
                </a:solidFill>
                <a:latin typeface="Times New Roman"/>
              </a:defRPr>
            </a:pPr>
            <a:r>
              <a:t>Awal di Taman Aries</a:t>
            </a:r>
          </a:p>
        </p:txBody>
      </p:sp>
      <p:sp>
        <p:nvSpPr>
          <p:cNvPr id="8" name="TextBox 7"/>
          <p:cNvSpPr txBox="1"/>
          <p:nvPr/>
        </p:nvSpPr>
        <p:spPr>
          <a:xfrm>
            <a:off x="960120" y="2926080"/>
            <a:ext cx="2084832" cy="2286000"/>
          </a:xfrm>
          <a:prstGeom prst="rect">
            <a:avLst/>
          </a:prstGeom>
          <a:noFill/>
        </p:spPr>
        <p:txBody>
          <a:bodyPr wrap="none" lIns="0" rIns="0" tIns="0" bIns="0">
            <a:spAutoFit/>
          </a:bodyPr>
          <a:lstStyle/>
          <a:p>
            <a:pPr>
              <a:defRPr sz="1100">
                <a:solidFill>
                  <a:srgbClr val="94A3B8"/>
                </a:solidFill>
                <a:latin typeface="Times New Roman"/>
              </a:defRPr>
            </a:pPr>
            <a:r>
              <a:t>Usaha kuliner bakmi keluarga pertama kali didirikan pada tahun 1999 di Taman Aries (Meruya) dengan resep autentik turun-temurun.</a:t>
            </a:r>
          </a:p>
        </p:txBody>
      </p:sp>
      <p:sp>
        <p:nvSpPr>
          <p:cNvPr id="9" name="Rounded Rectangle 8"/>
          <p:cNvSpPr/>
          <p:nvPr/>
        </p:nvSpPr>
        <p:spPr>
          <a:xfrm>
            <a:off x="3456432" y="1737360"/>
            <a:ext cx="2542032" cy="3657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85032" y="2011680"/>
            <a:ext cx="2084832" cy="731520"/>
          </a:xfrm>
          <a:prstGeom prst="rect">
            <a:avLst/>
          </a:prstGeom>
          <a:noFill/>
        </p:spPr>
        <p:txBody>
          <a:bodyPr wrap="none" lIns="0" rIns="0" tIns="0" bIns="0">
            <a:spAutoFit/>
          </a:bodyPr>
          <a:lstStyle/>
          <a:p>
            <a:pPr>
              <a:defRPr sz="2200" b="1">
                <a:solidFill>
                  <a:srgbClr val="F59E0B"/>
                </a:solidFill>
                <a:latin typeface="Times New Roman"/>
              </a:defRPr>
            </a:pPr>
            <a:r>
              <a:t>2016</a:t>
            </a:r>
          </a:p>
          <a:p>
            <a:pPr>
              <a:defRPr sz="1300" b="1">
                <a:solidFill>
                  <a:srgbClr val="F8FAFC"/>
                </a:solidFill>
                <a:latin typeface="Times New Roman"/>
              </a:defRPr>
            </a:pPr>
            <a:r>
              <a:t>Relokasi ke Duri Kosambi</a:t>
            </a:r>
          </a:p>
        </p:txBody>
      </p:sp>
      <p:sp>
        <p:nvSpPr>
          <p:cNvPr id="11" name="TextBox 10"/>
          <p:cNvSpPr txBox="1"/>
          <p:nvPr/>
        </p:nvSpPr>
        <p:spPr>
          <a:xfrm>
            <a:off x="3685032" y="2926080"/>
            <a:ext cx="2084832" cy="2286000"/>
          </a:xfrm>
          <a:prstGeom prst="rect">
            <a:avLst/>
          </a:prstGeom>
          <a:noFill/>
        </p:spPr>
        <p:txBody>
          <a:bodyPr wrap="none" lIns="0" rIns="0" tIns="0" bIns="0">
            <a:spAutoFit/>
          </a:bodyPr>
          <a:lstStyle/>
          <a:p>
            <a:pPr>
              <a:defRPr sz="1100">
                <a:solidFill>
                  <a:srgbClr val="94A3B8"/>
                </a:solidFill>
                <a:latin typeface="Times New Roman"/>
              </a:defRPr>
            </a:pPr>
            <a:r>
              <a:t>Tahun 2016 kedai berpindah tempat ke ruko di Jl. Angsoka Hijau IV Duri Kosambi, Cengkareng untuk melayani pemukiman sekitar.</a:t>
            </a:r>
          </a:p>
        </p:txBody>
      </p:sp>
      <p:sp>
        <p:nvSpPr>
          <p:cNvPr id="12" name="Rounded Rectangle 11"/>
          <p:cNvSpPr/>
          <p:nvPr/>
        </p:nvSpPr>
        <p:spPr>
          <a:xfrm>
            <a:off x="6181344" y="1737360"/>
            <a:ext cx="2542032" cy="3657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011680"/>
            <a:ext cx="2084832" cy="731520"/>
          </a:xfrm>
          <a:prstGeom prst="rect">
            <a:avLst/>
          </a:prstGeom>
          <a:noFill/>
        </p:spPr>
        <p:txBody>
          <a:bodyPr wrap="none" lIns="0" rIns="0" tIns="0" bIns="0">
            <a:spAutoFit/>
          </a:bodyPr>
          <a:lstStyle/>
          <a:p>
            <a:pPr>
              <a:defRPr sz="2200" b="1">
                <a:solidFill>
                  <a:srgbClr val="F59E0B"/>
                </a:solidFill>
                <a:latin typeface="Times New Roman"/>
              </a:defRPr>
            </a:pPr>
            <a:r>
              <a:t>2019</a:t>
            </a:r>
          </a:p>
          <a:p>
            <a:pPr>
              <a:defRPr sz="1300" b="1">
                <a:solidFill>
                  <a:srgbClr val="F8FAFC"/>
                </a:solidFill>
                <a:latin typeface="Times New Roman"/>
              </a:defRPr>
            </a:pPr>
            <a:r>
              <a:t>Basis Pelanggan Solid</a:t>
            </a:r>
          </a:p>
        </p:txBody>
      </p:sp>
      <p:sp>
        <p:nvSpPr>
          <p:cNvPr id="14" name="TextBox 13"/>
          <p:cNvSpPr txBox="1"/>
          <p:nvPr/>
        </p:nvSpPr>
        <p:spPr>
          <a:xfrm>
            <a:off x="6409944" y="2926080"/>
            <a:ext cx="2084832" cy="2286000"/>
          </a:xfrm>
          <a:prstGeom prst="rect">
            <a:avLst/>
          </a:prstGeom>
          <a:noFill/>
        </p:spPr>
        <p:txBody>
          <a:bodyPr wrap="none" lIns="0" rIns="0" tIns="0" bIns="0">
            <a:spAutoFit/>
          </a:bodyPr>
          <a:lstStyle/>
          <a:p>
            <a:pPr>
              <a:defRPr sz="1100">
                <a:solidFill>
                  <a:srgbClr val="94A3B8"/>
                </a:solidFill>
                <a:latin typeface="Times New Roman"/>
              </a:defRPr>
            </a:pPr>
            <a:r>
              <a:t>Sekitar tahun 2019 basis pelanggan setia terbentuk mantap, menjadi destinasi sarapan &amp; makan siang favorit keluarga dan civitas Kalam Kudus.</a:t>
            </a:r>
          </a:p>
        </p:txBody>
      </p:sp>
      <p:sp>
        <p:nvSpPr>
          <p:cNvPr id="15" name="Rounded Rectangle 14"/>
          <p:cNvSpPr/>
          <p:nvPr/>
        </p:nvSpPr>
        <p:spPr>
          <a:xfrm>
            <a:off x="8906256" y="1737360"/>
            <a:ext cx="2542032" cy="365760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011680"/>
            <a:ext cx="2084832" cy="731520"/>
          </a:xfrm>
          <a:prstGeom prst="rect">
            <a:avLst/>
          </a:prstGeom>
          <a:noFill/>
        </p:spPr>
        <p:txBody>
          <a:bodyPr wrap="none" lIns="0" rIns="0" tIns="0" bIns="0">
            <a:spAutoFit/>
          </a:bodyPr>
          <a:lstStyle/>
          <a:p>
            <a:pPr>
              <a:defRPr sz="2200" b="1">
                <a:solidFill>
                  <a:srgbClr val="F59E0B"/>
                </a:solidFill>
                <a:latin typeface="Times New Roman"/>
              </a:defRPr>
            </a:pPr>
            <a:r>
              <a:t>2027/28</a:t>
            </a:r>
          </a:p>
          <a:p>
            <a:pPr>
              <a:defRPr sz="1300" b="1">
                <a:solidFill>
                  <a:srgbClr val="F8FAFC"/>
                </a:solidFill>
                <a:latin typeface="Times New Roman"/>
              </a:defRPr>
            </a:pPr>
            <a:r>
              <a:t>Peluang Ekspansi Cabang</a:t>
            </a:r>
          </a:p>
        </p:txBody>
      </p:sp>
      <p:sp>
        <p:nvSpPr>
          <p:cNvPr id="17" name="TextBox 16"/>
          <p:cNvSpPr txBox="1"/>
          <p:nvPr/>
        </p:nvSpPr>
        <p:spPr>
          <a:xfrm>
            <a:off x="9134856" y="2926080"/>
            <a:ext cx="2084832" cy="2286000"/>
          </a:xfrm>
          <a:prstGeom prst="rect">
            <a:avLst/>
          </a:prstGeom>
          <a:noFill/>
        </p:spPr>
        <p:txBody>
          <a:bodyPr wrap="none" lIns="0" rIns="0" tIns="0" bIns="0">
            <a:spAutoFit/>
          </a:bodyPr>
          <a:lstStyle/>
          <a:p>
            <a:pPr>
              <a:defRPr sz="1100">
                <a:solidFill>
                  <a:srgbClr val="94A3B8"/>
                </a:solidFill>
                <a:latin typeface="Times New Roman"/>
              </a:defRPr>
            </a:pPr>
            <a:r>
              <a:t>Tingginya permintaan membuka peluang ekspansi sekitar tahun 2027/2028 untuk mencari tempat baru yang lebih luas atau membuka cabang baru.</a:t>
            </a:r>
          </a:p>
        </p:txBody>
      </p:sp>
      <p:sp>
        <p:nvSpPr>
          <p:cNvPr id="18" name="Rounded Rectangle 17"/>
          <p:cNvSpPr/>
          <p:nvPr/>
        </p:nvSpPr>
        <p:spPr>
          <a:xfrm>
            <a:off x="731520" y="5532120"/>
            <a:ext cx="10698480" cy="82296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623560"/>
            <a:ext cx="10149840" cy="640080"/>
          </a:xfrm>
          <a:prstGeom prst="rect">
            <a:avLst/>
          </a:prstGeom>
          <a:noFill/>
        </p:spPr>
        <p:txBody>
          <a:bodyPr wrap="none" lIns="0" rIns="0" tIns="0" bIns="0">
            <a:spAutoFit/>
          </a:bodyPr>
          <a:lstStyle/>
          <a:p>
            <a:pPr>
              <a:defRPr sz="1150" b="1">
                <a:solidFill>
                  <a:srgbClr val="F59E0B"/>
                </a:solidFill>
                <a:latin typeface="Times New Roman"/>
              </a:defRPr>
            </a:pPr>
            <a:r>
              <a:t>FILOSOFI MUTU PRODUK: ADONAN MIE FRESH SETIAP MINGGU (BATCH MINGGUAN TANPA PENGAWET)</a:t>
            </a:r>
          </a:p>
          <a:p>
            <a:pPr>
              <a:defRPr sz="1050">
                <a:solidFill>
                  <a:srgbClr val="F8FAFC"/>
                </a:solidFill>
                <a:latin typeface="Times New Roman"/>
              </a:defRPr>
            </a:pPr>
            <a:r>
              <a:t>Adonan mie selalu dibuat mandiri setiap minggu menghasilkan tekstur kenyal alami berkilau (shining), bebas dari pengawet kimia berbahaya demi menjaga kesehatan dan keaslian cita rasa.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I: PENDAHULUAN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04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5 Pilar Keunggulan Kompetitif</a:t>
            </a:r>
          </a:p>
          <a:p>
            <a:pPr>
              <a:defRPr sz="1200">
                <a:solidFill>
                  <a:srgbClr val="94A3B8"/>
                </a:solidFill>
                <a:latin typeface="Times New Roman"/>
              </a:defRPr>
            </a:pPr>
            <a:r>
              <a:t>Faktor diferensiasi penentu daya saing Bakmi Mimu Carina Sayang</a:t>
            </a:r>
          </a:p>
        </p:txBody>
      </p:sp>
      <p:sp>
        <p:nvSpPr>
          <p:cNvPr id="6" name="Rounded Rectangle 5"/>
          <p:cNvSpPr/>
          <p:nvPr/>
        </p:nvSpPr>
        <p:spPr>
          <a:xfrm>
            <a:off x="731520" y="1737360"/>
            <a:ext cx="20116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65960"/>
            <a:ext cx="548640" cy="32004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548640" cy="320040"/>
          </a:xfrm>
          <a:prstGeom prst="rect">
            <a:avLst/>
          </a:prstGeom>
          <a:noFill/>
        </p:spPr>
        <p:txBody>
          <a:bodyPr wrap="none" lIns="0" rIns="0" tIns="0" bIns="0">
            <a:spAutoFit/>
          </a:bodyPr>
          <a:lstStyle/>
          <a:p>
            <a:pPr algn="ctr">
              <a:defRPr sz="1300" b="1">
                <a:solidFill>
                  <a:srgbClr val="F59E0B"/>
                </a:solidFill>
                <a:latin typeface="Times New Roman"/>
              </a:defRPr>
            </a:pPr>
            <a:r>
              <a:t>01</a:t>
            </a:r>
          </a:p>
        </p:txBody>
      </p:sp>
      <p:sp>
        <p:nvSpPr>
          <p:cNvPr id="9" name="TextBox 8"/>
          <p:cNvSpPr txBox="1"/>
          <p:nvPr/>
        </p:nvSpPr>
        <p:spPr>
          <a:xfrm>
            <a:off x="914400" y="2423160"/>
            <a:ext cx="1645920" cy="3657600"/>
          </a:xfrm>
          <a:prstGeom prst="rect">
            <a:avLst/>
          </a:prstGeom>
          <a:noFill/>
        </p:spPr>
        <p:txBody>
          <a:bodyPr wrap="none" lIns="0" rIns="0" tIns="0" bIns="0">
            <a:spAutoFit/>
          </a:bodyPr>
          <a:lstStyle/>
          <a:p>
            <a:pPr>
              <a:defRPr sz="1300" b="1">
                <a:solidFill>
                  <a:srgbClr val="F8FAFC"/>
                </a:solidFill>
                <a:latin typeface="Times New Roman"/>
              </a:defRPr>
            </a:pPr>
            <a:r>
              <a:t>Taste (Cita Rasa)</a:t>
            </a:r>
          </a:p>
          <a:p>
            <a:br/>
            <a:pPr>
              <a:defRPr sz="1050">
                <a:solidFill>
                  <a:srgbClr val="94A3B8"/>
                </a:solidFill>
                <a:latin typeface="Times New Roman"/>
              </a:defRPr>
            </a:pPr>
            <a:r>
              <a:t>Mie kenyal buatan sendiri dipadu 3 pilihan minyak mie (babi, ayam, sayur+wijen), kaldu asli, &amp; 3 topping murni: ayam putih, babi kecap, dan casiu madu (tanpa bebek/jamur).</a:t>
            </a:r>
          </a:p>
        </p:txBody>
      </p:sp>
      <p:sp>
        <p:nvSpPr>
          <p:cNvPr id="10" name="Rounded Rectangle 9"/>
          <p:cNvSpPr/>
          <p:nvPr/>
        </p:nvSpPr>
        <p:spPr>
          <a:xfrm>
            <a:off x="2907791" y="1737360"/>
            <a:ext cx="20116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90671" y="1965960"/>
            <a:ext cx="548640" cy="32004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90671" y="1965960"/>
            <a:ext cx="548640" cy="320040"/>
          </a:xfrm>
          <a:prstGeom prst="rect">
            <a:avLst/>
          </a:prstGeom>
          <a:noFill/>
        </p:spPr>
        <p:txBody>
          <a:bodyPr wrap="none" lIns="0" rIns="0" tIns="0" bIns="0">
            <a:spAutoFit/>
          </a:bodyPr>
          <a:lstStyle/>
          <a:p>
            <a:pPr algn="ctr">
              <a:defRPr sz="1300" b="1">
                <a:solidFill>
                  <a:srgbClr val="F59E0B"/>
                </a:solidFill>
                <a:latin typeface="Times New Roman"/>
              </a:defRPr>
            </a:pPr>
            <a:r>
              <a:t>02</a:t>
            </a:r>
          </a:p>
        </p:txBody>
      </p:sp>
      <p:sp>
        <p:nvSpPr>
          <p:cNvPr id="13" name="TextBox 12"/>
          <p:cNvSpPr txBox="1"/>
          <p:nvPr/>
        </p:nvSpPr>
        <p:spPr>
          <a:xfrm>
            <a:off x="3090671" y="2423160"/>
            <a:ext cx="1645920" cy="3657600"/>
          </a:xfrm>
          <a:prstGeom prst="rect">
            <a:avLst/>
          </a:prstGeom>
          <a:noFill/>
        </p:spPr>
        <p:txBody>
          <a:bodyPr wrap="none" lIns="0" rIns="0" tIns="0" bIns="0">
            <a:spAutoFit/>
          </a:bodyPr>
          <a:lstStyle/>
          <a:p>
            <a:pPr>
              <a:defRPr sz="1300" b="1">
                <a:solidFill>
                  <a:srgbClr val="F8FAFC"/>
                </a:solidFill>
                <a:latin typeface="Times New Roman"/>
              </a:defRPr>
            </a:pPr>
            <a:r>
              <a:t>Location (Lokasi)</a:t>
            </a:r>
          </a:p>
          <a:p>
            <a:br/>
            <a:pPr>
              <a:defRPr sz="1050">
                <a:solidFill>
                  <a:srgbClr val="94A3B8"/>
                </a:solidFill>
                <a:latin typeface="Times New Roman"/>
              </a:defRPr>
            </a:pPr>
            <a:r>
              <a:t>Jl. Angsoka Hijau IV Blok E6 No. 17 Duri Kosambi, Cengkareng (persis di depan Taman TK, SD, SMP Kalam Kudus), akses sangat strategis &amp; parkir motor aman.</a:t>
            </a:r>
          </a:p>
        </p:txBody>
      </p:sp>
      <p:sp>
        <p:nvSpPr>
          <p:cNvPr id="14" name="Rounded Rectangle 13"/>
          <p:cNvSpPr/>
          <p:nvPr/>
        </p:nvSpPr>
        <p:spPr>
          <a:xfrm>
            <a:off x="5084064" y="1737360"/>
            <a:ext cx="20116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66944" y="1965960"/>
            <a:ext cx="548640" cy="32004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66944" y="1965960"/>
            <a:ext cx="548640" cy="320040"/>
          </a:xfrm>
          <a:prstGeom prst="rect">
            <a:avLst/>
          </a:prstGeom>
          <a:noFill/>
        </p:spPr>
        <p:txBody>
          <a:bodyPr wrap="none" lIns="0" rIns="0" tIns="0" bIns="0">
            <a:spAutoFit/>
          </a:bodyPr>
          <a:lstStyle/>
          <a:p>
            <a:pPr algn="ctr">
              <a:defRPr sz="1300" b="1">
                <a:solidFill>
                  <a:srgbClr val="F59E0B"/>
                </a:solidFill>
                <a:latin typeface="Times New Roman"/>
              </a:defRPr>
            </a:pPr>
            <a:r>
              <a:t>03</a:t>
            </a:r>
          </a:p>
        </p:txBody>
      </p:sp>
      <p:sp>
        <p:nvSpPr>
          <p:cNvPr id="17" name="TextBox 16"/>
          <p:cNvSpPr txBox="1"/>
          <p:nvPr/>
        </p:nvSpPr>
        <p:spPr>
          <a:xfrm>
            <a:off x="5266944" y="2423160"/>
            <a:ext cx="1645920" cy="3657600"/>
          </a:xfrm>
          <a:prstGeom prst="rect">
            <a:avLst/>
          </a:prstGeom>
          <a:noFill/>
        </p:spPr>
        <p:txBody>
          <a:bodyPr wrap="none" lIns="0" rIns="0" tIns="0" bIns="0">
            <a:spAutoFit/>
          </a:bodyPr>
          <a:lstStyle/>
          <a:p>
            <a:pPr>
              <a:defRPr sz="1300" b="1">
                <a:solidFill>
                  <a:srgbClr val="F8FAFC"/>
                </a:solidFill>
                <a:latin typeface="Times New Roman"/>
              </a:defRPr>
            </a:pPr>
            <a:r>
              <a:t>Service (Open Kitchen)</a:t>
            </a:r>
          </a:p>
          <a:p>
            <a:br/>
            <a:pPr>
              <a:defRPr sz="1050">
                <a:solidFill>
                  <a:srgbClr val="94A3B8"/>
                </a:solidFill>
                <a:latin typeface="Times New Roman"/>
              </a:defRPr>
            </a:pPr>
            <a:r>
              <a:t>Dapur terbuka (open kitchen) gerobak di teras depan ruko, perebusan &amp; peracikan higienis terlihat jelas, serta dilengkapi saus botolan terpercaya (Cap Belibis &amp; Mangga Besar).</a:t>
            </a:r>
          </a:p>
        </p:txBody>
      </p:sp>
      <p:sp>
        <p:nvSpPr>
          <p:cNvPr id="18" name="Rounded Rectangle 17"/>
          <p:cNvSpPr/>
          <p:nvPr/>
        </p:nvSpPr>
        <p:spPr>
          <a:xfrm>
            <a:off x="7260336" y="1737360"/>
            <a:ext cx="20116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43216" y="1965960"/>
            <a:ext cx="548640" cy="32004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43216" y="1965960"/>
            <a:ext cx="548640" cy="320040"/>
          </a:xfrm>
          <a:prstGeom prst="rect">
            <a:avLst/>
          </a:prstGeom>
          <a:noFill/>
        </p:spPr>
        <p:txBody>
          <a:bodyPr wrap="none" lIns="0" rIns="0" tIns="0" bIns="0">
            <a:spAutoFit/>
          </a:bodyPr>
          <a:lstStyle/>
          <a:p>
            <a:pPr algn="ctr">
              <a:defRPr sz="1300" b="1">
                <a:solidFill>
                  <a:srgbClr val="F59E0B"/>
                </a:solidFill>
                <a:latin typeface="Times New Roman"/>
              </a:defRPr>
            </a:pPr>
            <a:r>
              <a:t>04</a:t>
            </a:r>
          </a:p>
        </p:txBody>
      </p:sp>
      <p:sp>
        <p:nvSpPr>
          <p:cNvPr id="21" name="TextBox 20"/>
          <p:cNvSpPr txBox="1"/>
          <p:nvPr/>
        </p:nvSpPr>
        <p:spPr>
          <a:xfrm>
            <a:off x="7443216" y="2423160"/>
            <a:ext cx="1645920" cy="3657600"/>
          </a:xfrm>
          <a:prstGeom prst="rect">
            <a:avLst/>
          </a:prstGeom>
          <a:noFill/>
        </p:spPr>
        <p:txBody>
          <a:bodyPr wrap="none" lIns="0" rIns="0" tIns="0" bIns="0">
            <a:spAutoFit/>
          </a:bodyPr>
          <a:lstStyle/>
          <a:p>
            <a:pPr>
              <a:defRPr sz="1300" b="1">
                <a:solidFill>
                  <a:srgbClr val="F8FAFC"/>
                </a:solidFill>
                <a:latin typeface="Times New Roman"/>
              </a:defRPr>
            </a:pPr>
            <a:r>
              <a:t>Size (Variasi Porsi)</a:t>
            </a:r>
          </a:p>
          <a:p>
            <a:br/>
            <a:pPr>
              <a:defRPr sz="1050">
                <a:solidFill>
                  <a:srgbClr val="94A3B8"/>
                </a:solidFill>
                <a:latin typeface="Times New Roman"/>
              </a:defRPr>
            </a:pPr>
            <a:r>
              <a:t>Pilihan fleksibel: Porsi Kecil (27k), Reguler (29k-39k), hingga Porsi Jumbo (+100% mie dari porsi standar / 2x lipat porsi biasa 49k-59k) untuk segala tingkatan selera.</a:t>
            </a:r>
          </a:p>
        </p:txBody>
      </p:sp>
      <p:sp>
        <p:nvSpPr>
          <p:cNvPr id="22" name="Rounded Rectangle 21"/>
          <p:cNvSpPr/>
          <p:nvPr/>
        </p:nvSpPr>
        <p:spPr>
          <a:xfrm>
            <a:off x="9436608" y="1737360"/>
            <a:ext cx="20116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19488" y="1965960"/>
            <a:ext cx="548640" cy="32004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9488" y="1965960"/>
            <a:ext cx="548640" cy="320040"/>
          </a:xfrm>
          <a:prstGeom prst="rect">
            <a:avLst/>
          </a:prstGeom>
          <a:noFill/>
        </p:spPr>
        <p:txBody>
          <a:bodyPr wrap="none" lIns="0" rIns="0" tIns="0" bIns="0">
            <a:spAutoFit/>
          </a:bodyPr>
          <a:lstStyle/>
          <a:p>
            <a:pPr algn="ctr">
              <a:defRPr sz="1300" b="1">
                <a:solidFill>
                  <a:srgbClr val="F59E0B"/>
                </a:solidFill>
                <a:latin typeface="Times New Roman"/>
              </a:defRPr>
            </a:pPr>
            <a:r>
              <a:t>05</a:t>
            </a:r>
          </a:p>
        </p:txBody>
      </p:sp>
      <p:sp>
        <p:nvSpPr>
          <p:cNvPr id="25" name="TextBox 24"/>
          <p:cNvSpPr txBox="1"/>
          <p:nvPr/>
        </p:nvSpPr>
        <p:spPr>
          <a:xfrm>
            <a:off x="9619488" y="2423160"/>
            <a:ext cx="1645920" cy="3657600"/>
          </a:xfrm>
          <a:prstGeom prst="rect">
            <a:avLst/>
          </a:prstGeom>
          <a:noFill/>
        </p:spPr>
        <p:txBody>
          <a:bodyPr wrap="none" lIns="0" rIns="0" tIns="0" bIns="0">
            <a:spAutoFit/>
          </a:bodyPr>
          <a:lstStyle/>
          <a:p>
            <a:pPr>
              <a:defRPr sz="1300" b="1">
                <a:solidFill>
                  <a:srgbClr val="F8FAFC"/>
                </a:solidFill>
                <a:latin typeface="Times New Roman"/>
              </a:defRPr>
            </a:pPr>
            <a:r>
              <a:t>Pelengkap &amp; Minuman</a:t>
            </a:r>
          </a:p>
          <a:p>
            <a:br/>
            <a:pPr>
              <a:defRPr sz="1050">
                <a:solidFill>
                  <a:srgbClr val="94A3B8"/>
                </a:solidFill>
                <a:latin typeface="Times New Roman"/>
              </a:defRPr>
            </a:pPr>
            <a:r>
              <a:t>Pilihan pelengkap swikiaw rebus, pangsit rebus, baso sapi &amp; ikan kuah (@4.5k-5.5k/pcs), baso goreng babi-udang 8k, badak sarsaparilla, susu kacang &amp; liang teh 12k.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I: PENDAHULUAN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05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Daftar Menu &amp; Struktur Harga Jual Resmi</a:t>
            </a:r>
          </a:p>
          <a:p>
            <a:pPr>
              <a:defRPr sz="1200">
                <a:solidFill>
                  <a:srgbClr val="94A3B8"/>
                </a:solidFill>
                <a:latin typeface="Times New Roman"/>
              </a:defRPr>
            </a:pPr>
            <a:r>
              <a:t>Struktur harga bersaing (Value-Based Pricing) sesuai daftar menu riil kedai</a:t>
            </a:r>
          </a:p>
        </p:txBody>
      </p:sp>
      <p:sp>
        <p:nvSpPr>
          <p:cNvPr id="6" name="Rounded Rectangle 5"/>
          <p:cNvSpPr/>
          <p:nvPr/>
        </p:nvSpPr>
        <p:spPr>
          <a:xfrm>
            <a:off x="731520" y="1737360"/>
            <a:ext cx="5212080" cy="44805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663440" cy="4114800"/>
          </a:xfrm>
          <a:prstGeom prst="rect">
            <a:avLst/>
          </a:prstGeom>
          <a:noFill/>
        </p:spPr>
        <p:txBody>
          <a:bodyPr wrap="none" lIns="0" rIns="0" tIns="0" bIns="0">
            <a:spAutoFit/>
          </a:bodyPr>
          <a:lstStyle/>
          <a:p>
            <a:pPr>
              <a:defRPr sz="1300" b="1">
                <a:solidFill>
                  <a:srgbClr val="F59E0B"/>
                </a:solidFill>
                <a:latin typeface="Times New Roman"/>
              </a:defRPr>
            </a:pPr>
            <a:r>
              <a:t>HIDANGAN BAKMI &amp; NASI TIM (TOPPING MURNI)</a:t>
            </a:r>
          </a:p>
          <a:p>
            <a:pPr>
              <a:defRPr sz="950" i="1">
                <a:solidFill>
                  <a:srgbClr val="FBBF24"/>
                </a:solidFill>
                <a:latin typeface="Times New Roman"/>
              </a:defRPr>
            </a:pPr>
            <a:r>
              <a:t>*Topping: Ayam Putih, Babi Kecap, Casiu (Gak Ada Bebek &amp; Jamur)</a:t>
            </a:r>
          </a:p>
          <a:p>
            <a:pPr>
              <a:defRPr sz="1000">
                <a:solidFill>
                  <a:srgbClr val="F8FAFC"/>
                </a:solidFill>
                <a:latin typeface="Times New Roman"/>
              </a:defRPr>
            </a:pPr>
            <a:r>
              <a:t>• Mie Spesial 3 Isi (Ayam Putih, Babi Kecap, Casiu)  ➔  Rp 39.000</a:t>
            </a:r>
            <a:br/>
            <a:r>
              <a:t>  Porsi reguler dengan 3 topping lengkap</a:t>
            </a:r>
          </a:p>
          <a:p>
            <a:pPr>
              <a:defRPr sz="1000">
                <a:solidFill>
                  <a:srgbClr val="F8FAFC"/>
                </a:solidFill>
                <a:latin typeface="Times New Roman"/>
              </a:defRPr>
            </a:pPr>
            <a:r>
              <a:t>• Mie Daging Casiu (Spesial Chasiu Madu)  ➔  Rp 31.000</a:t>
            </a:r>
            <a:br/>
            <a:r>
              <a:t>  Topping irisan babi casiu madu panggang gurih</a:t>
            </a:r>
          </a:p>
          <a:p>
            <a:pPr>
              <a:defRPr sz="1000">
                <a:solidFill>
                  <a:srgbClr val="F8FAFC"/>
                </a:solidFill>
                <a:latin typeface="Times New Roman"/>
              </a:defRPr>
            </a:pPr>
            <a:r>
              <a:t>• Mie Campur (Ayam Putih + Babi Kecap)  ➔  Rp 29.000</a:t>
            </a:r>
            <a:br/>
            <a:r>
              <a:t>  Kombinasi gurih ayam putih &amp; babi kecap</a:t>
            </a:r>
          </a:p>
          <a:p>
            <a:pPr>
              <a:defRPr sz="1000">
                <a:solidFill>
                  <a:srgbClr val="F8FAFC"/>
                </a:solidFill>
                <a:latin typeface="Times New Roman"/>
              </a:defRPr>
            </a:pPr>
            <a:r>
              <a:t>• Mie Ayam Putih saja / Babi Kecap saja  ➔  Rp 29.000</a:t>
            </a:r>
            <a:br/>
            <a:r>
              <a:t>  Pilihan topping tunggal gurih autentik</a:t>
            </a:r>
          </a:p>
          <a:p>
            <a:pPr>
              <a:defRPr sz="1000">
                <a:solidFill>
                  <a:srgbClr val="F8FAFC"/>
                </a:solidFill>
                <a:latin typeface="Times New Roman"/>
              </a:defRPr>
            </a:pPr>
            <a:r>
              <a:t>• Porsi Jumbo (+100% Mie dari Standar)  ➔  Rp 49.000 - 59.000</a:t>
            </a:r>
            <a:br/>
            <a:r>
              <a:t>  Campur 49K | Casiu 54K | Spesial 3 Isi 59K</a:t>
            </a:r>
          </a:p>
          <a:p>
            <a:pPr>
              <a:defRPr sz="1000">
                <a:solidFill>
                  <a:srgbClr val="F8FAFC"/>
                </a:solidFill>
                <a:latin typeface="Times New Roman"/>
              </a:defRPr>
            </a:pPr>
            <a:r>
              <a:t>• Porsi Kecil (Sarapan Hemat / Anak-anak)  ➔  Rp 27.000 - 29.000</a:t>
            </a:r>
            <a:br/>
            <a:r>
              <a:t>  Campur/Ayam/Babi 27K | Casiu 29K</a:t>
            </a:r>
          </a:p>
        </p:txBody>
      </p:sp>
      <p:sp>
        <p:nvSpPr>
          <p:cNvPr id="8" name="Rounded Rectangle 7"/>
          <p:cNvSpPr/>
          <p:nvPr/>
        </p:nvSpPr>
        <p:spPr>
          <a:xfrm>
            <a:off x="6217920" y="1737360"/>
            <a:ext cx="5212080" cy="44805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20240"/>
            <a:ext cx="4663440" cy="4114800"/>
          </a:xfrm>
          <a:prstGeom prst="rect">
            <a:avLst/>
          </a:prstGeom>
          <a:noFill/>
        </p:spPr>
        <p:txBody>
          <a:bodyPr wrap="none" lIns="0" rIns="0" tIns="0" bIns="0">
            <a:spAutoFit/>
          </a:bodyPr>
          <a:lstStyle/>
          <a:p>
            <a:pPr>
              <a:defRPr sz="1300" b="1">
                <a:solidFill>
                  <a:srgbClr val="38BDF8"/>
                </a:solidFill>
                <a:latin typeface="Times New Roman"/>
              </a:defRPr>
            </a:pPr>
            <a:r>
              <a:t>MENU PELENGKAP, KUAH &amp; MINUMAN</a:t>
            </a:r>
          </a:p>
          <a:p>
            <a:pPr>
              <a:defRPr sz="950" i="1">
                <a:solidFill>
                  <a:srgbClr val="38BDF8"/>
                </a:solidFill>
                <a:latin typeface="Times New Roman"/>
              </a:defRPr>
            </a:pPr>
            <a:r>
              <a:t>*Saus Meja Standar Botol: Cap Belibis &amp; Mangga Besar (Tanpa Jeruk)</a:t>
            </a:r>
          </a:p>
          <a:p>
            <a:pPr>
              <a:defRPr sz="1000">
                <a:solidFill>
                  <a:srgbClr val="F8FAFC"/>
                </a:solidFill>
                <a:latin typeface="Times New Roman"/>
              </a:defRPr>
            </a:pPr>
            <a:r>
              <a:t>• Pangsit Rebus Kuah (5 pcs)  ➔  Rp 22.500</a:t>
            </a:r>
            <a:br/>
            <a:r>
              <a:t>  @Rp 4.500/pcs semangkuk kuah kaldu gurih</a:t>
            </a:r>
          </a:p>
          <a:p>
            <a:pPr>
              <a:defRPr sz="1000">
                <a:solidFill>
                  <a:srgbClr val="F8FAFC"/>
                </a:solidFill>
                <a:latin typeface="Times New Roman"/>
              </a:defRPr>
            </a:pPr>
            <a:r>
              <a:t>• Swikiaw Rebus Kuah (5 pcs)  ➔  Rp 27.500</a:t>
            </a:r>
            <a:br/>
            <a:r>
              <a:t>  @Rp 5.500/pcs padat isian udang &amp; babi</a:t>
            </a:r>
          </a:p>
          <a:p>
            <a:pPr>
              <a:defRPr sz="1000">
                <a:solidFill>
                  <a:srgbClr val="F8FAFC"/>
                </a:solidFill>
                <a:latin typeface="Times New Roman"/>
              </a:defRPr>
            </a:pPr>
            <a:r>
              <a:t>• Baso Sapi &amp; Baso Ikan Kuah (5 pcs)  ➔  Rp 22.500</a:t>
            </a:r>
            <a:br/>
            <a:r>
              <a:t>  Sama persis harga pangsit rebus (@Rp 4.500/pcs)</a:t>
            </a:r>
          </a:p>
          <a:p>
            <a:pPr>
              <a:defRPr sz="1000">
                <a:solidFill>
                  <a:srgbClr val="F8FAFC"/>
                </a:solidFill>
                <a:latin typeface="Times New Roman"/>
              </a:defRPr>
            </a:pPr>
            <a:r>
              <a:t>• Pangsit Goreng &amp; Baso Goreng  ➔  Rp 5.000 - 8.000</a:t>
            </a:r>
            <a:br/>
            <a:r>
              <a:t>  Pangsit grg 5K/pcs | Baso grg babi-udang 8K/pcs</a:t>
            </a:r>
          </a:p>
          <a:p>
            <a:pPr>
              <a:defRPr sz="1000">
                <a:solidFill>
                  <a:srgbClr val="F8FAFC"/>
                </a:solidFill>
                <a:latin typeface="Times New Roman"/>
              </a:defRPr>
            </a:pPr>
            <a:r>
              <a:t>• Badak Sarsaparilla  ➔  Rp 12.000 - 14.000</a:t>
            </a:r>
            <a:br/>
            <a:r>
              <a:t>  Soda legendaris Siantar (Botol 12K / +Es Batu 14K)</a:t>
            </a:r>
          </a:p>
          <a:p>
            <a:pPr>
              <a:defRPr sz="1000">
                <a:solidFill>
                  <a:srgbClr val="F8FAFC"/>
                </a:solidFill>
                <a:latin typeface="Times New Roman"/>
              </a:defRPr>
            </a:pPr>
            <a:r>
              <a:t>• Aneka Minuman Tradisional (1K - 15K)  ➔  Rp 1.000 - 12.000</a:t>
            </a:r>
            <a:br/>
            <a:r>
              <a:t>  Susu Kacang 12K | Liang Teh 12K | Botol 6K | Teh 1-5K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II: ASPEK PASAR</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06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Analisis Pasar: STP Framework</a:t>
            </a:r>
          </a:p>
          <a:p>
            <a:pPr>
              <a:defRPr sz="1200">
                <a:solidFill>
                  <a:srgbClr val="94A3B8"/>
                </a:solidFill>
                <a:latin typeface="Times New Roman"/>
              </a:defRPr>
            </a:pPr>
            <a:r>
              <a:t>Segmenting, Targeting, dan Positioning pasar sasaran Bakmi Mimu</a:t>
            </a:r>
          </a:p>
        </p:txBody>
      </p:sp>
      <p:sp>
        <p:nvSpPr>
          <p:cNvPr id="6" name="Rounded Rectangle 5"/>
          <p:cNvSpPr/>
          <p:nvPr/>
        </p:nvSpPr>
        <p:spPr>
          <a:xfrm>
            <a:off x="731520" y="1737360"/>
            <a:ext cx="3456432"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65960"/>
            <a:ext cx="2999232" cy="4023360"/>
          </a:xfrm>
          <a:prstGeom prst="rect">
            <a:avLst/>
          </a:prstGeom>
          <a:noFill/>
        </p:spPr>
        <p:txBody>
          <a:bodyPr wrap="none" lIns="0" rIns="0" tIns="0" bIns="0">
            <a:spAutoFit/>
          </a:bodyPr>
          <a:lstStyle/>
          <a:p>
            <a:pPr>
              <a:defRPr sz="1300" b="1">
                <a:solidFill>
                  <a:srgbClr val="F59E0B"/>
                </a:solidFill>
                <a:latin typeface="Times New Roman"/>
              </a:defRPr>
            </a:pPr>
            <a:r>
              <a:t>SEGMENTASI (SEGMENTING)</a:t>
            </a:r>
          </a:p>
          <a:p>
            <a:br/>
            <a:pPr>
              <a:defRPr sz="1100" b="1">
                <a:solidFill>
                  <a:srgbClr val="F8FAFC"/>
                </a:solidFill>
                <a:latin typeface="Times New Roman"/>
              </a:defRPr>
            </a:pPr>
            <a:r>
              <a:t>• Geografis:</a:t>
            </a:r>
          </a:p>
          <a:p>
            <a:pPr>
              <a:defRPr sz="1050">
                <a:solidFill>
                  <a:srgbClr val="94A3B8"/>
                </a:solidFill>
                <a:latin typeface="Times New Roman"/>
              </a:defRPr>
            </a:pPr>
            <a:r>
              <a:t>Radius 0 - 5 km meliputi Perumahan Duri Kosambi, Semanan, Taman Semanan Indah, Cengkareng, dan Puri Kembangan.</a:t>
            </a:r>
          </a:p>
          <a:p>
            <a:br/>
            <a:pPr>
              <a:defRPr sz="1100" b="1">
                <a:solidFill>
                  <a:srgbClr val="F8FAFC"/>
                </a:solidFill>
                <a:latin typeface="Times New Roman"/>
              </a:defRPr>
            </a:pPr>
            <a:r>
              <a:t>• Demografis:</a:t>
            </a:r>
          </a:p>
          <a:p>
            <a:pPr>
              <a:defRPr sz="1050">
                <a:solidFill>
                  <a:srgbClr val="94A3B8"/>
                </a:solidFill>
                <a:latin typeface="Times New Roman"/>
              </a:defRPr>
            </a:pPr>
            <a:r>
              <a:t>Pria &amp; wanita usia 7 - 65 tahun, siswa-siswi, guru, orang tua murid Kalam Kudus, karyawan kantor, SES Menengah &amp; Menengah ke Atas.</a:t>
            </a:r>
          </a:p>
          <a:p>
            <a:br/>
            <a:pPr>
              <a:defRPr sz="1100" b="1">
                <a:solidFill>
                  <a:srgbClr val="F8FAFC"/>
                </a:solidFill>
                <a:latin typeface="Times New Roman"/>
              </a:defRPr>
            </a:pPr>
            <a:r>
              <a:t>• Perilaku (Behavioral):</a:t>
            </a:r>
          </a:p>
          <a:p>
            <a:pPr>
              <a:defRPr sz="1050">
                <a:solidFill>
                  <a:srgbClr val="94A3B8"/>
                </a:solidFill>
                <a:latin typeface="Times New Roman"/>
              </a:defRPr>
            </a:pPr>
            <a:r>
              <a:t>Pencinta kuliner mie oriental yang mengutamakan tekstur kenyal, cita rasa bumbu otentik, serta higienitas ruang makan.</a:t>
            </a:r>
          </a:p>
        </p:txBody>
      </p:sp>
      <p:sp>
        <p:nvSpPr>
          <p:cNvPr id="8" name="Rounded Rectangle 7"/>
          <p:cNvSpPr/>
          <p:nvPr/>
        </p:nvSpPr>
        <p:spPr>
          <a:xfrm>
            <a:off x="4370832" y="1737360"/>
            <a:ext cx="3456432"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9432" y="1965960"/>
            <a:ext cx="2999232" cy="4023360"/>
          </a:xfrm>
          <a:prstGeom prst="rect">
            <a:avLst/>
          </a:prstGeom>
          <a:noFill/>
        </p:spPr>
        <p:txBody>
          <a:bodyPr wrap="none" lIns="0" rIns="0" tIns="0" bIns="0">
            <a:spAutoFit/>
          </a:bodyPr>
          <a:lstStyle/>
          <a:p>
            <a:pPr>
              <a:defRPr sz="1300" b="1">
                <a:solidFill>
                  <a:srgbClr val="F59E0B"/>
                </a:solidFill>
                <a:latin typeface="Times New Roman"/>
              </a:defRPr>
            </a:pPr>
            <a:r>
              <a:t>TARGET PASAR (TARGETING)</a:t>
            </a:r>
          </a:p>
          <a:p>
            <a:br/>
            <a:pPr>
              <a:defRPr sz="1100" b="1">
                <a:solidFill>
                  <a:srgbClr val="F8FAFC"/>
                </a:solidFill>
                <a:latin typeface="Times New Roman"/>
              </a:defRPr>
            </a:pPr>
            <a:r>
              <a:t>• Prioritas Utama:</a:t>
            </a:r>
          </a:p>
          <a:p>
            <a:pPr>
              <a:defRPr sz="1050">
                <a:solidFill>
                  <a:srgbClr val="94A3B8"/>
                </a:solidFill>
                <a:latin typeface="Times New Roman"/>
              </a:defRPr>
            </a:pPr>
            <a:r>
              <a:t>Keluarga residensial perumahan sekitar Duri Kosambi yang mencari santapan pagi dan makan siang lezat.</a:t>
            </a:r>
          </a:p>
          <a:p>
            <a:br/>
            <a:pPr>
              <a:defRPr sz="1100" b="1">
                <a:solidFill>
                  <a:srgbClr val="F8FAFC"/>
                </a:solidFill>
                <a:latin typeface="Times New Roman"/>
              </a:defRPr>
            </a:pPr>
            <a:r>
              <a:t>• Civitas Akademika:</a:t>
            </a:r>
          </a:p>
          <a:p>
            <a:pPr>
              <a:defRPr sz="1050">
                <a:solidFill>
                  <a:srgbClr val="94A3B8"/>
                </a:solidFill>
                <a:latin typeface="Times New Roman"/>
              </a:defRPr>
            </a:pPr>
            <a:r>
              <a:t>Siswa-siswi, guru, staf, dan orang tua murid Sekolah Kristen Kalam Kudus Kosambi tepat di depan gerai.</a:t>
            </a:r>
          </a:p>
          <a:p>
            <a:br/>
            <a:pPr>
              <a:defRPr sz="1100" b="1">
                <a:solidFill>
                  <a:srgbClr val="F8FAFC"/>
                </a:solidFill>
                <a:latin typeface="Times New Roman"/>
              </a:defRPr>
            </a:pPr>
            <a:r>
              <a:t>• Komunitas &amp; Online:</a:t>
            </a:r>
          </a:p>
          <a:p>
            <a:pPr>
              <a:defRPr sz="1050">
                <a:solidFill>
                  <a:srgbClr val="94A3B8"/>
                </a:solidFill>
                <a:latin typeface="Times New Roman"/>
              </a:defRPr>
            </a:pPr>
            <a:r>
              <a:t>Jemaat gereja hari Sabtu-Minggu serta pelanggan pesan antar digital (GoFood/GrabFood/ShopeeFood).</a:t>
            </a:r>
          </a:p>
        </p:txBody>
      </p:sp>
      <p:sp>
        <p:nvSpPr>
          <p:cNvPr id="10" name="Rounded Rectangle 9"/>
          <p:cNvSpPr/>
          <p:nvPr/>
        </p:nvSpPr>
        <p:spPr>
          <a:xfrm>
            <a:off x="8010144" y="1737360"/>
            <a:ext cx="3456432" cy="44805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38744" y="1965960"/>
            <a:ext cx="2999232" cy="4023360"/>
          </a:xfrm>
          <a:prstGeom prst="rect">
            <a:avLst/>
          </a:prstGeom>
          <a:noFill/>
        </p:spPr>
        <p:txBody>
          <a:bodyPr wrap="none" lIns="0" rIns="0" tIns="0" bIns="0">
            <a:spAutoFit/>
          </a:bodyPr>
          <a:lstStyle/>
          <a:p>
            <a:pPr>
              <a:defRPr sz="1300" b="1">
                <a:solidFill>
                  <a:srgbClr val="F59E0B"/>
                </a:solidFill>
                <a:latin typeface="Times New Roman"/>
              </a:defRPr>
            </a:pPr>
            <a:r>
              <a:t>POSISI PASAR (POSITIONING)</a:t>
            </a:r>
          </a:p>
          <a:p>
            <a:br/>
            <a:pPr>
              <a:defRPr sz="1100" b="1">
                <a:solidFill>
                  <a:srgbClr val="F8FAFC"/>
                </a:solidFill>
                <a:latin typeface="Times New Roman"/>
              </a:defRPr>
            </a:pPr>
            <a:r>
              <a:t>• Core Identity:</a:t>
            </a:r>
          </a:p>
          <a:p>
            <a:pPr>
              <a:defRPr sz="1050">
                <a:solidFill>
                  <a:srgbClr val="94A3B8"/>
                </a:solidFill>
                <a:latin typeface="Times New Roman"/>
              </a:defRPr>
            </a:pPr>
            <a:r>
              <a:t>“Kedai Bakmi Otentik Legendaris dengan Kenyamanan Ruko Modern &amp; Standar Kebersihan Tinggi.”</a:t>
            </a:r>
          </a:p>
          <a:p>
            <a:br/>
            <a:pPr>
              <a:defRPr sz="1100" b="1">
                <a:solidFill>
                  <a:srgbClr val="F8FAFC"/>
                </a:solidFill>
                <a:latin typeface="Times New Roman"/>
              </a:defRPr>
            </a:pPr>
            <a:r>
              <a:t>• Value Proposition:</a:t>
            </a:r>
          </a:p>
          <a:p>
            <a:pPr>
              <a:defRPr sz="1050">
                <a:solidFill>
                  <a:srgbClr val="94A3B8"/>
                </a:solidFill>
                <a:latin typeface="Times New Roman"/>
              </a:defRPr>
            </a:pPr>
            <a:r>
              <a:t>Memberikan kepuasan cita rasa resep 1999 dengan porsi mengenyangkan dan harga sangat sebanding (value-for-money).</a:t>
            </a:r>
          </a:p>
          <a:p>
            <a:br/>
            <a:pPr>
              <a:defRPr sz="1100" b="1">
                <a:solidFill>
                  <a:srgbClr val="F8FAFC"/>
                </a:solidFill>
                <a:latin typeface="Times New Roman"/>
              </a:defRPr>
            </a:pPr>
            <a:r>
              <a:t>• Brand Perception:</a:t>
            </a:r>
          </a:p>
          <a:p>
            <a:pPr>
              <a:defRPr sz="1050">
                <a:solidFill>
                  <a:srgbClr val="94A3B8"/>
                </a:solidFill>
                <a:latin typeface="Times New Roman"/>
              </a:defRPr>
            </a:pPr>
            <a:r>
              <a:t>Bukan sekadar warung kaki lima, melainkan restoran bakmi keluarga yang bersih, ramah, dan terpercaya.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II: ASPEK PASAR</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07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Analisis Persaingan &amp; Peta Kompetitor</a:t>
            </a:r>
          </a:p>
          <a:p>
            <a:pPr>
              <a:defRPr sz="1200">
                <a:solidFill>
                  <a:srgbClr val="94A3B8"/>
                </a:solidFill>
                <a:latin typeface="Times New Roman"/>
              </a:defRPr>
            </a:pPr>
            <a:r>
              <a:t>Matriks perbandingan daya saing Bakmi Mimu terhadap pelaku usaha sejenis</a:t>
            </a:r>
          </a:p>
        </p:txBody>
      </p:sp>
      <p:sp>
        <p:nvSpPr>
          <p:cNvPr id="6" name="Rounded Rectangle 5"/>
          <p:cNvSpPr/>
          <p:nvPr/>
        </p:nvSpPr>
        <p:spPr>
          <a:xfrm>
            <a:off x="731520" y="1737360"/>
            <a:ext cx="3456432" cy="4480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2999232" cy="4114800"/>
          </a:xfrm>
          <a:prstGeom prst="rect">
            <a:avLst/>
          </a:prstGeom>
          <a:noFill/>
        </p:spPr>
        <p:txBody>
          <a:bodyPr wrap="none" lIns="0" rIns="0" tIns="0" bIns="0">
            <a:spAutoFit/>
          </a:bodyPr>
          <a:lstStyle/>
          <a:p>
            <a:pPr>
              <a:defRPr sz="1300" b="1">
                <a:solidFill>
                  <a:srgbClr val="F59E0B"/>
                </a:solidFill>
                <a:latin typeface="Times New Roman"/>
              </a:defRPr>
            </a:pPr>
            <a:r>
              <a:t>BAKMI MIMU CARINA SAYANG</a:t>
            </a:r>
          </a:p>
          <a:p>
            <a:pPr>
              <a:defRPr sz="1050">
                <a:solidFill>
                  <a:srgbClr val="94A3B8"/>
                </a:solidFill>
                <a:latin typeface="Times New Roman"/>
              </a:defRPr>
            </a:pPr>
            <a:r>
              <a:t>Brand Kita (Unggulan)</a:t>
            </a:r>
          </a:p>
          <a:p>
            <a:br/>
            <a:pPr>
              <a:defRPr sz="1050" b="1">
                <a:solidFill>
                  <a:srgbClr val="F8FAFC"/>
                </a:solidFill>
                <a:latin typeface="Times New Roman"/>
              </a:defRPr>
            </a:pPr>
            <a:r>
              <a:t>▸ Rasa &amp; Resep:</a:t>
            </a:r>
          </a:p>
          <a:p>
            <a:pPr>
              <a:defRPr sz="1000">
                <a:solidFill>
                  <a:srgbClr val="94A3B8"/>
                </a:solidFill>
                <a:latin typeface="Times New Roman"/>
              </a:defRPr>
            </a:pPr>
            <a:r>
              <a:t>Resep keluarga sejak 1999 di Taman Aries, 3 racikan minyak khas (babi, ayam, sayur+wijen), adonan fresh mingguan.</a:t>
            </a:r>
          </a:p>
          <a:p>
            <a:br/>
            <a:pPr>
              <a:defRPr sz="1050" b="1">
                <a:solidFill>
                  <a:srgbClr val="F8FAFC"/>
                </a:solidFill>
                <a:latin typeface="Times New Roman"/>
              </a:defRPr>
            </a:pPr>
            <a:r>
              <a:t>▸ Fasilitas Kedai:</a:t>
            </a:r>
          </a:p>
          <a:p>
            <a:pPr>
              <a:defRPr sz="1000">
                <a:solidFill>
                  <a:srgbClr val="94A3B8"/>
                </a:solidFill>
                <a:latin typeface="Times New Roman"/>
              </a:defRPr>
            </a:pPr>
            <a:r>
              <a:t>Ruko 1 lantai, sirkulasi 6 unit kipas angin, suasana hangat padat (maks 22 orang), open kitchen gerobak (tanpa AC/Wi-Fi).</a:t>
            </a:r>
          </a:p>
          <a:p>
            <a:br/>
            <a:pPr>
              <a:defRPr sz="1050" b="1">
                <a:solidFill>
                  <a:srgbClr val="F8FAFC"/>
                </a:solidFill>
                <a:latin typeface="Times New Roman"/>
              </a:defRPr>
            </a:pPr>
            <a:r>
              <a:t>▸ Varian Topping:</a:t>
            </a:r>
          </a:p>
          <a:p>
            <a:pPr>
              <a:defRPr sz="1000">
                <a:solidFill>
                  <a:srgbClr val="94A3B8"/>
                </a:solidFill>
                <a:latin typeface="Times New Roman"/>
              </a:defRPr>
            </a:pPr>
            <a:r>
              <a:t>3 Topping murni: Ayam putih gurih, babi kecap manis-gurih, casiu madu panggang (tanpa bebek/jamur), plus pangsit/swikiaw.</a:t>
            </a:r>
          </a:p>
          <a:p>
            <a:br/>
            <a:pPr>
              <a:defRPr sz="1050" b="1">
                <a:solidFill>
                  <a:srgbClr val="F8FAFC"/>
                </a:solidFill>
                <a:latin typeface="Times New Roman"/>
              </a:defRPr>
            </a:pPr>
            <a:r>
              <a:t>▸ Kemasan &amp; Layanan:</a:t>
            </a:r>
          </a:p>
          <a:p>
            <a:pPr>
              <a:defRPr sz="1000">
                <a:solidFill>
                  <a:srgbClr val="94A3B8"/>
                </a:solidFill>
                <a:latin typeface="Times New Roman"/>
              </a:defRPr>
            </a:pPr>
            <a:r>
              <a:t>Penyajian cepat &lt; 5 menit, pemesanan nota manual, saus botol berkualitas (Cap Belibis &amp; Mangga Besar).</a:t>
            </a:r>
          </a:p>
          <a:p>
            <a:br/>
            <a:pPr>
              <a:defRPr sz="1050" b="1">
                <a:solidFill>
                  <a:srgbClr val="F8FAFC"/>
                </a:solidFill>
                <a:latin typeface="Times New Roman"/>
              </a:defRPr>
            </a:pPr>
            <a:r>
              <a:t>▸ Harga &amp; Value:</a:t>
            </a:r>
          </a:p>
          <a:p>
            <a:pPr>
              <a:defRPr sz="1000">
                <a:solidFill>
                  <a:srgbClr val="94A3B8"/>
                </a:solidFill>
                <a:latin typeface="Times New Roman"/>
              </a:defRPr>
            </a:pPr>
            <a:r>
              <a:t>Rp 24.000 - Rp 59.000 (Sangat terjangkau dengan varian porsi kecil, reguler, hingga jumbo +100% mie).</a:t>
            </a:r>
          </a:p>
        </p:txBody>
      </p:sp>
      <p:sp>
        <p:nvSpPr>
          <p:cNvPr id="8" name="Rounded Rectangle 7"/>
          <p:cNvSpPr/>
          <p:nvPr/>
        </p:nvSpPr>
        <p:spPr>
          <a:xfrm>
            <a:off x="4370832" y="1737360"/>
            <a:ext cx="3456432" cy="4480560"/>
          </a:xfrm>
          <a:prstGeom prst="roundRect">
            <a:avLst/>
          </a:prstGeom>
          <a:solidFill>
            <a:srgbClr val="1E293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9432" y="1920240"/>
            <a:ext cx="2999232" cy="4114800"/>
          </a:xfrm>
          <a:prstGeom prst="rect">
            <a:avLst/>
          </a:prstGeom>
          <a:noFill/>
        </p:spPr>
        <p:txBody>
          <a:bodyPr wrap="none" lIns="0" rIns="0" tIns="0" bIns="0">
            <a:spAutoFit/>
          </a:bodyPr>
          <a:lstStyle/>
          <a:p>
            <a:pPr>
              <a:defRPr sz="1300" b="1">
                <a:solidFill>
                  <a:srgbClr val="94A3B8"/>
                </a:solidFill>
                <a:latin typeface="Times New Roman"/>
              </a:defRPr>
            </a:pPr>
            <a:r>
              <a:t>BAKMI ALOK / BRAND BESAR</a:t>
            </a:r>
          </a:p>
          <a:p>
            <a:pPr>
              <a:defRPr sz="1050">
                <a:solidFill>
                  <a:srgbClr val="94A3B8"/>
                </a:solidFill>
                <a:latin typeface="Times New Roman"/>
              </a:defRPr>
            </a:pPr>
            <a:r>
              <a:t>Kompetitor Merek Terkenal</a:t>
            </a:r>
          </a:p>
          <a:p>
            <a:br/>
            <a:pPr>
              <a:defRPr sz="1050" b="1">
                <a:solidFill>
                  <a:srgbClr val="F8FAFC"/>
                </a:solidFill>
                <a:latin typeface="Times New Roman"/>
              </a:defRPr>
            </a:pPr>
            <a:r>
              <a:t>▸ Rasa &amp; Resep:</a:t>
            </a:r>
          </a:p>
          <a:p>
            <a:pPr>
              <a:defRPr sz="1000">
                <a:solidFill>
                  <a:srgbClr val="94A3B8"/>
                </a:solidFill>
                <a:latin typeface="Times New Roman"/>
              </a:defRPr>
            </a:pPr>
            <a:r>
              <a:t>Cita rasa bakmi ayam rebus gurih, brand equity kuat di Jakarta Barat.</a:t>
            </a:r>
          </a:p>
          <a:p>
            <a:br/>
            <a:pPr>
              <a:defRPr sz="1050" b="1">
                <a:solidFill>
                  <a:srgbClr val="F8FAFC"/>
                </a:solidFill>
                <a:latin typeface="Times New Roman"/>
              </a:defRPr>
            </a:pPr>
            <a:r>
              <a:t>▸ Fasilitas Kedai:</a:t>
            </a:r>
          </a:p>
          <a:p>
            <a:pPr>
              <a:defRPr sz="1000">
                <a:solidFill>
                  <a:srgbClr val="94A3B8"/>
                </a:solidFill>
                <a:latin typeface="Times New Roman"/>
              </a:defRPr>
            </a:pPr>
            <a:r>
              <a:t>Restoran permanen, kapasitas besar ber-AC, antrean panjang saat jam makan siang.</a:t>
            </a:r>
          </a:p>
          <a:p>
            <a:br/>
            <a:pPr>
              <a:defRPr sz="1050" b="1">
                <a:solidFill>
                  <a:srgbClr val="F8FAFC"/>
                </a:solidFill>
                <a:latin typeface="Times New Roman"/>
              </a:defRPr>
            </a:pPr>
            <a:r>
              <a:t>▸ Varian Topping:</a:t>
            </a:r>
          </a:p>
          <a:p>
            <a:pPr>
              <a:defRPr sz="1000">
                <a:solidFill>
                  <a:srgbClr val="94A3B8"/>
                </a:solidFill>
                <a:latin typeface="Times New Roman"/>
              </a:defRPr>
            </a:pPr>
            <a:r>
              <a:t>Fokus dominan ayam kampung rebus, tidak menyediakan olahan babi casiu madu.</a:t>
            </a:r>
          </a:p>
          <a:p>
            <a:br/>
            <a:pPr>
              <a:defRPr sz="1050" b="1">
                <a:solidFill>
                  <a:srgbClr val="F8FAFC"/>
                </a:solidFill>
                <a:latin typeface="Times New Roman"/>
              </a:defRPr>
            </a:pPr>
            <a:r>
              <a:t>▸ Kemasan &amp; Layanan:</a:t>
            </a:r>
          </a:p>
          <a:p>
            <a:pPr>
              <a:defRPr sz="1000">
                <a:solidFill>
                  <a:srgbClr val="94A3B8"/>
                </a:solidFill>
                <a:latin typeface="Times New Roman"/>
              </a:defRPr>
            </a:pPr>
            <a:r>
              <a:t>Standar restoran waralaba terstruktur, kemasan branded formal.</a:t>
            </a:r>
          </a:p>
          <a:p>
            <a:br/>
            <a:pPr>
              <a:defRPr sz="1050" b="1">
                <a:solidFill>
                  <a:srgbClr val="F8FAFC"/>
                </a:solidFill>
                <a:latin typeface="Times New Roman"/>
              </a:defRPr>
            </a:pPr>
            <a:r>
              <a:t>▸ Harga &amp; Value:</a:t>
            </a:r>
          </a:p>
          <a:p>
            <a:pPr>
              <a:defRPr sz="1000">
                <a:solidFill>
                  <a:srgbClr val="94A3B8"/>
                </a:solidFill>
                <a:latin typeface="Times New Roman"/>
              </a:defRPr>
            </a:pPr>
            <a:r>
              <a:t>Rp 45.000 - Rp 65.000 (Segmen premium, relatif lebih mahal untuk porsi harian).</a:t>
            </a:r>
          </a:p>
        </p:txBody>
      </p:sp>
      <p:sp>
        <p:nvSpPr>
          <p:cNvPr id="10" name="Rounded Rectangle 9"/>
          <p:cNvSpPr/>
          <p:nvPr/>
        </p:nvSpPr>
        <p:spPr>
          <a:xfrm>
            <a:off x="8010144" y="1737360"/>
            <a:ext cx="3456432" cy="4480560"/>
          </a:xfrm>
          <a:prstGeom prst="roundRect">
            <a:avLst/>
          </a:prstGeom>
          <a:solidFill>
            <a:srgbClr val="1E293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38744" y="1920240"/>
            <a:ext cx="2999232" cy="4114800"/>
          </a:xfrm>
          <a:prstGeom prst="rect">
            <a:avLst/>
          </a:prstGeom>
          <a:noFill/>
        </p:spPr>
        <p:txBody>
          <a:bodyPr wrap="none" lIns="0" rIns="0" tIns="0" bIns="0">
            <a:spAutoFit/>
          </a:bodyPr>
          <a:lstStyle/>
          <a:p>
            <a:pPr>
              <a:defRPr sz="1300" b="1">
                <a:solidFill>
                  <a:srgbClr val="94A3B8"/>
                </a:solidFill>
                <a:latin typeface="Times New Roman"/>
              </a:defRPr>
            </a:pPr>
            <a:r>
              <a:t>WARUNG BAKMI LOKAL KOSAMBI</a:t>
            </a:r>
          </a:p>
          <a:p>
            <a:pPr>
              <a:defRPr sz="1050">
                <a:solidFill>
                  <a:srgbClr val="94A3B8"/>
                </a:solidFill>
                <a:latin typeface="Times New Roman"/>
              </a:defRPr>
            </a:pPr>
            <a:r>
              <a:t>Kompetitor Tradisional Sekitar</a:t>
            </a:r>
          </a:p>
          <a:p>
            <a:br/>
            <a:pPr>
              <a:defRPr sz="1050" b="1">
                <a:solidFill>
                  <a:srgbClr val="F8FAFC"/>
                </a:solidFill>
                <a:latin typeface="Times New Roman"/>
              </a:defRPr>
            </a:pPr>
            <a:r>
              <a:t>▸ Rasa &amp; Resep:</a:t>
            </a:r>
          </a:p>
          <a:p>
            <a:pPr>
              <a:defRPr sz="1000">
                <a:solidFill>
                  <a:srgbClr val="94A3B8"/>
                </a:solidFill>
                <a:latin typeface="Times New Roman"/>
              </a:defRPr>
            </a:pPr>
            <a:r>
              <a:t>Cita rasa standar warung tenda gerobak kaki lima, bumbu penyedap dominan.</a:t>
            </a:r>
          </a:p>
          <a:p>
            <a:br/>
            <a:pPr>
              <a:defRPr sz="1050" b="1">
                <a:solidFill>
                  <a:srgbClr val="F8FAFC"/>
                </a:solidFill>
                <a:latin typeface="Times New Roman"/>
              </a:defRPr>
            </a:pPr>
            <a:r>
              <a:t>▸ Fasilitas Kedai:</a:t>
            </a:r>
          </a:p>
          <a:p>
            <a:pPr>
              <a:defRPr sz="1000">
                <a:solidFill>
                  <a:srgbClr val="94A3B8"/>
                </a:solidFill>
                <a:latin typeface="Times New Roman"/>
              </a:defRPr>
            </a:pPr>
            <a:r>
              <a:t>Kios semi terbuka/tenda pinggir jalan, sirkulasi udara terbatas, parkir sempit.</a:t>
            </a:r>
          </a:p>
          <a:p>
            <a:br/>
            <a:pPr>
              <a:defRPr sz="1050" b="1">
                <a:solidFill>
                  <a:srgbClr val="F8FAFC"/>
                </a:solidFill>
                <a:latin typeface="Times New Roman"/>
              </a:defRPr>
            </a:pPr>
            <a:r>
              <a:t>▸ Varian Topping:</a:t>
            </a:r>
          </a:p>
          <a:p>
            <a:pPr>
              <a:defRPr sz="1000">
                <a:solidFill>
                  <a:srgbClr val="94A3B8"/>
                </a:solidFill>
                <a:latin typeface="Times New Roman"/>
              </a:defRPr>
            </a:pPr>
            <a:r>
              <a:t>Topping terbatas ayam cincang biasa, jarang menyediakan menu swikiaw rebus.</a:t>
            </a:r>
          </a:p>
          <a:p>
            <a:br/>
            <a:pPr>
              <a:defRPr sz="1050" b="1">
                <a:solidFill>
                  <a:srgbClr val="F8FAFC"/>
                </a:solidFill>
                <a:latin typeface="Times New Roman"/>
              </a:defRPr>
            </a:pPr>
            <a:r>
              <a:t>▸ Kemasan &amp; Layanan:</a:t>
            </a:r>
          </a:p>
          <a:p>
            <a:pPr>
              <a:defRPr sz="1000">
                <a:solidFill>
                  <a:srgbClr val="94A3B8"/>
                </a:solidFill>
                <a:latin typeface="Times New Roman"/>
              </a:defRPr>
            </a:pPr>
            <a:r>
              <a:t>Kemasan plastik mika konvensional, rentan tumpah dan cepat dingin.</a:t>
            </a:r>
          </a:p>
          <a:p>
            <a:br/>
            <a:pPr>
              <a:defRPr sz="1050" b="1">
                <a:solidFill>
                  <a:srgbClr val="F8FAFC"/>
                </a:solidFill>
                <a:latin typeface="Times New Roman"/>
              </a:defRPr>
            </a:pPr>
            <a:r>
              <a:t>▸ Harga &amp; Value:</a:t>
            </a:r>
          </a:p>
          <a:p>
            <a:pPr>
              <a:defRPr sz="1000">
                <a:solidFill>
                  <a:srgbClr val="94A3B8"/>
                </a:solidFill>
                <a:latin typeface="Times New Roman"/>
              </a:defRPr>
            </a:pPr>
            <a:r>
              <a:t>Rp 20.000 - Rp 25.000 (Harga murah namun kebersihan &amp; fasilitas sangat minim).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II: ASPEK PASAR</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08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Strategi Bauran Pemasaran (4P Tradisional)</a:t>
            </a:r>
          </a:p>
          <a:p>
            <a:pPr>
              <a:defRPr sz="1200">
                <a:solidFill>
                  <a:srgbClr val="94A3B8"/>
                </a:solidFill>
                <a:latin typeface="Times New Roman"/>
              </a:defRPr>
            </a:pPr>
            <a:r>
              <a:t>Strategi eksekusi taktis: Product, Price, Place, dan Promotion</a:t>
            </a:r>
          </a:p>
        </p:txBody>
      </p:sp>
      <p:sp>
        <p:nvSpPr>
          <p:cNvPr id="6" name="Rounded Rectangle 5"/>
          <p:cNvSpPr/>
          <p:nvPr/>
        </p:nvSpPr>
        <p:spPr>
          <a:xfrm>
            <a:off x="731520" y="1737360"/>
            <a:ext cx="5212080" cy="21031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4754880" cy="1737360"/>
          </a:xfrm>
          <a:prstGeom prst="rect">
            <a:avLst/>
          </a:prstGeom>
          <a:noFill/>
        </p:spPr>
        <p:txBody>
          <a:bodyPr wrap="none" lIns="0" rIns="0" tIns="0" bIns="0">
            <a:spAutoFit/>
          </a:bodyPr>
          <a:lstStyle/>
          <a:p>
            <a:pPr>
              <a:defRPr sz="1300" b="1">
                <a:solidFill>
                  <a:srgbClr val="F59E0B"/>
                </a:solidFill>
                <a:latin typeface="Times New Roman"/>
              </a:defRPr>
            </a:pPr>
            <a:r>
              <a:t>PRODUCT (PRODUK)</a:t>
            </a:r>
          </a:p>
          <a:p>
            <a:pPr>
              <a:defRPr sz="1050">
                <a:solidFill>
                  <a:srgbClr val="F8FAFC"/>
                </a:solidFill>
                <a:latin typeface="Times New Roman"/>
              </a:defRPr>
            </a:pPr>
            <a:r>
              <a:t>• Resep autentik 1999 (Taman Aries), adonan mie fresh dibuat mandiri setiap minggu tanpa pengawet.</a:t>
            </a:r>
          </a:p>
          <a:p>
            <a:pPr>
              <a:defRPr sz="1050">
                <a:solidFill>
                  <a:srgbClr val="F8FAFC"/>
                </a:solidFill>
                <a:latin typeface="Times New Roman"/>
              </a:defRPr>
            </a:pPr>
            <a:r>
              <a:t>• 3 Topping murni: Ayam Putih, Babi Kecap, &amp; Casiu Madu gurih (tanpa daging bebek &amp; jamur).</a:t>
            </a:r>
          </a:p>
          <a:p>
            <a:pPr>
              <a:defRPr sz="1050">
                <a:solidFill>
                  <a:srgbClr val="F8FAFC"/>
                </a:solidFill>
                <a:latin typeface="Times New Roman"/>
              </a:defRPr>
            </a:pPr>
            <a:r>
              <a:t>• 3 Pilihan racikan minyak mie: Minyak Babi, Minyak Ayam, &amp; Minyak Sayur + Wijen.</a:t>
            </a:r>
          </a:p>
          <a:p>
            <a:pPr>
              <a:defRPr sz="1050">
                <a:solidFill>
                  <a:srgbClr val="F8FAFC"/>
                </a:solidFill>
                <a:latin typeface="Times New Roman"/>
              </a:defRPr>
            </a:pPr>
            <a:r>
              <a:t>• Variasi porsi fleksibel: Porsi Kecil (27k), Reguler (29k-39k), hingga Porsi Jumbo (+100% mie, 49k-59k).</a:t>
            </a:r>
          </a:p>
        </p:txBody>
      </p:sp>
      <p:sp>
        <p:nvSpPr>
          <p:cNvPr id="8" name="Rounded Rectangle 7"/>
          <p:cNvSpPr/>
          <p:nvPr/>
        </p:nvSpPr>
        <p:spPr>
          <a:xfrm>
            <a:off x="6217920" y="1737360"/>
            <a:ext cx="5212080" cy="21031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20240"/>
            <a:ext cx="4754880" cy="1737360"/>
          </a:xfrm>
          <a:prstGeom prst="rect">
            <a:avLst/>
          </a:prstGeom>
          <a:noFill/>
        </p:spPr>
        <p:txBody>
          <a:bodyPr wrap="none" lIns="0" rIns="0" tIns="0" bIns="0">
            <a:spAutoFit/>
          </a:bodyPr>
          <a:lstStyle/>
          <a:p>
            <a:pPr>
              <a:defRPr sz="1300" b="1">
                <a:solidFill>
                  <a:srgbClr val="10B981"/>
                </a:solidFill>
                <a:latin typeface="Times New Roman"/>
              </a:defRPr>
            </a:pPr>
            <a:r>
              <a:t>PRICE (HARGA)</a:t>
            </a:r>
          </a:p>
          <a:p>
            <a:pPr>
              <a:defRPr sz="1050">
                <a:solidFill>
                  <a:srgbClr val="F8FAFC"/>
                </a:solidFill>
                <a:latin typeface="Times New Roman"/>
              </a:defRPr>
            </a:pPr>
            <a:r>
              <a:t>• Menerapkan Value-Based Pricing bersaing di kawasan residensial Duri Kosambi.</a:t>
            </a:r>
          </a:p>
          <a:p>
            <a:pPr>
              <a:defRPr sz="1050">
                <a:solidFill>
                  <a:srgbClr val="F8FAFC"/>
                </a:solidFill>
                <a:latin typeface="Times New Roman"/>
              </a:defRPr>
            </a:pPr>
            <a:r>
              <a:t>• Range harga bakmi: Rp 24.000 s.d. Rp 59.000 (belum termasuk menu pelengkap tambahan).</a:t>
            </a:r>
          </a:p>
          <a:p>
            <a:pPr>
              <a:defRPr sz="1050">
                <a:solidFill>
                  <a:srgbClr val="F8FAFC"/>
                </a:solidFill>
                <a:latin typeface="Times New Roman"/>
              </a:defRPr>
            </a:pPr>
            <a:r>
              <a:t>• Menu kuah: Pangsit rebus Rp 22.500 (5 pcs), Swikiaw Rp 27.500 (5 pcs), Baso sapi/ikan Rp 22.500.</a:t>
            </a:r>
          </a:p>
          <a:p>
            <a:pPr>
              <a:defRPr sz="1050">
                <a:solidFill>
                  <a:srgbClr val="F8FAFC"/>
                </a:solidFill>
                <a:latin typeface="Times New Roman"/>
              </a:defRPr>
            </a:pPr>
            <a:r>
              <a:t>• Gorengan Rp 5.000 - 8.000, minuman segar Rp 1.000 - 15.000 (Badak, Liang Teh, Susu Kacang, tanpa jeruk).</a:t>
            </a:r>
          </a:p>
        </p:txBody>
      </p:sp>
      <p:sp>
        <p:nvSpPr>
          <p:cNvPr id="10" name="Rounded Rectangle 9"/>
          <p:cNvSpPr/>
          <p:nvPr/>
        </p:nvSpPr>
        <p:spPr>
          <a:xfrm>
            <a:off x="731520" y="4023360"/>
            <a:ext cx="5212080" cy="21031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206240"/>
            <a:ext cx="4754880" cy="1737360"/>
          </a:xfrm>
          <a:prstGeom prst="rect">
            <a:avLst/>
          </a:prstGeom>
          <a:noFill/>
        </p:spPr>
        <p:txBody>
          <a:bodyPr wrap="none" lIns="0" rIns="0" tIns="0" bIns="0">
            <a:spAutoFit/>
          </a:bodyPr>
          <a:lstStyle/>
          <a:p>
            <a:pPr>
              <a:defRPr sz="1300" b="1">
                <a:solidFill>
                  <a:srgbClr val="38BDF8"/>
                </a:solidFill>
                <a:latin typeface="Times New Roman"/>
              </a:defRPr>
            </a:pPr>
            <a:r>
              <a:t>PLACE (DISTRIBUSI / LOKASI)</a:t>
            </a:r>
          </a:p>
          <a:p>
            <a:pPr>
              <a:defRPr sz="1050">
                <a:solidFill>
                  <a:srgbClr val="F8FAFC"/>
                </a:solidFill>
                <a:latin typeface="Times New Roman"/>
              </a:defRPr>
            </a:pPr>
            <a:r>
              <a:t>• Lokasi ruko 1 lantai di Jl. Angsoka Hijau IV Blok E6 No. 17 Duri Kosambi, Cengkareng, Jakarta Barat.</a:t>
            </a:r>
          </a:p>
          <a:p>
            <a:pPr>
              <a:defRPr sz="1050">
                <a:solidFill>
                  <a:srgbClr val="F8FAFC"/>
                </a:solidFill>
                <a:latin typeface="Times New Roman"/>
              </a:defRPr>
            </a:pPr>
            <a:r>
              <a:t>• Posisi emas persis di depan Taman TK, SD, dan SMP Sekolah Kristen Kalam Kudus.</a:t>
            </a:r>
          </a:p>
          <a:p>
            <a:pPr>
              <a:defRPr sz="1050">
                <a:solidFill>
                  <a:srgbClr val="F8FAFC"/>
                </a:solidFill>
                <a:latin typeface="Times New Roman"/>
              </a:defRPr>
            </a:pPr>
            <a:r>
              <a:t>• Fasilitas ruang makan berdaya tampung maksimal 22 orang padat (4 meja pendek + meja bar dinding).</a:t>
            </a:r>
          </a:p>
          <a:p>
            <a:pPr>
              <a:defRPr sz="1050">
                <a:solidFill>
                  <a:srgbClr val="F8FAFC"/>
                </a:solidFill>
                <a:latin typeface="Times New Roman"/>
              </a:defRPr>
            </a:pPr>
            <a:r>
              <a:t>• Fokus saluran penjualan langsung: Makan di tempat (Dine-In) dan pesanan bawa pulang (Take-Away).</a:t>
            </a:r>
          </a:p>
        </p:txBody>
      </p:sp>
      <p:sp>
        <p:nvSpPr>
          <p:cNvPr id="12" name="Rounded Rectangle 11"/>
          <p:cNvSpPr/>
          <p:nvPr/>
        </p:nvSpPr>
        <p:spPr>
          <a:xfrm>
            <a:off x="6217920" y="4023360"/>
            <a:ext cx="5212080" cy="210312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206240"/>
            <a:ext cx="4754880" cy="1737360"/>
          </a:xfrm>
          <a:prstGeom prst="rect">
            <a:avLst/>
          </a:prstGeom>
          <a:noFill/>
        </p:spPr>
        <p:txBody>
          <a:bodyPr wrap="none" lIns="0" rIns="0" tIns="0" bIns="0">
            <a:spAutoFit/>
          </a:bodyPr>
          <a:lstStyle/>
          <a:p>
            <a:pPr>
              <a:defRPr sz="1300" b="1">
                <a:solidFill>
                  <a:srgbClr val="FBBF24"/>
                </a:solidFill>
                <a:latin typeface="Times New Roman"/>
              </a:defRPr>
            </a:pPr>
            <a:r>
              <a:t>PROMOTION (PROMOSI)</a:t>
            </a:r>
          </a:p>
          <a:p>
            <a:pPr>
              <a:defRPr sz="1050">
                <a:solidFill>
                  <a:srgbClr val="F8FAFC"/>
                </a:solidFill>
                <a:latin typeface="Times New Roman"/>
              </a:defRPr>
            </a:pPr>
            <a:r>
              <a:t>• Tidak mengadakan program promosi diskon buatan, kupon berhadiah, atau stamp card formal.</a:t>
            </a:r>
          </a:p>
          <a:p>
            <a:pPr>
              <a:defRPr sz="1050">
                <a:solidFill>
                  <a:srgbClr val="F8FAFC"/>
                </a:solidFill>
                <a:latin typeface="Times New Roman"/>
              </a:defRPr>
            </a:pPr>
            <a:r>
              <a:t>• Murni mengandalkan penjualan lokal getok tular (loyalitas pelanggan lama sejak 2019 &amp; pembeli baru).</a:t>
            </a:r>
          </a:p>
          <a:p>
            <a:pPr>
              <a:defRPr sz="1050">
                <a:solidFill>
                  <a:srgbClr val="F8FAFC"/>
                </a:solidFill>
                <a:latin typeface="Times New Roman"/>
              </a:defRPr>
            </a:pPr>
            <a:r>
              <a:t>• Pemasaran organik sukarela dari ulasan pengunjung dan food vlogger/influencer kuliner (viral di TikTok).</a:t>
            </a:r>
          </a:p>
          <a:p>
            <a:pPr>
              <a:defRPr sz="1050">
                <a:solidFill>
                  <a:srgbClr val="F8FAFC"/>
                </a:solidFill>
                <a:latin typeface="Times New Roman"/>
              </a:defRPr>
            </a:pPr>
            <a:r>
              <a:t>• Papan nama kedai (signage) sederhana di fasad ruko yang terlihat jelas oleh para penjemput sekolah.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II: ASPEK PASAR</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09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Strategi Bauran Layanan (3P Extended)</a:t>
            </a:r>
          </a:p>
          <a:p>
            <a:pPr>
              <a:defRPr sz="1200">
                <a:solidFill>
                  <a:srgbClr val="94A3B8"/>
                </a:solidFill>
                <a:latin typeface="Times New Roman"/>
              </a:defRPr>
            </a:pPr>
            <a:r>
              <a:t>Pilar keunggulan operasional: People, Process, dan Physical Evidence</a:t>
            </a:r>
          </a:p>
        </p:txBody>
      </p:sp>
      <p:sp>
        <p:nvSpPr>
          <p:cNvPr id="6" name="Rounded Rectangle 5"/>
          <p:cNvSpPr/>
          <p:nvPr/>
        </p:nvSpPr>
        <p:spPr>
          <a:xfrm>
            <a:off x="731520" y="1737360"/>
            <a:ext cx="3456432" cy="44805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65960"/>
            <a:ext cx="2999232" cy="4023360"/>
          </a:xfrm>
          <a:prstGeom prst="rect">
            <a:avLst/>
          </a:prstGeom>
          <a:noFill/>
        </p:spPr>
        <p:txBody>
          <a:bodyPr wrap="none" lIns="0" rIns="0" tIns="0" bIns="0">
            <a:spAutoFit/>
          </a:bodyPr>
          <a:lstStyle/>
          <a:p>
            <a:pPr>
              <a:defRPr sz="1300" b="1">
                <a:solidFill>
                  <a:srgbClr val="F59E0B"/>
                </a:solidFill>
                <a:latin typeface="Times New Roman"/>
              </a:defRPr>
            </a:pPr>
            <a:r>
              <a:t>PEOPLE (SUMBER DAYA MANUSIA)</a:t>
            </a:r>
          </a:p>
          <a:p>
            <a:br/>
            <a:pPr>
              <a:defRPr sz="1050">
                <a:solidFill>
                  <a:srgbClr val="F8FAFC"/>
                </a:solidFill>
                <a:latin typeface="Times New Roman"/>
              </a:defRPr>
            </a:pPr>
            <a:r>
              <a:t>▸ Tim operasional 3 karyawan fungsional: Koki Utama, Asisten Koki, dan Kasir-Pramusaji.</a:t>
            </a:r>
          </a:p>
          <a:p>
            <a:br/>
            <a:pPr>
              <a:defRPr sz="1050">
                <a:solidFill>
                  <a:srgbClr val="F8FAFC"/>
                </a:solidFill>
                <a:latin typeface="Times New Roman"/>
              </a:defRPr>
            </a:pPr>
            <a:r>
              <a:t>▸ Sistem remunerasi berbasis gaji pokok bulanan tetap (total alokasi gaji Rp 10 Jt/bulan).</a:t>
            </a:r>
          </a:p>
          <a:p>
            <a:br/>
            <a:pPr>
              <a:defRPr sz="1050">
                <a:solidFill>
                  <a:srgbClr val="F8FAFC"/>
                </a:solidFill>
                <a:latin typeface="Times New Roman"/>
              </a:defRPr>
            </a:pPr>
            <a:r>
              <a:t>▸ Tidak menerapkan bonus insentif penjualan, menjaga fokus tim pada konsistensi racikan rasa.</a:t>
            </a:r>
          </a:p>
          <a:p>
            <a:br/>
            <a:pPr>
              <a:defRPr sz="1050">
                <a:solidFill>
                  <a:srgbClr val="F8FAFC"/>
                </a:solidFill>
                <a:latin typeface="Times New Roman"/>
              </a:defRPr>
            </a:pPr>
            <a:r>
              <a:t>▸ Karyawan berseragam bersih, ramah menyambut tamu, dan menguasai varian menu topping.</a:t>
            </a:r>
          </a:p>
        </p:txBody>
      </p:sp>
      <p:sp>
        <p:nvSpPr>
          <p:cNvPr id="8" name="Rounded Rectangle 7"/>
          <p:cNvSpPr/>
          <p:nvPr/>
        </p:nvSpPr>
        <p:spPr>
          <a:xfrm>
            <a:off x="4370832" y="1737360"/>
            <a:ext cx="3456432" cy="44805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9432" y="1965960"/>
            <a:ext cx="2999232" cy="4023360"/>
          </a:xfrm>
          <a:prstGeom prst="rect">
            <a:avLst/>
          </a:prstGeom>
          <a:noFill/>
        </p:spPr>
        <p:txBody>
          <a:bodyPr wrap="none" lIns="0" rIns="0" tIns="0" bIns="0">
            <a:spAutoFit/>
          </a:bodyPr>
          <a:lstStyle/>
          <a:p>
            <a:pPr>
              <a:defRPr sz="1300" b="1">
                <a:solidFill>
                  <a:srgbClr val="38BDF8"/>
                </a:solidFill>
                <a:latin typeface="Times New Roman"/>
              </a:defRPr>
            </a:pPr>
            <a:r>
              <a:t>PROCESS (PROSES OPERASIONAL)</a:t>
            </a:r>
          </a:p>
          <a:p>
            <a:br/>
            <a:pPr>
              <a:defRPr sz="1050">
                <a:solidFill>
                  <a:srgbClr val="F8FAFC"/>
                </a:solidFill>
                <a:latin typeface="Times New Roman"/>
              </a:defRPr>
            </a:pPr>
            <a:r>
              <a:t>▸ Sistem pemesanan kasir masih manual menggunakan nota fisik/kertas bon pesanan sederhana.</a:t>
            </a:r>
          </a:p>
          <a:p>
            <a:br/>
            <a:pPr>
              <a:defRPr sz="1050">
                <a:solidFill>
                  <a:srgbClr val="F8FAFC"/>
                </a:solidFill>
                <a:latin typeface="Times New Roman"/>
              </a:defRPr>
            </a:pPr>
            <a:r>
              <a:t>▸ Alur penyajian kilat: Perebusan mie fresh membutuhkan waktu 45 detik, saji di meja &lt; 5 menit.</a:t>
            </a:r>
          </a:p>
          <a:p>
            <a:br/>
            <a:pPr>
              <a:defRPr sz="1050">
                <a:solidFill>
                  <a:srgbClr val="F8FAFC"/>
                </a:solidFill>
                <a:latin typeface="Times New Roman"/>
              </a:defRPr>
            </a:pPr>
            <a:r>
              <a:t>▸ Siklus produksi adonan mie dibuat mandiri secara terjadwal setiap minggu tanpa pengawet.</a:t>
            </a:r>
          </a:p>
          <a:p>
            <a:br/>
            <a:pPr>
              <a:defRPr sz="1050">
                <a:solidFill>
                  <a:srgbClr val="F8FAFC"/>
                </a:solidFill>
                <a:latin typeface="Times New Roman"/>
              </a:defRPr>
            </a:pPr>
            <a:r>
              <a:t>▸ Penyediaan botol saus meja standar resmi (Cap Belibis &amp; Mangga Besar) yang selalu terisi bersih.</a:t>
            </a:r>
          </a:p>
        </p:txBody>
      </p:sp>
      <p:sp>
        <p:nvSpPr>
          <p:cNvPr id="10" name="Rounded Rectangle 9"/>
          <p:cNvSpPr/>
          <p:nvPr/>
        </p:nvSpPr>
        <p:spPr>
          <a:xfrm>
            <a:off x="8010144" y="1737360"/>
            <a:ext cx="3456432" cy="44805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38744" y="1965960"/>
            <a:ext cx="2999232" cy="4023360"/>
          </a:xfrm>
          <a:prstGeom prst="rect">
            <a:avLst/>
          </a:prstGeom>
          <a:noFill/>
        </p:spPr>
        <p:txBody>
          <a:bodyPr wrap="none" lIns="0" rIns="0" tIns="0" bIns="0">
            <a:spAutoFit/>
          </a:bodyPr>
          <a:lstStyle/>
          <a:p>
            <a:pPr>
              <a:defRPr sz="1300" b="1">
                <a:solidFill>
                  <a:srgbClr val="10B981"/>
                </a:solidFill>
                <a:latin typeface="Times New Roman"/>
              </a:defRPr>
            </a:pPr>
            <a:r>
              <a:t>PHYSICAL EVIDENCE (BUKTI FISIK)</a:t>
            </a:r>
          </a:p>
          <a:p>
            <a:br/>
            <a:pPr>
              <a:defRPr sz="1050">
                <a:solidFill>
                  <a:srgbClr val="F8FAFC"/>
                </a:solidFill>
                <a:latin typeface="Times New Roman"/>
              </a:defRPr>
            </a:pPr>
            <a:r>
              <a:t>▸ Desain interior standar ruko 1 lantai yang bersih, bersahaja, rapi, dan fungsional.</a:t>
            </a:r>
          </a:p>
          <a:p>
            <a:br/>
            <a:pPr>
              <a:defRPr sz="1050">
                <a:solidFill>
                  <a:srgbClr val="F8FAFC"/>
                </a:solidFill>
                <a:latin typeface="Times New Roman"/>
              </a:defRPr>
            </a:pPr>
            <a:r>
              <a:t>▸ Fasilitas sirkulasi udara menggunakan 6 unit kipas angin dinding/plafon sejuk (tanpa fasilitas AC).</a:t>
            </a:r>
          </a:p>
          <a:p>
            <a:br/>
            <a:pPr>
              <a:defRPr sz="1050">
                <a:solidFill>
                  <a:srgbClr val="F8FAFC"/>
                </a:solidFill>
                <a:latin typeface="Times New Roman"/>
              </a:defRPr>
            </a:pPr>
            <a:r>
              <a:t>▸ Kapasitas dine-in maksimal 22 orang padat (4 meja pendek 16 kursi + 1 meja panjang dinding 6 kursi).</a:t>
            </a:r>
          </a:p>
          <a:p>
            <a:br/>
            <a:pPr>
              <a:defRPr sz="1050">
                <a:solidFill>
                  <a:srgbClr val="F8FAFC"/>
                </a:solidFill>
                <a:latin typeface="Times New Roman"/>
              </a:defRPr>
            </a:pPr>
            <a:r>
              <a:t>▸ Tidak menyediakan fasilitas Wi-Fi demi memaksimalkan perputaran meja (table turnover) di jam sibuk.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III: ASPEK MANAJEMEN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10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Struktur Organisasi &amp; Pembagian Tugas</a:t>
            </a:r>
          </a:p>
          <a:p>
            <a:pPr>
              <a:defRPr sz="1200">
                <a:solidFill>
                  <a:srgbClr val="94A3B8"/>
                </a:solidFill>
                <a:latin typeface="Times New Roman"/>
              </a:defRPr>
            </a:pPr>
            <a:r>
              <a:t>Desain tata kelola tim operasional gerai Bakmi Mimu Carina Sayang</a:t>
            </a:r>
          </a:p>
        </p:txBody>
      </p:sp>
      <p:sp>
        <p:nvSpPr>
          <p:cNvPr id="6" name="Rounded Rectangle 5"/>
          <p:cNvSpPr/>
          <p:nvPr/>
        </p:nvSpPr>
        <p:spPr>
          <a:xfrm>
            <a:off x="3474720" y="1737360"/>
            <a:ext cx="5212080" cy="11887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0" y="1828800"/>
            <a:ext cx="4846320" cy="1005840"/>
          </a:xfrm>
          <a:prstGeom prst="rect">
            <a:avLst/>
          </a:prstGeom>
          <a:noFill/>
        </p:spPr>
        <p:txBody>
          <a:bodyPr wrap="none" lIns="0" rIns="0" tIns="0" bIns="0">
            <a:spAutoFit/>
          </a:bodyPr>
          <a:lstStyle/>
          <a:p>
            <a:pPr>
              <a:defRPr sz="1300" b="1">
                <a:solidFill>
                  <a:srgbClr val="F59E0B"/>
                </a:solidFill>
                <a:latin typeface="Times New Roman"/>
              </a:defRPr>
            </a:pPr>
            <a:r>
              <a:t>OWNER / PENGELOLA UTAMA KEDAI (1 ORANG)</a:t>
            </a:r>
          </a:p>
          <a:p>
            <a:pPr>
              <a:defRPr sz="1050">
                <a:solidFill>
                  <a:srgbClr val="F8FAFC"/>
                </a:solidFill>
                <a:latin typeface="Times New Roman"/>
              </a:defRPr>
            </a:pPr>
            <a:r>
              <a:t>Tanggung Jawab: Penetapan strategi usaha, pengawasan keuangan harian, kontrol cita rasa SOP resep 1999, pengadaan bahan baku daging segar, dan perencanaan ekspansi 2027/2028.</a:t>
            </a:r>
          </a:p>
        </p:txBody>
      </p:sp>
      <p:sp>
        <p:nvSpPr>
          <p:cNvPr id="8" name="Rounded Rectangle 7"/>
          <p:cNvSpPr/>
          <p:nvPr/>
        </p:nvSpPr>
        <p:spPr>
          <a:xfrm>
            <a:off x="731520" y="3154680"/>
            <a:ext cx="3456432" cy="30632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37560"/>
            <a:ext cx="3090672" cy="2697480"/>
          </a:xfrm>
          <a:prstGeom prst="rect">
            <a:avLst/>
          </a:prstGeom>
          <a:noFill/>
        </p:spPr>
        <p:txBody>
          <a:bodyPr wrap="none" lIns="0" rIns="0" tIns="0" bIns="0">
            <a:spAutoFit/>
          </a:bodyPr>
          <a:lstStyle/>
          <a:p>
            <a:pPr>
              <a:defRPr sz="1250" b="1">
                <a:solidFill>
                  <a:srgbClr val="38BDF8"/>
                </a:solidFill>
                <a:latin typeface="Times New Roman"/>
              </a:defRPr>
            </a:pPr>
            <a:r>
              <a:t>KOKI UTAMA (1 ORANG)</a:t>
            </a:r>
          </a:p>
          <a:p>
            <a:pPr>
              <a:defRPr sz="1050">
                <a:solidFill>
                  <a:srgbClr val="F8FAFC"/>
                </a:solidFill>
                <a:latin typeface="Times New Roman"/>
              </a:defRPr>
            </a:pPr>
            <a:r>
              <a:t>• Membuat adonan mie fresh setiap minggu.</a:t>
            </a:r>
          </a:p>
          <a:p>
            <a:pPr>
              <a:defRPr sz="1050">
                <a:solidFill>
                  <a:srgbClr val="F8FAFC"/>
                </a:solidFill>
                <a:latin typeface="Times New Roman"/>
              </a:defRPr>
            </a:pPr>
            <a:r>
              <a:t>• Memasak 3 topping: ayam, babi kecap, casiu.</a:t>
            </a:r>
          </a:p>
          <a:p>
            <a:pPr>
              <a:defRPr sz="1050">
                <a:solidFill>
                  <a:srgbClr val="F8FAFC"/>
                </a:solidFill>
                <a:latin typeface="Times New Roman"/>
              </a:defRPr>
            </a:pPr>
            <a:r>
              <a:t>• Menyiapkan 3 racikan minyak &amp; rebus kaldu.</a:t>
            </a:r>
          </a:p>
          <a:p>
            <a:pPr>
              <a:defRPr sz="1050">
                <a:solidFill>
                  <a:srgbClr val="F8FAFC"/>
                </a:solidFill>
                <a:latin typeface="Times New Roman"/>
              </a:defRPr>
            </a:pPr>
            <a:r>
              <a:t>• Memimpin perebusan &amp; peracikan mie di gerobak.</a:t>
            </a:r>
          </a:p>
        </p:txBody>
      </p:sp>
      <p:sp>
        <p:nvSpPr>
          <p:cNvPr id="10" name="Rounded Rectangle 9"/>
          <p:cNvSpPr/>
          <p:nvPr/>
        </p:nvSpPr>
        <p:spPr>
          <a:xfrm>
            <a:off x="4370832" y="3154680"/>
            <a:ext cx="3456432" cy="30632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3337560"/>
            <a:ext cx="3090672" cy="2697480"/>
          </a:xfrm>
          <a:prstGeom prst="rect">
            <a:avLst/>
          </a:prstGeom>
          <a:noFill/>
        </p:spPr>
        <p:txBody>
          <a:bodyPr wrap="none" lIns="0" rIns="0" tIns="0" bIns="0">
            <a:spAutoFit/>
          </a:bodyPr>
          <a:lstStyle/>
          <a:p>
            <a:pPr>
              <a:defRPr sz="1250" b="1">
                <a:solidFill>
                  <a:srgbClr val="10B981"/>
                </a:solidFill>
                <a:latin typeface="Times New Roman"/>
              </a:defRPr>
            </a:pPr>
            <a:r>
              <a:t>ASISTEN KOKI (1 ORANG)</a:t>
            </a:r>
          </a:p>
          <a:p>
            <a:pPr>
              <a:defRPr sz="1050">
                <a:solidFill>
                  <a:srgbClr val="F8FAFC"/>
                </a:solidFill>
                <a:latin typeface="Times New Roman"/>
              </a:defRPr>
            </a:pPr>
            <a:r>
              <a:t>• Menyiapkan bahan mentah &amp; bumbu dapur.</a:t>
            </a:r>
          </a:p>
          <a:p>
            <a:pPr>
              <a:defRPr sz="1050">
                <a:solidFill>
                  <a:srgbClr val="F8FAFC"/>
                </a:solidFill>
                <a:latin typeface="Times New Roman"/>
              </a:defRPr>
            </a:pPr>
            <a:r>
              <a:t>• Melipat kulit pangsit &amp; swikiaw isian babi-udang.</a:t>
            </a:r>
          </a:p>
          <a:p>
            <a:pPr>
              <a:defRPr sz="1050">
                <a:solidFill>
                  <a:srgbClr val="F8FAFC"/>
                </a:solidFill>
                <a:latin typeface="Times New Roman"/>
              </a:defRPr>
            </a:pPr>
            <a:r>
              <a:t>• Mencuci mangkok, sumpit, panci &amp; alat makan.</a:t>
            </a:r>
          </a:p>
          <a:p>
            <a:pPr>
              <a:defRPr sz="1050">
                <a:solidFill>
                  <a:srgbClr val="F8FAFC"/>
                </a:solidFill>
                <a:latin typeface="Times New Roman"/>
              </a:defRPr>
            </a:pPr>
            <a:r>
              <a:t>• Menjaga kebersihan stasiun open kitchen gerobak.</a:t>
            </a:r>
          </a:p>
        </p:txBody>
      </p:sp>
      <p:sp>
        <p:nvSpPr>
          <p:cNvPr id="12" name="Rounded Rectangle 11"/>
          <p:cNvSpPr/>
          <p:nvPr/>
        </p:nvSpPr>
        <p:spPr>
          <a:xfrm>
            <a:off x="8010144" y="3154680"/>
            <a:ext cx="3456432" cy="306324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3337560"/>
            <a:ext cx="3090672" cy="2697480"/>
          </a:xfrm>
          <a:prstGeom prst="rect">
            <a:avLst/>
          </a:prstGeom>
          <a:noFill/>
        </p:spPr>
        <p:txBody>
          <a:bodyPr wrap="none" lIns="0" rIns="0" tIns="0" bIns="0">
            <a:spAutoFit/>
          </a:bodyPr>
          <a:lstStyle/>
          <a:p>
            <a:pPr>
              <a:defRPr sz="1250" b="1">
                <a:solidFill>
                  <a:srgbClr val="FBBF24"/>
                </a:solidFill>
                <a:latin typeface="Times New Roman"/>
              </a:defRPr>
            </a:pPr>
            <a:r>
              <a:t>KASIR &amp; PRAMUSAJI (1 ORANG)</a:t>
            </a:r>
          </a:p>
          <a:p>
            <a:pPr>
              <a:defRPr sz="1050">
                <a:solidFill>
                  <a:srgbClr val="F8FAFC"/>
                </a:solidFill>
                <a:latin typeface="Times New Roman"/>
              </a:defRPr>
            </a:pPr>
            <a:r>
              <a:t>• Mencatat pesanan pelanggan dengan nota manual.</a:t>
            </a:r>
          </a:p>
          <a:p>
            <a:pPr>
              <a:defRPr sz="1050">
                <a:solidFill>
                  <a:srgbClr val="F8FAFC"/>
                </a:solidFill>
                <a:latin typeface="Times New Roman"/>
              </a:defRPr>
            </a:pPr>
            <a:r>
              <a:t>• Melayani penerimaan pembayaran tunai &amp; QRIS.</a:t>
            </a:r>
          </a:p>
          <a:p>
            <a:pPr>
              <a:defRPr sz="1050">
                <a:solidFill>
                  <a:srgbClr val="F8FAFC"/>
                </a:solidFill>
                <a:latin typeface="Times New Roman"/>
              </a:defRPr>
            </a:pPr>
            <a:r>
              <a:t>• Menyajikan mangkok mie &amp; minuman ke 22 kursi.</a:t>
            </a:r>
          </a:p>
          <a:p>
            <a:pPr>
              <a:defRPr sz="1050">
                <a:solidFill>
                  <a:srgbClr val="F8FAFC"/>
                </a:solidFill>
                <a:latin typeface="Times New Roman"/>
              </a:defRPr>
            </a:pPr>
            <a:r>
              <a:t>• Membersihkan meja makan &amp; melayani take-away.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III: ASPEK MANAJEMEN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11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Tenaga Kerja &amp; Kebijakan Kompensasi</a:t>
            </a:r>
          </a:p>
          <a:p>
            <a:pPr>
              <a:defRPr sz="1200">
                <a:solidFill>
                  <a:srgbClr val="94A3B8"/>
                </a:solidFill>
                <a:latin typeface="Times New Roman"/>
              </a:defRPr>
            </a:pPr>
            <a:r>
              <a:t>Kebutuhan SDM, alokasi upah bulanan, dan kebijakan ketenagakerjaan</a:t>
            </a:r>
          </a:p>
        </p:txBody>
      </p:sp>
      <p:sp>
        <p:nvSpPr>
          <p:cNvPr id="6" name="Rounded Rectangle 5"/>
          <p:cNvSpPr/>
          <p:nvPr/>
        </p:nvSpPr>
        <p:spPr>
          <a:xfrm>
            <a:off x="731520" y="1737360"/>
            <a:ext cx="5212080" cy="11887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1005840"/>
          </a:xfrm>
          <a:prstGeom prst="rect">
            <a:avLst/>
          </a:prstGeom>
          <a:noFill/>
        </p:spPr>
        <p:txBody>
          <a:bodyPr wrap="none" lIns="0" rIns="0" tIns="0" bIns="0">
            <a:spAutoFit/>
          </a:bodyPr>
          <a:lstStyle/>
          <a:p>
            <a:pPr>
              <a:defRPr sz="1500" b="1">
                <a:solidFill>
                  <a:srgbClr val="F59E0B"/>
                </a:solidFill>
                <a:latin typeface="Times New Roman"/>
              </a:defRPr>
            </a:pPr>
            <a:r>
              <a:t>TOTAL TENAGA KERJA: 3 STAF KARYAWAN</a:t>
            </a:r>
          </a:p>
          <a:p>
            <a:pPr>
              <a:defRPr sz="1100">
                <a:solidFill>
                  <a:srgbClr val="F8FAFC"/>
                </a:solidFill>
                <a:latin typeface="Times New Roman"/>
              </a:defRPr>
            </a:pPr>
            <a:r>
              <a:t>Formasi Fungsional: 1 Koki Utama Dapur, 1 Asisten Koki Dapur, 1 Kasir &amp; Pramusaji.</a:t>
            </a:r>
          </a:p>
        </p:txBody>
      </p:sp>
      <p:sp>
        <p:nvSpPr>
          <p:cNvPr id="8" name="Rounded Rectangle 7"/>
          <p:cNvSpPr/>
          <p:nvPr/>
        </p:nvSpPr>
        <p:spPr>
          <a:xfrm>
            <a:off x="6217920" y="1737360"/>
            <a:ext cx="5212080" cy="11887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846320" cy="1005840"/>
          </a:xfrm>
          <a:prstGeom prst="rect">
            <a:avLst/>
          </a:prstGeom>
          <a:noFill/>
        </p:spPr>
        <p:txBody>
          <a:bodyPr wrap="none" lIns="0" rIns="0" tIns="0" bIns="0">
            <a:spAutoFit/>
          </a:bodyPr>
          <a:lstStyle/>
          <a:p>
            <a:pPr>
              <a:defRPr sz="1500" b="1">
                <a:solidFill>
                  <a:srgbClr val="10B981"/>
                </a:solidFill>
                <a:latin typeface="Times New Roman"/>
              </a:defRPr>
            </a:pPr>
            <a:r>
              <a:t>TOTAL ANGGARAN GAJI: RP 120.000.000 / TAHUN</a:t>
            </a:r>
          </a:p>
          <a:p>
            <a:pPr>
              <a:defRPr sz="1100">
                <a:solidFill>
                  <a:srgbClr val="F8FAFC"/>
                </a:solidFill>
                <a:latin typeface="Times New Roman"/>
              </a:defRPr>
            </a:pPr>
            <a:r>
              <a:t>Alokasi anggaran gaji tetap stabil Rp 10.000.000 per bulan (tanpa skema bonus insentif).</a:t>
            </a:r>
          </a:p>
        </p:txBody>
      </p:sp>
      <p:sp>
        <p:nvSpPr>
          <p:cNvPr id="10" name="Rounded Rectangle 9"/>
          <p:cNvSpPr/>
          <p:nvPr/>
        </p:nvSpPr>
        <p:spPr>
          <a:xfrm>
            <a:off x="731520" y="3154680"/>
            <a:ext cx="521208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91840"/>
            <a:ext cx="4846320" cy="1097280"/>
          </a:xfrm>
          <a:prstGeom prst="rect">
            <a:avLst/>
          </a:prstGeom>
          <a:noFill/>
        </p:spPr>
        <p:txBody>
          <a:bodyPr wrap="none" lIns="0" rIns="0" tIns="0" bIns="0">
            <a:spAutoFit/>
          </a:bodyPr>
          <a:lstStyle/>
          <a:p>
            <a:pPr>
              <a:defRPr sz="1200" b="1">
                <a:solidFill>
                  <a:srgbClr val="F59E0B"/>
                </a:solidFill>
                <a:latin typeface="Times New Roman"/>
              </a:defRPr>
            </a:pPr>
            <a:r>
              <a:t>• Gaji Koki Utama: Rp 3.800.000 / Bln</a:t>
            </a:r>
          </a:p>
          <a:p>
            <a:pPr>
              <a:defRPr sz="1050">
                <a:solidFill>
                  <a:srgbClr val="F8FAFC"/>
                </a:solidFill>
                <a:latin typeface="Times New Roman"/>
              </a:defRPr>
            </a:pPr>
            <a:r>
              <a:t>Mengapresiasi keahlian khusus pembuatan adonan mie mingguan, pengolahan babi casiu panggang madu, ayam putih, dan racikan 3 minyak.</a:t>
            </a:r>
          </a:p>
        </p:txBody>
      </p:sp>
      <p:sp>
        <p:nvSpPr>
          <p:cNvPr id="12" name="Rounded Rectangle 11"/>
          <p:cNvSpPr/>
          <p:nvPr/>
        </p:nvSpPr>
        <p:spPr>
          <a:xfrm>
            <a:off x="6217920" y="3154680"/>
            <a:ext cx="521208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291840"/>
            <a:ext cx="4846320" cy="1097280"/>
          </a:xfrm>
          <a:prstGeom prst="rect">
            <a:avLst/>
          </a:prstGeom>
          <a:noFill/>
        </p:spPr>
        <p:txBody>
          <a:bodyPr wrap="none" lIns="0" rIns="0" tIns="0" bIns="0">
            <a:spAutoFit/>
          </a:bodyPr>
          <a:lstStyle/>
          <a:p>
            <a:pPr>
              <a:defRPr sz="1200" b="1">
                <a:solidFill>
                  <a:srgbClr val="F59E0B"/>
                </a:solidFill>
                <a:latin typeface="Times New Roman"/>
              </a:defRPr>
            </a:pPr>
            <a:r>
              <a:t>• Gaji Asisten Koki: Rp 3.200.000 / Bln</a:t>
            </a:r>
          </a:p>
          <a:p>
            <a:pPr>
              <a:defRPr sz="1050">
                <a:solidFill>
                  <a:srgbClr val="F8FAFC"/>
                </a:solidFill>
                <a:latin typeface="Times New Roman"/>
              </a:defRPr>
            </a:pPr>
            <a:r>
              <a:t>Kompensasi persiapan bahan baku, pengisian kaldu, perakitan pelengkap swikiaw/pangsit, serta sanitasi intensif alat masak dapur.</a:t>
            </a:r>
          </a:p>
        </p:txBody>
      </p:sp>
      <p:sp>
        <p:nvSpPr>
          <p:cNvPr id="14" name="Rounded Rectangle 13"/>
          <p:cNvSpPr/>
          <p:nvPr/>
        </p:nvSpPr>
        <p:spPr>
          <a:xfrm>
            <a:off x="731520" y="4709160"/>
            <a:ext cx="521208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846320"/>
            <a:ext cx="4846320" cy="1097280"/>
          </a:xfrm>
          <a:prstGeom prst="rect">
            <a:avLst/>
          </a:prstGeom>
          <a:noFill/>
        </p:spPr>
        <p:txBody>
          <a:bodyPr wrap="none" lIns="0" rIns="0" tIns="0" bIns="0">
            <a:spAutoFit/>
          </a:bodyPr>
          <a:lstStyle/>
          <a:p>
            <a:pPr>
              <a:defRPr sz="1200" b="1">
                <a:solidFill>
                  <a:srgbClr val="F59E0B"/>
                </a:solidFill>
                <a:latin typeface="Times New Roman"/>
              </a:defRPr>
            </a:pPr>
            <a:r>
              <a:t>• Gaji Kasir-Pramusaji: Rp 3.000.000 / Bln</a:t>
            </a:r>
          </a:p>
          <a:p>
            <a:pPr>
              <a:defRPr sz="1050">
                <a:solidFill>
                  <a:srgbClr val="F8FAFC"/>
                </a:solidFill>
                <a:latin typeface="Times New Roman"/>
              </a:defRPr>
            </a:pPr>
            <a:r>
              <a:t>Kompensasi pencatatan nota pesanan manual, penanganan transaksi pembayaran tunai/QRIS, serta kecepatan penyajian ke 22 kursi.</a:t>
            </a:r>
          </a:p>
        </p:txBody>
      </p:sp>
      <p:sp>
        <p:nvSpPr>
          <p:cNvPr id="16" name="Rounded Rectangle 15"/>
          <p:cNvSpPr/>
          <p:nvPr/>
        </p:nvSpPr>
        <p:spPr>
          <a:xfrm>
            <a:off x="6217920" y="4709160"/>
            <a:ext cx="521208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846320"/>
            <a:ext cx="4846320" cy="1097280"/>
          </a:xfrm>
          <a:prstGeom prst="rect">
            <a:avLst/>
          </a:prstGeom>
          <a:noFill/>
        </p:spPr>
        <p:txBody>
          <a:bodyPr wrap="none" lIns="0" rIns="0" tIns="0" bIns="0">
            <a:spAutoFit/>
          </a:bodyPr>
          <a:lstStyle/>
          <a:p>
            <a:pPr>
              <a:defRPr sz="1200" b="1">
                <a:solidFill>
                  <a:srgbClr val="F59E0B"/>
                </a:solidFill>
                <a:latin typeface="Times New Roman"/>
              </a:defRPr>
            </a:pPr>
            <a:r>
              <a:t>• Kebijakan Kompensasi Tetap (Non-Insentif)</a:t>
            </a:r>
          </a:p>
          <a:p>
            <a:pPr>
              <a:defRPr sz="1050">
                <a:solidFill>
                  <a:srgbClr val="F8FAFC"/>
                </a:solidFill>
                <a:latin typeface="Times New Roman"/>
              </a:defRPr>
            </a:pPr>
            <a:r>
              <a:t>Menerapkan sistem upah bulanan pasti, fasilitas makan kedai harian, dan Tunjangan Hari Raya (THR) tahunan tanpa insentif penjualan.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IV: TEKNIS &amp; OPERASI</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12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Tata Letak Ruko 1 Lantai &amp; Modal Awal 2016</a:t>
            </a:r>
          </a:p>
          <a:p>
            <a:pPr>
              <a:defRPr sz="1200">
                <a:solidFill>
                  <a:srgbClr val="94A3B8"/>
                </a:solidFill>
                <a:latin typeface="Times New Roman"/>
              </a:defRPr>
            </a:pPr>
            <a:r>
              <a:t>Denah penataan kedai 22 kursi padat dan rincian realisasi modal awal relokasi 2016</a:t>
            </a:r>
          </a:p>
        </p:txBody>
      </p:sp>
      <p:sp>
        <p:nvSpPr>
          <p:cNvPr id="6" name="Rounded Rectangle 5"/>
          <p:cNvSpPr/>
          <p:nvPr/>
        </p:nvSpPr>
        <p:spPr>
          <a:xfrm>
            <a:off x="731520" y="1737360"/>
            <a:ext cx="5212080" cy="44805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663440" cy="4114800"/>
          </a:xfrm>
          <a:prstGeom prst="rect">
            <a:avLst/>
          </a:prstGeom>
          <a:noFill/>
        </p:spPr>
        <p:txBody>
          <a:bodyPr wrap="none" lIns="0" rIns="0" tIns="0" bIns="0">
            <a:spAutoFit/>
          </a:bodyPr>
          <a:lstStyle/>
          <a:p>
            <a:pPr>
              <a:defRPr sz="1250" b="1">
                <a:solidFill>
                  <a:srgbClr val="F59E0B"/>
                </a:solidFill>
                <a:latin typeface="Times New Roman"/>
              </a:defRPr>
            </a:pPr>
            <a:r>
              <a:t>TATA LETAK KEDAI (RUKO 1 LANTAI - 22 KURSI PADAT)</a:t>
            </a:r>
          </a:p>
          <a:p>
            <a:br/>
            <a:pPr>
              <a:defRPr sz="1050">
                <a:solidFill>
                  <a:srgbClr val="F8FAFC"/>
                </a:solidFill>
                <a:latin typeface="Times New Roman"/>
              </a:defRPr>
            </a:pPr>
            <a:r>
              <a:t>▸ Area Depan (Teras Ruko):</a:t>
            </a:r>
            <a:br/>
            <a:r>
              <a:t>  Gerobak etalase open kitchen (stasiun rebus mie, dandang kaldu panas, kompor gas, meja bumbu &amp; 3 jenis minyak mie).</a:t>
            </a:r>
          </a:p>
          <a:p>
            <a:br/>
            <a:pPr>
              <a:defRPr sz="1050">
                <a:solidFill>
                  <a:srgbClr val="F8FAFC"/>
                </a:solidFill>
                <a:latin typeface="Times New Roman"/>
              </a:defRPr>
            </a:pPr>
            <a:r>
              <a:t>▸ Area Makan (Tengah):</a:t>
            </a:r>
            <a:br/>
            <a:r>
              <a:t>  Kapasitas 22 kursi padat: 4 meja pendek kayu (16 kursi) + 1 meja panjang menempel dinding (6 kursi), sirkulasi 6 kipas angin.</a:t>
            </a:r>
          </a:p>
          <a:p>
            <a:br/>
            <a:pPr>
              <a:defRPr sz="1050">
                <a:solidFill>
                  <a:srgbClr val="F8FAFC"/>
                </a:solidFill>
                <a:latin typeface="Times New Roman"/>
              </a:defRPr>
            </a:pPr>
            <a:r>
              <a:t>▸ Area Kasir &amp; Minuman:</a:t>
            </a:r>
            <a:br/>
            <a:r>
              <a:t>  Meja kasir nota manual, etalase minuman botol dingin (Badak, Liang Teh, Susu Kacang, Aqua, Teh Botol/Pucuk).</a:t>
            </a:r>
          </a:p>
          <a:p>
            <a:br/>
            <a:pPr>
              <a:defRPr sz="1050">
                <a:solidFill>
                  <a:srgbClr val="F8FAFC"/>
                </a:solidFill>
                <a:latin typeface="Times New Roman"/>
              </a:defRPr>
            </a:pPr>
            <a:r>
              <a:t>▸ Area Belakang (Dapur Cuci):</a:t>
            </a:r>
            <a:br/>
            <a:r>
              <a:t>  Dapur persiapan &amp; stok, 1 unit kulkas, 1 unit freezer daging beku, stasiun cuci piring mangkok, dan 1 toilet ruko.</a:t>
            </a:r>
          </a:p>
        </p:txBody>
      </p:sp>
      <p:sp>
        <p:nvSpPr>
          <p:cNvPr id="8" name="Rounded Rectangle 7"/>
          <p:cNvSpPr/>
          <p:nvPr/>
        </p:nvSpPr>
        <p:spPr>
          <a:xfrm>
            <a:off x="6217920" y="1737360"/>
            <a:ext cx="5212080" cy="44805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20240"/>
            <a:ext cx="4663440" cy="4114800"/>
          </a:xfrm>
          <a:prstGeom prst="rect">
            <a:avLst/>
          </a:prstGeom>
          <a:noFill/>
        </p:spPr>
        <p:txBody>
          <a:bodyPr wrap="none" lIns="0" rIns="0" tIns="0" bIns="0">
            <a:spAutoFit/>
          </a:bodyPr>
          <a:lstStyle/>
          <a:p>
            <a:pPr>
              <a:defRPr sz="1250" b="1">
                <a:solidFill>
                  <a:srgbClr val="38BDF8"/>
                </a:solidFill>
                <a:latin typeface="Times New Roman"/>
              </a:defRPr>
            </a:pPr>
            <a:r>
              <a:t>REALISASI MODAL AWAL RELOKASI 2016 (OUTLAY RP 62 JT)</a:t>
            </a:r>
          </a:p>
          <a:p>
            <a:pPr>
              <a:defRPr sz="1000">
                <a:solidFill>
                  <a:srgbClr val="F8FAFC"/>
                </a:solidFill>
                <a:latin typeface="Times New Roman"/>
              </a:defRPr>
            </a:pPr>
            <a:r>
              <a:t>• Gerobak Etalase Utama ➔ Rp 8.000.000 (Gerobak alumunium kaca stasiun open kitchen depan)</a:t>
            </a:r>
          </a:p>
          <a:p>
            <a:pPr>
              <a:defRPr sz="1000">
                <a:solidFill>
                  <a:srgbClr val="F8FAFC"/>
                </a:solidFill>
                <a:latin typeface="Times New Roman"/>
              </a:defRPr>
            </a:pPr>
            <a:r>
              <a:t>• Meja Makan &amp; Kursi ➔ Rp 8.300.000 (4 Meja pendek 2,8 Jt, Meja dinding 1,8 Jt, Kursi 37 pcs 3,7 Jt)</a:t>
            </a:r>
          </a:p>
          <a:p>
            <a:pPr>
              <a:defRPr sz="1000">
                <a:solidFill>
                  <a:srgbClr val="F8FAFC"/>
                </a:solidFill>
                <a:latin typeface="Times New Roman"/>
              </a:defRPr>
            </a:pPr>
            <a:r>
              <a:t>• Kipas Angin &amp; Pendingin ➔ Rp 6.900.000 (6 Kipas angin @150k = 900k, Kulkas 2,5 Jt, Freezer 3,5 Jt)</a:t>
            </a:r>
          </a:p>
          <a:p>
            <a:pPr>
              <a:defRPr sz="1000">
                <a:solidFill>
                  <a:srgbClr val="F8FAFC"/>
                </a:solidFill>
                <a:latin typeface="Times New Roman"/>
              </a:defRPr>
            </a:pPr>
            <a:r>
              <a:t>• Alat Dapur, Panci &amp; Stok Mangkok ➔ Rp 6.500.000 (Panci masak, dandang, mangkok makan, sendok, sumpit)</a:t>
            </a:r>
          </a:p>
          <a:p>
            <a:pPr>
              <a:defRPr sz="1000">
                <a:solidFill>
                  <a:srgbClr val="F8FAFC"/>
                </a:solidFill>
                <a:latin typeface="Times New Roman"/>
              </a:defRPr>
            </a:pPr>
            <a:r>
              <a:t>• Renovasi &amp; Signage Ruko ➔ Rp 11.000.000 (Cat ruko 1 lantai, kelistrikan/air, spanduk/plang nama)</a:t>
            </a:r>
          </a:p>
          <a:p>
            <a:pPr>
              <a:defRPr sz="1000">
                <a:solidFill>
                  <a:srgbClr val="F8FAFC"/>
                </a:solidFill>
                <a:latin typeface="Times New Roman"/>
              </a:defRPr>
            </a:pPr>
            <a:r>
              <a:t>• Sewa Tempat Ruko 1 Tahun ➔ Rp 20.000.000 (Alokasi biaya sewa ruko tahun pertama 2016)</a:t>
            </a:r>
          </a:p>
          <a:p>
            <a:pPr>
              <a:defRPr sz="1000">
                <a:solidFill>
                  <a:srgbClr val="F8FAFC"/>
                </a:solidFill>
                <a:latin typeface="Times New Roman"/>
              </a:defRPr>
            </a:pPr>
            <a:r>
              <a:t>• Biaya Pra-Operasi &amp; Perizinan ➔ Rp 1.300.000 (AMDAL/kebersihan 300k, survey 500k, promosi awal 500k)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IV: TEKNIS &amp; OPERASI</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13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Alur Proses Produksi &amp; Siklus Mingguan Adonan</a:t>
            </a:r>
          </a:p>
          <a:p>
            <a:pPr>
              <a:defRPr sz="1200">
                <a:solidFill>
                  <a:srgbClr val="94A3B8"/>
                </a:solidFill>
                <a:latin typeface="Times New Roman"/>
              </a:defRPr>
            </a:pPr>
            <a:r>
              <a:t>Tahapan pengolahan higienis dari adonan mingguan hingga siap disajikan</a:t>
            </a:r>
          </a:p>
        </p:txBody>
      </p:sp>
      <p:sp>
        <p:nvSpPr>
          <p:cNvPr id="6" name="Rounded Rectangle 5"/>
          <p:cNvSpPr/>
          <p:nvPr/>
        </p:nvSpPr>
        <p:spPr>
          <a:xfrm>
            <a:off x="731520" y="1737360"/>
            <a:ext cx="20116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920240"/>
            <a:ext cx="1737360" cy="36576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1737360" cy="365760"/>
          </a:xfrm>
          <a:prstGeom prst="rect">
            <a:avLst/>
          </a:prstGeom>
          <a:noFill/>
        </p:spPr>
        <p:txBody>
          <a:bodyPr wrap="none" lIns="0" rIns="0" tIns="0" bIns="0">
            <a:spAutoFit/>
          </a:bodyPr>
          <a:lstStyle/>
          <a:p>
            <a:pPr algn="ctr">
              <a:defRPr sz="1100" b="1">
                <a:solidFill>
                  <a:srgbClr val="F59E0B"/>
                </a:solidFill>
                <a:latin typeface="Times New Roman"/>
              </a:defRPr>
            </a:pPr>
            <a:r>
              <a:t>LANGKAH 01</a:t>
            </a:r>
          </a:p>
        </p:txBody>
      </p:sp>
      <p:sp>
        <p:nvSpPr>
          <p:cNvPr id="9" name="TextBox 8"/>
          <p:cNvSpPr txBox="1"/>
          <p:nvPr/>
        </p:nvSpPr>
        <p:spPr>
          <a:xfrm>
            <a:off x="868680" y="2423160"/>
            <a:ext cx="1737360" cy="3657600"/>
          </a:xfrm>
          <a:prstGeom prst="rect">
            <a:avLst/>
          </a:prstGeom>
          <a:noFill/>
        </p:spPr>
        <p:txBody>
          <a:bodyPr wrap="none" lIns="0" rIns="0" tIns="0" bIns="0">
            <a:spAutoFit/>
          </a:bodyPr>
          <a:lstStyle/>
          <a:p>
            <a:pPr>
              <a:defRPr sz="1200" b="1">
                <a:solidFill>
                  <a:srgbClr val="F8FAFC"/>
                </a:solidFill>
                <a:latin typeface="Times New Roman"/>
              </a:defRPr>
            </a:pPr>
            <a:r>
              <a:t>Adonan Fresh Mingguan</a:t>
            </a:r>
          </a:p>
          <a:p>
            <a:pPr>
              <a:defRPr sz="1000">
                <a:solidFill>
                  <a:srgbClr val="38BDF8"/>
                </a:solidFill>
                <a:latin typeface="Times New Roman"/>
              </a:defRPr>
            </a:pPr>
            <a:r>
              <a:t>Waktu: Setiap Minggu Pagi</a:t>
            </a:r>
          </a:p>
          <a:p>
            <a:br/>
            <a:pPr>
              <a:defRPr sz="1050">
                <a:solidFill>
                  <a:srgbClr val="94A3B8"/>
                </a:solidFill>
                <a:latin typeface="Times New Roman"/>
              </a:defRPr>
            </a:pPr>
            <a:r>
              <a:t>Adonan mie dibuat mandiri secara konsisten setiap minggu tanpa bahan pengawet kimia.</a:t>
            </a:r>
          </a:p>
        </p:txBody>
      </p:sp>
      <p:sp>
        <p:nvSpPr>
          <p:cNvPr id="10" name="Rounded Rectangle 9"/>
          <p:cNvSpPr/>
          <p:nvPr/>
        </p:nvSpPr>
        <p:spPr>
          <a:xfrm>
            <a:off x="2907791" y="1737360"/>
            <a:ext cx="20116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44951" y="1920240"/>
            <a:ext cx="1737360" cy="36576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44951" y="1920240"/>
            <a:ext cx="1737360" cy="365760"/>
          </a:xfrm>
          <a:prstGeom prst="rect">
            <a:avLst/>
          </a:prstGeom>
          <a:noFill/>
        </p:spPr>
        <p:txBody>
          <a:bodyPr wrap="none" lIns="0" rIns="0" tIns="0" bIns="0">
            <a:spAutoFit/>
          </a:bodyPr>
          <a:lstStyle/>
          <a:p>
            <a:pPr algn="ctr">
              <a:defRPr sz="1100" b="1">
                <a:solidFill>
                  <a:srgbClr val="F59E0B"/>
                </a:solidFill>
                <a:latin typeface="Times New Roman"/>
              </a:defRPr>
            </a:pPr>
            <a:r>
              <a:t>LANGKAH 02</a:t>
            </a:r>
          </a:p>
        </p:txBody>
      </p:sp>
      <p:sp>
        <p:nvSpPr>
          <p:cNvPr id="13" name="TextBox 12"/>
          <p:cNvSpPr txBox="1"/>
          <p:nvPr/>
        </p:nvSpPr>
        <p:spPr>
          <a:xfrm>
            <a:off x="3044951" y="2423160"/>
            <a:ext cx="1737360" cy="3657600"/>
          </a:xfrm>
          <a:prstGeom prst="rect">
            <a:avLst/>
          </a:prstGeom>
          <a:noFill/>
        </p:spPr>
        <p:txBody>
          <a:bodyPr wrap="none" lIns="0" rIns="0" tIns="0" bIns="0">
            <a:spAutoFit/>
          </a:bodyPr>
          <a:lstStyle/>
          <a:p>
            <a:pPr>
              <a:defRPr sz="1200" b="1">
                <a:solidFill>
                  <a:srgbClr val="F8FAFC"/>
                </a:solidFill>
                <a:latin typeface="Times New Roman"/>
              </a:defRPr>
            </a:pPr>
            <a:r>
              <a:t>Pengolahan 3 Topping Murni</a:t>
            </a:r>
          </a:p>
          <a:p>
            <a:pPr>
              <a:defRPr sz="1000">
                <a:solidFill>
                  <a:srgbClr val="38BDF8"/>
                </a:solidFill>
                <a:latin typeface="Times New Roman"/>
              </a:defRPr>
            </a:pPr>
            <a:r>
              <a:t>Waktu: 05.30 - 07.30 WIB</a:t>
            </a:r>
          </a:p>
          <a:p>
            <a:br/>
            <a:pPr>
              <a:defRPr sz="1050">
                <a:solidFill>
                  <a:srgbClr val="94A3B8"/>
                </a:solidFill>
                <a:latin typeface="Times New Roman"/>
              </a:defRPr>
            </a:pPr>
            <a:r>
              <a:t>Memanggang babi casiu madu, menumis babi kecap gurih, dan merebus potongan ayam putih.</a:t>
            </a:r>
          </a:p>
        </p:txBody>
      </p:sp>
      <p:sp>
        <p:nvSpPr>
          <p:cNvPr id="14" name="Rounded Rectangle 13"/>
          <p:cNvSpPr/>
          <p:nvPr/>
        </p:nvSpPr>
        <p:spPr>
          <a:xfrm>
            <a:off x="5084064" y="1737360"/>
            <a:ext cx="20116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21224" y="1920240"/>
            <a:ext cx="1737360" cy="36576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21224" y="1920240"/>
            <a:ext cx="1737360" cy="365760"/>
          </a:xfrm>
          <a:prstGeom prst="rect">
            <a:avLst/>
          </a:prstGeom>
          <a:noFill/>
        </p:spPr>
        <p:txBody>
          <a:bodyPr wrap="none" lIns="0" rIns="0" tIns="0" bIns="0">
            <a:spAutoFit/>
          </a:bodyPr>
          <a:lstStyle/>
          <a:p>
            <a:pPr algn="ctr">
              <a:defRPr sz="1100" b="1">
                <a:solidFill>
                  <a:srgbClr val="F59E0B"/>
                </a:solidFill>
                <a:latin typeface="Times New Roman"/>
              </a:defRPr>
            </a:pPr>
            <a:r>
              <a:t>LANGKAH 03</a:t>
            </a:r>
          </a:p>
        </p:txBody>
      </p:sp>
      <p:sp>
        <p:nvSpPr>
          <p:cNvPr id="17" name="TextBox 16"/>
          <p:cNvSpPr txBox="1"/>
          <p:nvPr/>
        </p:nvSpPr>
        <p:spPr>
          <a:xfrm>
            <a:off x="5221224" y="2423160"/>
            <a:ext cx="1737360" cy="3657600"/>
          </a:xfrm>
          <a:prstGeom prst="rect">
            <a:avLst/>
          </a:prstGeom>
          <a:noFill/>
        </p:spPr>
        <p:txBody>
          <a:bodyPr wrap="none" lIns="0" rIns="0" tIns="0" bIns="0">
            <a:spAutoFit/>
          </a:bodyPr>
          <a:lstStyle/>
          <a:p>
            <a:pPr>
              <a:defRPr sz="1200" b="1">
                <a:solidFill>
                  <a:srgbClr val="F8FAFC"/>
                </a:solidFill>
                <a:latin typeface="Times New Roman"/>
              </a:defRPr>
            </a:pPr>
            <a:r>
              <a:t>Racikan 3 Minyak &amp; Kaldu</a:t>
            </a:r>
          </a:p>
          <a:p>
            <a:pPr>
              <a:defRPr sz="1000">
                <a:solidFill>
                  <a:srgbClr val="38BDF8"/>
                </a:solidFill>
                <a:latin typeface="Times New Roman"/>
              </a:defRPr>
            </a:pPr>
            <a:r>
              <a:t>Waktu: 06.00 - 08.00 WIB</a:t>
            </a:r>
          </a:p>
          <a:p>
            <a:br/>
            <a:pPr>
              <a:defRPr sz="1050">
                <a:solidFill>
                  <a:srgbClr val="94A3B8"/>
                </a:solidFill>
                <a:latin typeface="Times New Roman"/>
              </a:defRPr>
            </a:pPr>
            <a:r>
              <a:t>Menyiapkan minyak babi, minyak ayam, dan minyak sayur+wijen serta rebusan kaldu tulang gurih.</a:t>
            </a:r>
          </a:p>
        </p:txBody>
      </p:sp>
      <p:sp>
        <p:nvSpPr>
          <p:cNvPr id="18" name="Rounded Rectangle 17"/>
          <p:cNvSpPr/>
          <p:nvPr/>
        </p:nvSpPr>
        <p:spPr>
          <a:xfrm>
            <a:off x="7260336" y="1737360"/>
            <a:ext cx="2011680" cy="44805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97496" y="1920240"/>
            <a:ext cx="1737360" cy="36576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97496" y="1920240"/>
            <a:ext cx="1737360" cy="365760"/>
          </a:xfrm>
          <a:prstGeom prst="rect">
            <a:avLst/>
          </a:prstGeom>
          <a:noFill/>
        </p:spPr>
        <p:txBody>
          <a:bodyPr wrap="none" lIns="0" rIns="0" tIns="0" bIns="0">
            <a:spAutoFit/>
          </a:bodyPr>
          <a:lstStyle/>
          <a:p>
            <a:pPr algn="ctr">
              <a:defRPr sz="1100" b="1">
                <a:solidFill>
                  <a:srgbClr val="F59E0B"/>
                </a:solidFill>
                <a:latin typeface="Times New Roman"/>
              </a:defRPr>
            </a:pPr>
            <a:r>
              <a:t>LANGKAH 04</a:t>
            </a:r>
          </a:p>
        </p:txBody>
      </p:sp>
      <p:sp>
        <p:nvSpPr>
          <p:cNvPr id="21" name="TextBox 20"/>
          <p:cNvSpPr txBox="1"/>
          <p:nvPr/>
        </p:nvSpPr>
        <p:spPr>
          <a:xfrm>
            <a:off x="7397496" y="2423160"/>
            <a:ext cx="1737360" cy="3657600"/>
          </a:xfrm>
          <a:prstGeom prst="rect">
            <a:avLst/>
          </a:prstGeom>
          <a:noFill/>
        </p:spPr>
        <p:txBody>
          <a:bodyPr wrap="none" lIns="0" rIns="0" tIns="0" bIns="0">
            <a:spAutoFit/>
          </a:bodyPr>
          <a:lstStyle/>
          <a:p>
            <a:pPr>
              <a:defRPr sz="1200" b="1">
                <a:solidFill>
                  <a:srgbClr val="F8FAFC"/>
                </a:solidFill>
                <a:latin typeface="Times New Roman"/>
              </a:defRPr>
            </a:pPr>
            <a:r>
              <a:t>Perebusan Mie Seketika</a:t>
            </a:r>
          </a:p>
          <a:p>
            <a:pPr>
              <a:defRPr sz="1000">
                <a:solidFill>
                  <a:srgbClr val="38BDF8"/>
                </a:solidFill>
                <a:latin typeface="Times New Roman"/>
              </a:defRPr>
            </a:pPr>
            <a:r>
              <a:t>Waktu: Saat Order Masuk</a:t>
            </a:r>
          </a:p>
          <a:p>
            <a:br/>
            <a:pPr>
              <a:defRPr sz="1050">
                <a:solidFill>
                  <a:srgbClr val="94A3B8"/>
                </a:solidFill>
                <a:latin typeface="Times New Roman"/>
              </a:defRPr>
            </a:pPr>
            <a:r>
              <a:t>Mie direbus 45 detik dalam air mendidih saat nota pesanan diterima dari tamu/kasir.</a:t>
            </a:r>
          </a:p>
        </p:txBody>
      </p:sp>
      <p:sp>
        <p:nvSpPr>
          <p:cNvPr id="22" name="Rounded Rectangle 21"/>
          <p:cNvSpPr/>
          <p:nvPr/>
        </p:nvSpPr>
        <p:spPr>
          <a:xfrm>
            <a:off x="9436608" y="1737360"/>
            <a:ext cx="20116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573768" y="1920240"/>
            <a:ext cx="1737360" cy="365760"/>
          </a:xfrm>
          <a:prstGeom prst="roundRect">
            <a:avLst/>
          </a:prstGeom>
          <a:solidFill>
            <a:srgbClr val="0F172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73768" y="1920240"/>
            <a:ext cx="1737360" cy="365760"/>
          </a:xfrm>
          <a:prstGeom prst="rect">
            <a:avLst/>
          </a:prstGeom>
          <a:noFill/>
        </p:spPr>
        <p:txBody>
          <a:bodyPr wrap="none" lIns="0" rIns="0" tIns="0" bIns="0">
            <a:spAutoFit/>
          </a:bodyPr>
          <a:lstStyle/>
          <a:p>
            <a:pPr algn="ctr">
              <a:defRPr sz="1100" b="1">
                <a:solidFill>
                  <a:srgbClr val="F59E0B"/>
                </a:solidFill>
                <a:latin typeface="Times New Roman"/>
              </a:defRPr>
            </a:pPr>
            <a:r>
              <a:t>LANGKAH 05</a:t>
            </a:r>
          </a:p>
        </p:txBody>
      </p:sp>
      <p:sp>
        <p:nvSpPr>
          <p:cNvPr id="25" name="TextBox 24"/>
          <p:cNvSpPr txBox="1"/>
          <p:nvPr/>
        </p:nvSpPr>
        <p:spPr>
          <a:xfrm>
            <a:off x="9573768" y="2423160"/>
            <a:ext cx="1737360" cy="3657600"/>
          </a:xfrm>
          <a:prstGeom prst="rect">
            <a:avLst/>
          </a:prstGeom>
          <a:noFill/>
        </p:spPr>
        <p:txBody>
          <a:bodyPr wrap="none" lIns="0" rIns="0" tIns="0" bIns="0">
            <a:spAutoFit/>
          </a:bodyPr>
          <a:lstStyle/>
          <a:p>
            <a:pPr>
              <a:defRPr sz="1200" b="1">
                <a:solidFill>
                  <a:srgbClr val="F8FAFC"/>
                </a:solidFill>
                <a:latin typeface="Times New Roman"/>
              </a:defRPr>
            </a:pPr>
            <a:r>
              <a:t>Plating &amp; Penyajian Cepat</a:t>
            </a:r>
          </a:p>
          <a:p>
            <a:pPr>
              <a:defRPr sz="1000">
                <a:solidFill>
                  <a:srgbClr val="38BDF8"/>
                </a:solidFill>
                <a:latin typeface="Times New Roman"/>
              </a:defRPr>
            </a:pPr>
            <a:r>
              <a:t>Waktu: &lt; 5 Menit Total</a:t>
            </a:r>
          </a:p>
          <a:p>
            <a:br/>
            <a:pPr>
              <a:defRPr sz="1050">
                <a:solidFill>
                  <a:srgbClr val="94A3B8"/>
                </a:solidFill>
                <a:latin typeface="Times New Roman"/>
              </a:defRPr>
            </a:pPr>
            <a:r>
              <a:t>Pencampuran minyak pilihan, penataan topping daging melimpah, daun bawang, &amp; saus meja.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IV: TEKNIS &amp; OPERASI</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14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Jadwal Pelaksanaan Pra-Operasi Relokasi 2016</a:t>
            </a:r>
          </a:p>
          <a:p>
            <a:pPr>
              <a:defRPr sz="1200">
                <a:solidFill>
                  <a:srgbClr val="94A3B8"/>
                </a:solidFill>
                <a:latin typeface="Times New Roman"/>
              </a:defRPr>
            </a:pPr>
            <a:r>
              <a:t>Rencana timeline 12 minggu persiapan operasional gerai Duri Kosambi</a:t>
            </a:r>
          </a:p>
        </p:txBody>
      </p:sp>
      <p:sp>
        <p:nvSpPr>
          <p:cNvPr id="6" name="Rounded Rectangle 5"/>
          <p:cNvSpPr/>
          <p:nvPr/>
        </p:nvSpPr>
        <p:spPr>
          <a:xfrm>
            <a:off x="731520" y="1737360"/>
            <a:ext cx="5212080" cy="21031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20"/>
            <a:ext cx="4846320" cy="1828800"/>
          </a:xfrm>
          <a:prstGeom prst="rect">
            <a:avLst/>
          </a:prstGeom>
          <a:noFill/>
        </p:spPr>
        <p:txBody>
          <a:bodyPr wrap="none" lIns="0" rIns="0" tIns="0" bIns="0">
            <a:spAutoFit/>
          </a:bodyPr>
          <a:lstStyle/>
          <a:p>
            <a:pPr>
              <a:defRPr sz="1200" b="1">
                <a:solidFill>
                  <a:srgbClr val="F59E0B"/>
                </a:solidFill>
                <a:latin typeface="Times New Roman"/>
              </a:defRPr>
            </a:pPr>
            <a:r>
              <a:t>FASE 1: SURVEY &amp; SEWA RUKO</a:t>
            </a:r>
          </a:p>
          <a:p>
            <a:pPr>
              <a:defRPr sz="1000">
                <a:solidFill>
                  <a:srgbClr val="94A3B8"/>
                </a:solidFill>
                <a:latin typeface="Times New Roman"/>
              </a:defRPr>
            </a:pPr>
            <a:r>
              <a:t>Jadwal: Minggu 1 - 4</a:t>
            </a:r>
          </a:p>
          <a:p>
            <a:pPr>
              <a:defRPr sz="1000">
                <a:solidFill>
                  <a:srgbClr val="F8FAFC"/>
                </a:solidFill>
                <a:latin typeface="Times New Roman"/>
              </a:defRPr>
            </a:pPr>
            <a:r>
              <a:t>• A. Observasi lokasi Jl. Angsoka Hijau IV depan Kalam Kudus.</a:t>
            </a:r>
          </a:p>
          <a:p>
            <a:pPr>
              <a:defRPr sz="1000">
                <a:solidFill>
                  <a:srgbClr val="F8FAFC"/>
                </a:solidFill>
                <a:latin typeface="Times New Roman"/>
              </a:defRPr>
            </a:pPr>
            <a:r>
              <a:t>• B. Negosiasi dan pembayaran sewa ruko 1 lantai Rp 20.000.000.</a:t>
            </a:r>
          </a:p>
          <a:p>
            <a:pPr>
              <a:defRPr sz="1000">
                <a:solidFill>
                  <a:srgbClr val="F8FAFC"/>
                </a:solidFill>
                <a:latin typeface="Times New Roman"/>
              </a:defRPr>
            </a:pPr>
            <a:r>
              <a:t>• C. Pengurusan izin lingkungan RT/RW dan retribusi kebersihan.</a:t>
            </a:r>
          </a:p>
          <a:p>
            <a:pPr>
              <a:defRPr sz="1000">
                <a:solidFill>
                  <a:srgbClr val="F8FAFC"/>
                </a:solidFill>
                <a:latin typeface="Times New Roman"/>
              </a:defRPr>
            </a:pPr>
            <a:r>
              <a:t>• D. Analisis potensi pasar sarapan murid dan orang tua sekolah.</a:t>
            </a:r>
          </a:p>
        </p:txBody>
      </p:sp>
      <p:sp>
        <p:nvSpPr>
          <p:cNvPr id="8" name="Rounded Rectangle 7"/>
          <p:cNvSpPr/>
          <p:nvPr/>
        </p:nvSpPr>
        <p:spPr>
          <a:xfrm>
            <a:off x="6217920" y="1737360"/>
            <a:ext cx="5212080" cy="210312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74520"/>
            <a:ext cx="4846320" cy="1828800"/>
          </a:xfrm>
          <a:prstGeom prst="rect">
            <a:avLst/>
          </a:prstGeom>
          <a:noFill/>
        </p:spPr>
        <p:txBody>
          <a:bodyPr wrap="none" lIns="0" rIns="0" tIns="0" bIns="0">
            <a:spAutoFit/>
          </a:bodyPr>
          <a:lstStyle/>
          <a:p>
            <a:pPr>
              <a:defRPr sz="1200" b="1">
                <a:solidFill>
                  <a:srgbClr val="38BDF8"/>
                </a:solidFill>
                <a:latin typeface="Times New Roman"/>
              </a:defRPr>
            </a:pPr>
            <a:r>
              <a:t>FASE 2: RENOVASI &amp; FIT-OUT KEDAI</a:t>
            </a:r>
          </a:p>
          <a:p>
            <a:pPr>
              <a:defRPr sz="1000">
                <a:solidFill>
                  <a:srgbClr val="94A3B8"/>
                </a:solidFill>
                <a:latin typeface="Times New Roman"/>
              </a:defRPr>
            </a:pPr>
            <a:r>
              <a:t>Jadwal: Minggu 5 - 8</a:t>
            </a:r>
          </a:p>
          <a:p>
            <a:pPr>
              <a:defRPr sz="1000">
                <a:solidFill>
                  <a:srgbClr val="F8FAFC"/>
                </a:solidFill>
                <a:latin typeface="Times New Roman"/>
              </a:defRPr>
            </a:pPr>
            <a:r>
              <a:t>• E. Pengecatan ruko 1 lantai dan perbaikan instalasi pipa air.</a:t>
            </a:r>
          </a:p>
          <a:p>
            <a:pPr>
              <a:defRPr sz="1000">
                <a:solidFill>
                  <a:srgbClr val="F8FAFC"/>
                </a:solidFill>
                <a:latin typeface="Times New Roman"/>
              </a:defRPr>
            </a:pPr>
            <a:r>
              <a:t>• F. Pemasangan 6 unit kipas angin dinding/plafon (@Rp 150.000).</a:t>
            </a:r>
          </a:p>
          <a:p>
            <a:pPr>
              <a:defRPr sz="1000">
                <a:solidFill>
                  <a:srgbClr val="F8FAFC"/>
                </a:solidFill>
                <a:latin typeface="Times New Roman"/>
              </a:defRPr>
            </a:pPr>
            <a:r>
              <a:t>• G. Penataan teras depan untuk stasiun gerobak open kitchen.</a:t>
            </a:r>
          </a:p>
          <a:p>
            <a:pPr>
              <a:defRPr sz="1000">
                <a:solidFill>
                  <a:srgbClr val="F8FAFC"/>
                </a:solidFill>
                <a:latin typeface="Times New Roman"/>
              </a:defRPr>
            </a:pPr>
            <a:r>
              <a:t>• H. Pemasangan spanduk dan plang nama kedai Bakmi Mimu.</a:t>
            </a:r>
          </a:p>
        </p:txBody>
      </p:sp>
      <p:sp>
        <p:nvSpPr>
          <p:cNvPr id="10" name="Rounded Rectangle 9"/>
          <p:cNvSpPr/>
          <p:nvPr/>
        </p:nvSpPr>
        <p:spPr>
          <a:xfrm>
            <a:off x="731520" y="4023360"/>
            <a:ext cx="5212080" cy="21031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4846320" cy="1828800"/>
          </a:xfrm>
          <a:prstGeom prst="rect">
            <a:avLst/>
          </a:prstGeom>
          <a:noFill/>
        </p:spPr>
        <p:txBody>
          <a:bodyPr wrap="none" lIns="0" rIns="0" tIns="0" bIns="0">
            <a:spAutoFit/>
          </a:bodyPr>
          <a:lstStyle/>
          <a:p>
            <a:pPr>
              <a:defRPr sz="1200" b="1">
                <a:solidFill>
                  <a:srgbClr val="10B981"/>
                </a:solidFill>
                <a:latin typeface="Times New Roman"/>
              </a:defRPr>
            </a:pPr>
            <a:r>
              <a:t>FASE 3: PENGADAAN &amp; SETTING DAPUR</a:t>
            </a:r>
          </a:p>
          <a:p>
            <a:pPr>
              <a:defRPr sz="1000">
                <a:solidFill>
                  <a:srgbClr val="94A3B8"/>
                </a:solidFill>
                <a:latin typeface="Times New Roman"/>
              </a:defRPr>
            </a:pPr>
            <a:r>
              <a:t>Jadwal: Minggu 9 - 10</a:t>
            </a:r>
          </a:p>
          <a:p>
            <a:pPr>
              <a:defRPr sz="1000">
                <a:solidFill>
                  <a:srgbClr val="F8FAFC"/>
                </a:solidFill>
                <a:latin typeface="Times New Roman"/>
              </a:defRPr>
            </a:pPr>
            <a:r>
              <a:t>• I. Pembuatan gerobak etalase kaca stasiun masak (Rp 8 Jt).</a:t>
            </a:r>
          </a:p>
          <a:p>
            <a:pPr>
              <a:defRPr sz="1000">
                <a:solidFill>
                  <a:srgbClr val="F8FAFC"/>
                </a:solidFill>
                <a:latin typeface="Times New Roman"/>
              </a:defRPr>
            </a:pPr>
            <a:r>
              <a:t>• J. Pengadaan 4 meja pendek, meja dinding, dan kursi 37 pcs.</a:t>
            </a:r>
          </a:p>
          <a:p>
            <a:pPr>
              <a:defRPr sz="1000">
                <a:solidFill>
                  <a:srgbClr val="F8FAFC"/>
                </a:solidFill>
                <a:latin typeface="Times New Roman"/>
              </a:defRPr>
            </a:pPr>
            <a:r>
              <a:t>• K. Pembelian 1 kulkas, 1 freezer daging, panci masak &amp; mangkok.</a:t>
            </a:r>
          </a:p>
          <a:p>
            <a:pPr>
              <a:defRPr sz="1000">
                <a:solidFill>
                  <a:srgbClr val="F8FAFC"/>
                </a:solidFill>
                <a:latin typeface="Times New Roman"/>
              </a:defRPr>
            </a:pPr>
            <a:r>
              <a:t>• L. Pengadaan saus standar (Belibis &amp; Mangga Besar) dan botol meja.</a:t>
            </a:r>
          </a:p>
        </p:txBody>
      </p:sp>
      <p:sp>
        <p:nvSpPr>
          <p:cNvPr id="12" name="Rounded Rectangle 11"/>
          <p:cNvSpPr/>
          <p:nvPr/>
        </p:nvSpPr>
        <p:spPr>
          <a:xfrm>
            <a:off x="6217920" y="4023360"/>
            <a:ext cx="5212080" cy="210312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60520"/>
            <a:ext cx="4846320" cy="1828800"/>
          </a:xfrm>
          <a:prstGeom prst="rect">
            <a:avLst/>
          </a:prstGeom>
          <a:noFill/>
        </p:spPr>
        <p:txBody>
          <a:bodyPr wrap="none" lIns="0" rIns="0" tIns="0" bIns="0">
            <a:spAutoFit/>
          </a:bodyPr>
          <a:lstStyle/>
          <a:p>
            <a:pPr>
              <a:defRPr sz="1200" b="1">
                <a:solidFill>
                  <a:srgbClr val="FBBF24"/>
                </a:solidFill>
                <a:latin typeface="Times New Roman"/>
              </a:defRPr>
            </a:pPr>
            <a:r>
              <a:t>FASE 4: TRIAL RUN &amp; PEMBUKAAN</a:t>
            </a:r>
          </a:p>
          <a:p>
            <a:pPr>
              <a:defRPr sz="1000">
                <a:solidFill>
                  <a:srgbClr val="94A3B8"/>
                </a:solidFill>
                <a:latin typeface="Times New Roman"/>
              </a:defRPr>
            </a:pPr>
            <a:r>
              <a:t>Jadwal: Minggu 11 - 12</a:t>
            </a:r>
          </a:p>
          <a:p>
            <a:pPr>
              <a:defRPr sz="1000">
                <a:solidFill>
                  <a:srgbClr val="F8FAFC"/>
                </a:solidFill>
                <a:latin typeface="Times New Roman"/>
              </a:defRPr>
            </a:pPr>
            <a:r>
              <a:t>• M. Rekrutmen 3 karyawan tetap (Koki, Asisten Koki, Kasir-Pramusaji).</a:t>
            </a:r>
          </a:p>
          <a:p>
            <a:pPr>
              <a:defRPr sz="1000">
                <a:solidFill>
                  <a:srgbClr val="F8FAFC"/>
                </a:solidFill>
                <a:latin typeface="Times New Roman"/>
              </a:defRPr>
            </a:pPr>
            <a:r>
              <a:t>• N. Uji coba pembuatan adonan mie mingguan dan kaldu SOP 1999.</a:t>
            </a:r>
          </a:p>
          <a:p>
            <a:pPr>
              <a:defRPr sz="1000">
                <a:solidFill>
                  <a:srgbClr val="F8FAFC"/>
                </a:solidFill>
                <a:latin typeface="Times New Roman"/>
              </a:defRPr>
            </a:pPr>
            <a:r>
              <a:t>• O. Simulasi alur pelayanan meja dine-in 22 kursi dan nota manual.</a:t>
            </a:r>
          </a:p>
          <a:p>
            <a:pPr>
              <a:defRPr sz="1000">
                <a:solidFill>
                  <a:srgbClr val="F8FAFC"/>
                </a:solidFill>
                <a:latin typeface="Times New Roman"/>
              </a:defRPr>
            </a:pPr>
            <a:r>
              <a:t>• P. Pembukaan resmi gerai Duri Kosambi melayani warga sekitar.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V: ASPEK KEUANGAN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15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Rencana Modal Investasi Awal (Initial Outlay)</a:t>
            </a:r>
          </a:p>
          <a:p>
            <a:pPr>
              <a:defRPr sz="1200">
                <a:solidFill>
                  <a:srgbClr val="94A3B8"/>
                </a:solidFill>
                <a:latin typeface="Times New Roman"/>
              </a:defRPr>
            </a:pPr>
            <a:r>
              <a:t>Alokasi anggaran modal awal relokasi 2016 untuk pembukaan kedai Duri Kosambi</a:t>
            </a:r>
          </a:p>
        </p:txBody>
      </p:sp>
      <p:sp>
        <p:nvSpPr>
          <p:cNvPr id="6" name="Rounded Rectangle 5"/>
          <p:cNvSpPr/>
          <p:nvPr/>
        </p:nvSpPr>
        <p:spPr>
          <a:xfrm>
            <a:off x="731520" y="1737360"/>
            <a:ext cx="10698480" cy="12801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097280"/>
          </a:xfrm>
          <a:prstGeom prst="rect">
            <a:avLst/>
          </a:prstGeom>
          <a:noFill/>
        </p:spPr>
        <p:txBody>
          <a:bodyPr wrap="none" lIns="0" rIns="0" tIns="0" bIns="0">
            <a:spAutoFit/>
          </a:bodyPr>
          <a:lstStyle/>
          <a:p>
            <a:pPr>
              <a:defRPr sz="2200" b="1">
                <a:solidFill>
                  <a:srgbClr val="F59E0B"/>
                </a:solidFill>
                <a:latin typeface="Times New Roman"/>
              </a:defRPr>
            </a:pPr>
            <a:r>
              <a:t>TOTAL INITIAL OUTLAY KEBUTUHAN MODAL: RP 62.000.000</a:t>
            </a:r>
          </a:p>
          <a:p>
            <a:pPr>
              <a:defRPr sz="1150">
                <a:solidFill>
                  <a:srgbClr val="F8FAFC"/>
                </a:solidFill>
                <a:latin typeface="Times New Roman"/>
              </a:defRPr>
            </a:pPr>
            <a:r>
              <a:t>Investasi awal didanai 100% modal sendiri tanpa utang bank. Seluruh alokasi modal difokuskan untuk pengadaan aktiva tetap gerobak &amp; fasilitas kedai, sewa tempat ruko 1 tahun, dan pra-operasi.</a:t>
            </a:r>
          </a:p>
        </p:txBody>
      </p:sp>
      <p:sp>
        <p:nvSpPr>
          <p:cNvPr id="8" name="Rounded Rectangle 7"/>
          <p:cNvSpPr/>
          <p:nvPr/>
        </p:nvSpPr>
        <p:spPr>
          <a:xfrm>
            <a:off x="731520" y="3246120"/>
            <a:ext cx="201168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429000"/>
            <a:ext cx="1737360" cy="2560320"/>
          </a:xfrm>
          <a:prstGeom prst="rect">
            <a:avLst/>
          </a:prstGeom>
          <a:noFill/>
        </p:spPr>
        <p:txBody>
          <a:bodyPr wrap="none" lIns="0" rIns="0" tIns="0" bIns="0">
            <a:spAutoFit/>
          </a:bodyPr>
          <a:lstStyle/>
          <a:p>
            <a:pPr>
              <a:defRPr sz="1100" b="1">
                <a:solidFill>
                  <a:srgbClr val="F8FAFC"/>
                </a:solidFill>
                <a:latin typeface="Times New Roman"/>
              </a:defRPr>
            </a:pPr>
            <a:r>
              <a:t>01. Aktiva Tetap (Capex)</a:t>
            </a:r>
          </a:p>
          <a:p>
            <a:pPr>
              <a:defRPr sz="1400" b="1">
                <a:solidFill>
                  <a:srgbClr val="F59E0B"/>
                </a:solidFill>
                <a:latin typeface="Times New Roman"/>
              </a:defRPr>
            </a:pPr>
            <a:r>
              <a:t>Rp 40.700.000</a:t>
            </a:r>
          </a:p>
          <a:p>
            <a:pPr>
              <a:defRPr sz="1000">
                <a:solidFill>
                  <a:srgbClr val="10B981"/>
                </a:solidFill>
                <a:latin typeface="Times New Roman"/>
              </a:defRPr>
            </a:pPr>
            <a:r>
              <a:t>Porsi: 65,6%</a:t>
            </a:r>
          </a:p>
          <a:p>
            <a:br/>
            <a:pPr>
              <a:defRPr sz="1000">
                <a:solidFill>
                  <a:srgbClr val="94A3B8"/>
                </a:solidFill>
                <a:latin typeface="Times New Roman"/>
              </a:defRPr>
            </a:pPr>
            <a:r>
              <a:t>Pengadaan gerobak etalase, meja, kursi 37 pcs, kipas angin, kulkas, freezer, panci, &amp; mangkok.</a:t>
            </a:r>
          </a:p>
        </p:txBody>
      </p:sp>
      <p:sp>
        <p:nvSpPr>
          <p:cNvPr id="10" name="Rounded Rectangle 9"/>
          <p:cNvSpPr/>
          <p:nvPr/>
        </p:nvSpPr>
        <p:spPr>
          <a:xfrm>
            <a:off x="2907791" y="3246120"/>
            <a:ext cx="201168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44951" y="3429000"/>
            <a:ext cx="1737360" cy="2560320"/>
          </a:xfrm>
          <a:prstGeom prst="rect">
            <a:avLst/>
          </a:prstGeom>
          <a:noFill/>
        </p:spPr>
        <p:txBody>
          <a:bodyPr wrap="none" lIns="0" rIns="0" tIns="0" bIns="0">
            <a:spAutoFit/>
          </a:bodyPr>
          <a:lstStyle/>
          <a:p>
            <a:pPr>
              <a:defRPr sz="1100" b="1">
                <a:solidFill>
                  <a:srgbClr val="F8FAFC"/>
                </a:solidFill>
                <a:latin typeface="Times New Roman"/>
              </a:defRPr>
            </a:pPr>
            <a:r>
              <a:t>02. Sewa Tempat Ruko</a:t>
            </a:r>
          </a:p>
          <a:p>
            <a:pPr>
              <a:defRPr sz="1400" b="1">
                <a:solidFill>
                  <a:srgbClr val="F59E0B"/>
                </a:solidFill>
                <a:latin typeface="Times New Roman"/>
              </a:defRPr>
            </a:pPr>
            <a:r>
              <a:t>Rp 20.000.000</a:t>
            </a:r>
          </a:p>
          <a:p>
            <a:pPr>
              <a:defRPr sz="1000">
                <a:solidFill>
                  <a:srgbClr val="10B981"/>
                </a:solidFill>
                <a:latin typeface="Times New Roman"/>
              </a:defRPr>
            </a:pPr>
            <a:r>
              <a:t>Porsi: 32,3%</a:t>
            </a:r>
          </a:p>
          <a:p>
            <a:br/>
            <a:pPr>
              <a:defRPr sz="1000">
                <a:solidFill>
                  <a:srgbClr val="94A3B8"/>
                </a:solidFill>
                <a:latin typeface="Times New Roman"/>
              </a:defRPr>
            </a:pPr>
            <a:r>
              <a:t>Alokasi biaya sewa ruko 1 lantai Duri Kosambi untuk 1 tahun masa operasional.</a:t>
            </a:r>
          </a:p>
        </p:txBody>
      </p:sp>
      <p:sp>
        <p:nvSpPr>
          <p:cNvPr id="12" name="Rounded Rectangle 11"/>
          <p:cNvSpPr/>
          <p:nvPr/>
        </p:nvSpPr>
        <p:spPr>
          <a:xfrm>
            <a:off x="5084064" y="3246120"/>
            <a:ext cx="201168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21224" y="3429000"/>
            <a:ext cx="1737360" cy="2560320"/>
          </a:xfrm>
          <a:prstGeom prst="rect">
            <a:avLst/>
          </a:prstGeom>
          <a:noFill/>
        </p:spPr>
        <p:txBody>
          <a:bodyPr wrap="none" lIns="0" rIns="0" tIns="0" bIns="0">
            <a:spAutoFit/>
          </a:bodyPr>
          <a:lstStyle/>
          <a:p>
            <a:pPr>
              <a:defRPr sz="1100" b="1">
                <a:solidFill>
                  <a:srgbClr val="F8FAFC"/>
                </a:solidFill>
                <a:latin typeface="Times New Roman"/>
              </a:defRPr>
            </a:pPr>
            <a:r>
              <a:t>03. Biaya Perizinan AMDAL</a:t>
            </a:r>
          </a:p>
          <a:p>
            <a:pPr>
              <a:defRPr sz="1400" b="1">
                <a:solidFill>
                  <a:srgbClr val="F59E0B"/>
                </a:solidFill>
                <a:latin typeface="Times New Roman"/>
              </a:defRPr>
            </a:pPr>
            <a:r>
              <a:t>Rp 300.000</a:t>
            </a:r>
          </a:p>
          <a:p>
            <a:pPr>
              <a:defRPr sz="1000">
                <a:solidFill>
                  <a:srgbClr val="10B981"/>
                </a:solidFill>
                <a:latin typeface="Times New Roman"/>
              </a:defRPr>
            </a:pPr>
            <a:r>
              <a:t>Porsi: 0,5%</a:t>
            </a:r>
          </a:p>
          <a:p>
            <a:br/>
            <a:pPr>
              <a:defRPr sz="1000">
                <a:solidFill>
                  <a:srgbClr val="94A3B8"/>
                </a:solidFill>
                <a:latin typeface="Times New Roman"/>
              </a:defRPr>
            </a:pPr>
            <a:r>
              <a:t>Retribusi kebersihan lingkungan RT/RW dan pengadaan tempat sampah kedai higienis.</a:t>
            </a:r>
          </a:p>
        </p:txBody>
      </p:sp>
      <p:sp>
        <p:nvSpPr>
          <p:cNvPr id="14" name="Rounded Rectangle 13"/>
          <p:cNvSpPr/>
          <p:nvPr/>
        </p:nvSpPr>
        <p:spPr>
          <a:xfrm>
            <a:off x="7260336" y="3246120"/>
            <a:ext cx="201168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97496" y="3429000"/>
            <a:ext cx="1737360" cy="2560320"/>
          </a:xfrm>
          <a:prstGeom prst="rect">
            <a:avLst/>
          </a:prstGeom>
          <a:noFill/>
        </p:spPr>
        <p:txBody>
          <a:bodyPr wrap="none" lIns="0" rIns="0" tIns="0" bIns="0">
            <a:spAutoFit/>
          </a:bodyPr>
          <a:lstStyle/>
          <a:p>
            <a:pPr>
              <a:defRPr sz="1100" b="1">
                <a:solidFill>
                  <a:srgbClr val="F8FAFC"/>
                </a:solidFill>
                <a:latin typeface="Times New Roman"/>
              </a:defRPr>
            </a:pPr>
            <a:r>
              <a:t>04. Biaya Survey Pasar</a:t>
            </a:r>
          </a:p>
          <a:p>
            <a:pPr>
              <a:defRPr sz="1400" b="1">
                <a:solidFill>
                  <a:srgbClr val="F59E0B"/>
                </a:solidFill>
                <a:latin typeface="Times New Roman"/>
              </a:defRPr>
            </a:pPr>
            <a:r>
              <a:t>Rp 500.000</a:t>
            </a:r>
          </a:p>
          <a:p>
            <a:pPr>
              <a:defRPr sz="1000">
                <a:solidFill>
                  <a:srgbClr val="10B981"/>
                </a:solidFill>
                <a:latin typeface="Times New Roman"/>
              </a:defRPr>
            </a:pPr>
            <a:r>
              <a:t>Porsi: 0,8%</a:t>
            </a:r>
          </a:p>
          <a:p>
            <a:br/>
            <a:pPr>
              <a:defRPr sz="1000">
                <a:solidFill>
                  <a:srgbClr val="94A3B8"/>
                </a:solidFill>
                <a:latin typeface="Times New Roman"/>
              </a:defRPr>
            </a:pPr>
            <a:r>
              <a:t>Observasi demografi perumahan Kosambi dan potensi kantin sekolah Kalam Kudus.</a:t>
            </a:r>
          </a:p>
        </p:txBody>
      </p:sp>
      <p:sp>
        <p:nvSpPr>
          <p:cNvPr id="16" name="Rounded Rectangle 15"/>
          <p:cNvSpPr/>
          <p:nvPr/>
        </p:nvSpPr>
        <p:spPr>
          <a:xfrm>
            <a:off x="9436608" y="3246120"/>
            <a:ext cx="201168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73768" y="3429000"/>
            <a:ext cx="1737360" cy="2560320"/>
          </a:xfrm>
          <a:prstGeom prst="rect">
            <a:avLst/>
          </a:prstGeom>
          <a:noFill/>
        </p:spPr>
        <p:txBody>
          <a:bodyPr wrap="none" lIns="0" rIns="0" tIns="0" bIns="0">
            <a:spAutoFit/>
          </a:bodyPr>
          <a:lstStyle/>
          <a:p>
            <a:pPr>
              <a:defRPr sz="1100" b="1">
                <a:solidFill>
                  <a:srgbClr val="F8FAFC"/>
                </a:solidFill>
                <a:latin typeface="Times New Roman"/>
              </a:defRPr>
            </a:pPr>
            <a:r>
              <a:t>05. Biaya Promosi Awal</a:t>
            </a:r>
          </a:p>
          <a:p>
            <a:pPr>
              <a:defRPr sz="1400" b="1">
                <a:solidFill>
                  <a:srgbClr val="F59E0B"/>
                </a:solidFill>
                <a:latin typeface="Times New Roman"/>
              </a:defRPr>
            </a:pPr>
            <a:r>
              <a:t>Rp 500.000</a:t>
            </a:r>
          </a:p>
          <a:p>
            <a:pPr>
              <a:defRPr sz="1000">
                <a:solidFill>
                  <a:srgbClr val="10B981"/>
                </a:solidFill>
                <a:latin typeface="Times New Roman"/>
              </a:defRPr>
            </a:pPr>
            <a:r>
              <a:t>Porsi: 0,8%</a:t>
            </a:r>
          </a:p>
          <a:p>
            <a:br/>
            <a:pPr>
              <a:defRPr sz="1000">
                <a:solidFill>
                  <a:srgbClr val="94A3B8"/>
                </a:solidFill>
                <a:latin typeface="Times New Roman"/>
              </a:defRPr>
            </a:pPr>
            <a:r>
              <a:t>Pembuatan spanduk pembukaan dan plang penunjuk arah kedai Bakmi Mimu.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V: ASPEK KEUANGAN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16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Aktiva Tetap &amp; Beban Depresiasi</a:t>
            </a:r>
          </a:p>
          <a:p>
            <a:pPr>
              <a:defRPr sz="1200">
                <a:solidFill>
                  <a:srgbClr val="94A3B8"/>
                </a:solidFill>
                <a:latin typeface="Times New Roman"/>
              </a:defRPr>
            </a:pPr>
            <a:r>
              <a:t>Inventarisasi 12 item aktiva tetap dan penyusutan garis lurus 20% per tahun</a:t>
            </a:r>
          </a:p>
        </p:txBody>
      </p:sp>
      <p:sp>
        <p:nvSpPr>
          <p:cNvPr id="6" name="Rounded Rectangle 5"/>
          <p:cNvSpPr/>
          <p:nvPr/>
        </p:nvSpPr>
        <p:spPr>
          <a:xfrm>
            <a:off x="731520" y="1737360"/>
            <a:ext cx="3200400" cy="44805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2834640" cy="4114800"/>
          </a:xfrm>
          <a:prstGeom prst="rect">
            <a:avLst/>
          </a:prstGeom>
          <a:noFill/>
        </p:spPr>
        <p:txBody>
          <a:bodyPr wrap="none" lIns="0" rIns="0" tIns="0" bIns="0">
            <a:spAutoFit/>
          </a:bodyPr>
          <a:lstStyle/>
          <a:p>
            <a:pPr>
              <a:defRPr sz="1300" b="1">
                <a:solidFill>
                  <a:srgbClr val="F59E0B"/>
                </a:solidFill>
                <a:latin typeface="Times New Roman"/>
              </a:defRPr>
            </a:pPr>
            <a:r>
              <a:t>PARAMETER DEPRESIASI</a:t>
            </a:r>
          </a:p>
          <a:p>
            <a:br/>
            <a:pPr>
              <a:defRPr sz="1500" b="1">
                <a:solidFill>
                  <a:srgbClr val="F8FAFC"/>
                </a:solidFill>
                <a:latin typeface="Times New Roman"/>
              </a:defRPr>
            </a:pPr>
            <a:r>
              <a:t>Total Nilai Perolehan:</a:t>
            </a:r>
            <a:br/>
            <a:r>
              <a:t>Rp 40.700.000</a:t>
            </a:r>
          </a:p>
          <a:p>
            <a:br/>
            <a:pPr>
              <a:defRPr sz="1100">
                <a:solidFill>
                  <a:srgbClr val="94A3B8"/>
                </a:solidFill>
                <a:latin typeface="Times New Roman"/>
              </a:defRPr>
            </a:pPr>
            <a:r>
              <a:t>Metode Penyusutan:</a:t>
            </a:r>
            <a:br/>
            <a:r>
              <a:t>Metode Garis Lurus (Straight-Line)</a:t>
            </a:r>
          </a:p>
          <a:p>
            <a:br/>
            <a:pPr>
              <a:defRPr sz="1100">
                <a:solidFill>
                  <a:srgbClr val="94A3B8"/>
                </a:solidFill>
                <a:latin typeface="Times New Roman"/>
              </a:defRPr>
            </a:pPr>
            <a:r>
              <a:t>Tarif Depresiasi Tahunan:</a:t>
            </a:r>
            <a:br/>
            <a:r>
              <a:t>20,00% (Masa Manfaat 5 Tahun)</a:t>
            </a:r>
          </a:p>
          <a:p>
            <a:br/>
            <a:pPr>
              <a:defRPr sz="1500" b="1">
                <a:solidFill>
                  <a:srgbClr val="10B981"/>
                </a:solidFill>
                <a:latin typeface="Times New Roman"/>
              </a:defRPr>
            </a:pPr>
            <a:r>
              <a:t>Beban Depresiasi / Tahun:</a:t>
            </a:r>
            <a:br/>
            <a:r>
              <a:t>Rp 8.140.000</a:t>
            </a:r>
          </a:p>
        </p:txBody>
      </p:sp>
      <p:sp>
        <p:nvSpPr>
          <p:cNvPr id="8" name="Rounded Rectangle 7"/>
          <p:cNvSpPr/>
          <p:nvPr/>
        </p:nvSpPr>
        <p:spPr>
          <a:xfrm>
            <a:off x="4206240" y="1737360"/>
            <a:ext cx="722376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920240"/>
            <a:ext cx="6675120" cy="4114800"/>
          </a:xfrm>
          <a:prstGeom prst="rect">
            <a:avLst/>
          </a:prstGeom>
          <a:noFill/>
        </p:spPr>
        <p:txBody>
          <a:bodyPr wrap="none" lIns="0" rIns="0" tIns="0" bIns="0">
            <a:spAutoFit/>
          </a:bodyPr>
          <a:lstStyle/>
          <a:p>
            <a:pPr>
              <a:defRPr sz="1300" b="1">
                <a:solidFill>
                  <a:srgbClr val="F59E0B"/>
                </a:solidFill>
                <a:latin typeface="Times New Roman"/>
              </a:defRPr>
            </a:pPr>
            <a:r>
              <a:t>REKAPITULASI KELOMPOK AKTIVA TETAP (12 ITEM CAPEX)</a:t>
            </a:r>
          </a:p>
          <a:p>
            <a:br/>
            <a:pPr>
              <a:defRPr sz="1050">
                <a:solidFill>
                  <a:srgbClr val="F8FAFC"/>
                </a:solidFill>
                <a:latin typeface="Times New Roman"/>
              </a:defRPr>
            </a:pPr>
            <a:r>
              <a:t>• 1. Gerobak &amp; Etalase Kaca Depan ➔ Rp 8.000.000</a:t>
            </a:r>
            <a:br/>
            <a:r>
              <a:t>   Stasiun masak open kitchen teras ruko, dandang mie, kompor gas, dan kaca display.</a:t>
            </a:r>
          </a:p>
          <a:p>
            <a:br/>
            <a:pPr>
              <a:defRPr sz="1050">
                <a:solidFill>
                  <a:srgbClr val="F8FAFC"/>
                </a:solidFill>
                <a:latin typeface="Times New Roman"/>
              </a:defRPr>
            </a:pPr>
            <a:r>
              <a:t>• 2. Perabotan Dine-In (Meja &amp; Kursi) ➔ Rp 8.300.000</a:t>
            </a:r>
            <a:br/>
            <a:r>
              <a:t>   4 Meja pendek kayu (2,8 Jt), Meja panjang dinding (1,8 Jt), Kursi plastik 37 pcs (3,7 Jt).</a:t>
            </a:r>
          </a:p>
          <a:p>
            <a:br/>
            <a:pPr>
              <a:defRPr sz="1050">
                <a:solidFill>
                  <a:srgbClr val="F8FAFC"/>
                </a:solidFill>
                <a:latin typeface="Times New Roman"/>
              </a:defRPr>
            </a:pPr>
            <a:r>
              <a:t>• 3. Sarana Sirkulasi Udara (6 Kipas Angin) ➔ Rp 900.000</a:t>
            </a:r>
            <a:br/>
            <a:r>
              <a:t>   6 Unit kipas angin dinding/plafon sejuk (@Rp 150.000) untuk ruang makan 22 kursi.</a:t>
            </a:r>
          </a:p>
          <a:p>
            <a:br/>
            <a:pPr>
              <a:defRPr sz="1050">
                <a:solidFill>
                  <a:srgbClr val="F8FAFC"/>
                </a:solidFill>
                <a:latin typeface="Times New Roman"/>
              </a:defRPr>
            </a:pPr>
            <a:r>
              <a:t>• 4. Mesin Pendingin Dapur (Kulkas &amp; Freezer) ➔ Rp 6.000.000</a:t>
            </a:r>
            <a:br/>
            <a:r>
              <a:t>   1 Unit kulkas pendingin sayur &amp; saus (2,5 Jt) dan 1 unit chest freezer daging beku (3,5 Jt).</a:t>
            </a:r>
          </a:p>
          <a:p>
            <a:br/>
            <a:pPr>
              <a:defRPr sz="1050">
                <a:solidFill>
                  <a:srgbClr val="F8FAFC"/>
                </a:solidFill>
                <a:latin typeface="Times New Roman"/>
              </a:defRPr>
            </a:pPr>
            <a:r>
              <a:t>• 5. Panci Masak, Mangkok &amp; Alat Makan ➔ Rp 6.500.000</a:t>
            </a:r>
            <a:br/>
            <a:r>
              <a:t>   Stok mangkok keramik, sendok, sumpit (2,5 Jt), panci masak kaldu (3 Jt), botol saus (1 Jt).</a:t>
            </a:r>
          </a:p>
          <a:p>
            <a:br/>
            <a:pPr>
              <a:defRPr sz="1050">
                <a:solidFill>
                  <a:srgbClr val="F8FAFC"/>
                </a:solidFill>
                <a:latin typeface="Times New Roman"/>
              </a:defRPr>
            </a:pPr>
            <a:r>
              <a:t>• 6. Renovasi Sederhana Ruko &amp; Signage ➔ Rp 11.000.000</a:t>
            </a:r>
            <a:br/>
            <a:r>
              <a:t>   Pengecatan interior ruko 1 lantai, instalasi air/listrik (9 Jt), dan plang nama kedai (2 Jt).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V: ASPEK KEUANGAN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17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Proyeksi Pendapatan (Cash Inflow 5 Tahun)</a:t>
            </a:r>
          </a:p>
          <a:p>
            <a:pPr>
              <a:defRPr sz="1200">
                <a:solidFill>
                  <a:srgbClr val="94A3B8"/>
                </a:solidFill>
                <a:latin typeface="Times New Roman"/>
              </a:defRPr>
            </a:pPr>
            <a:r>
              <a:t>Estimasi penerimaan kas berbasis 300 hari operasi tahunan dengan eskalasi volume riil</a:t>
            </a:r>
          </a:p>
        </p:txBody>
      </p:sp>
      <p:sp>
        <p:nvSpPr>
          <p:cNvPr id="6" name="Rounded Rectangle 5"/>
          <p:cNvSpPr/>
          <p:nvPr/>
        </p:nvSpPr>
        <p:spPr>
          <a:xfrm>
            <a:off x="731520" y="1737360"/>
            <a:ext cx="2011680" cy="44805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5960"/>
            <a:ext cx="1737360" cy="4023360"/>
          </a:xfrm>
          <a:prstGeom prst="rect">
            <a:avLst/>
          </a:prstGeom>
          <a:noFill/>
        </p:spPr>
        <p:txBody>
          <a:bodyPr wrap="none" lIns="0" rIns="0" tIns="0" bIns="0">
            <a:spAutoFit/>
          </a:bodyPr>
          <a:lstStyle/>
          <a:p>
            <a:pPr>
              <a:defRPr sz="1200" b="1">
                <a:solidFill>
                  <a:srgbClr val="F8FAFC"/>
                </a:solidFill>
                <a:latin typeface="Times New Roman"/>
              </a:defRPr>
            </a:pPr>
            <a:r>
              <a:t>Tahun 1 (2016/17)</a:t>
            </a:r>
          </a:p>
          <a:p>
            <a:pPr>
              <a:defRPr sz="1400" b="1">
                <a:solidFill>
                  <a:srgbClr val="F59E0B"/>
                </a:solidFill>
                <a:latin typeface="Times New Roman"/>
              </a:defRPr>
            </a:pPr>
            <a:r>
              <a:t>Rp 1.483.200.000</a:t>
            </a:r>
          </a:p>
          <a:p>
            <a:pPr>
              <a:defRPr sz="1000">
                <a:solidFill>
                  <a:srgbClr val="10B981"/>
                </a:solidFill>
                <a:latin typeface="Times New Roman"/>
              </a:defRPr>
            </a:pPr>
            <a:r>
              <a:t>Pertumbuhan: Basis Awal</a:t>
            </a:r>
          </a:p>
          <a:p>
            <a:br/>
            <a:pPr>
              <a:defRPr sz="1000">
                <a:solidFill>
                  <a:srgbClr val="94A3B8"/>
                </a:solidFill>
                <a:latin typeface="Times New Roman"/>
              </a:defRPr>
            </a:pPr>
            <a:r>
              <a:t>Omzet riil 300 hari operasi: rata-rata Rp 4,94 Jt/hari (menu utama + pelengkap)</a:t>
            </a:r>
          </a:p>
        </p:txBody>
      </p:sp>
      <p:sp>
        <p:nvSpPr>
          <p:cNvPr id="8" name="Rounded Rectangle 7"/>
          <p:cNvSpPr/>
          <p:nvPr/>
        </p:nvSpPr>
        <p:spPr>
          <a:xfrm>
            <a:off x="2907791" y="1737360"/>
            <a:ext cx="20116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44951" y="1965960"/>
            <a:ext cx="1737360" cy="4023360"/>
          </a:xfrm>
          <a:prstGeom prst="rect">
            <a:avLst/>
          </a:prstGeom>
          <a:noFill/>
        </p:spPr>
        <p:txBody>
          <a:bodyPr wrap="none" lIns="0" rIns="0" tIns="0" bIns="0">
            <a:spAutoFit/>
          </a:bodyPr>
          <a:lstStyle/>
          <a:p>
            <a:pPr>
              <a:defRPr sz="1200" b="1">
                <a:solidFill>
                  <a:srgbClr val="F8FAFC"/>
                </a:solidFill>
                <a:latin typeface="Times New Roman"/>
              </a:defRPr>
            </a:pPr>
            <a:r>
              <a:t>Tahun 2 (2017/18)</a:t>
            </a:r>
          </a:p>
          <a:p>
            <a:pPr>
              <a:defRPr sz="1400" b="1">
                <a:solidFill>
                  <a:srgbClr val="F59E0B"/>
                </a:solidFill>
                <a:latin typeface="Times New Roman"/>
              </a:defRPr>
            </a:pPr>
            <a:r>
              <a:t>Rp 2.008.200.000</a:t>
            </a:r>
          </a:p>
          <a:p>
            <a:pPr>
              <a:defRPr sz="1000">
                <a:solidFill>
                  <a:srgbClr val="10B981"/>
                </a:solidFill>
                <a:latin typeface="Times New Roman"/>
              </a:defRPr>
            </a:pPr>
            <a:r>
              <a:t>Pertumbuhan: +35.4%</a:t>
            </a:r>
          </a:p>
          <a:p>
            <a:br/>
            <a:pPr>
              <a:defRPr sz="1000">
                <a:solidFill>
                  <a:srgbClr val="94A3B8"/>
                </a:solidFill>
                <a:latin typeface="Times New Roman"/>
              </a:defRPr>
            </a:pPr>
            <a:r>
              <a:t>Peningkatan loyalitas pelanggan sekolah Kalam Kudus &amp; warga sekitar Kosambi</a:t>
            </a:r>
          </a:p>
        </p:txBody>
      </p:sp>
      <p:sp>
        <p:nvSpPr>
          <p:cNvPr id="10" name="Rounded Rectangle 9"/>
          <p:cNvSpPr/>
          <p:nvPr/>
        </p:nvSpPr>
        <p:spPr>
          <a:xfrm>
            <a:off x="5084064" y="1737360"/>
            <a:ext cx="20116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21224" y="1965960"/>
            <a:ext cx="1737360" cy="4023360"/>
          </a:xfrm>
          <a:prstGeom prst="rect">
            <a:avLst/>
          </a:prstGeom>
          <a:noFill/>
        </p:spPr>
        <p:txBody>
          <a:bodyPr wrap="none" lIns="0" rIns="0" tIns="0" bIns="0">
            <a:spAutoFit/>
          </a:bodyPr>
          <a:lstStyle/>
          <a:p>
            <a:pPr>
              <a:defRPr sz="1200" b="1">
                <a:solidFill>
                  <a:srgbClr val="F8FAFC"/>
                </a:solidFill>
                <a:latin typeface="Times New Roman"/>
              </a:defRPr>
            </a:pPr>
            <a:r>
              <a:t>Tahun 3 (2018/19)</a:t>
            </a:r>
          </a:p>
          <a:p>
            <a:pPr>
              <a:defRPr sz="1400" b="1">
                <a:solidFill>
                  <a:srgbClr val="F59E0B"/>
                </a:solidFill>
                <a:latin typeface="Times New Roman"/>
              </a:defRPr>
            </a:pPr>
            <a:r>
              <a:t>Rp 2.731.800.000</a:t>
            </a:r>
          </a:p>
          <a:p>
            <a:pPr>
              <a:defRPr sz="1000">
                <a:solidFill>
                  <a:srgbClr val="10B981"/>
                </a:solidFill>
                <a:latin typeface="Times New Roman"/>
              </a:defRPr>
            </a:pPr>
            <a:r>
              <a:t>Pertumbuhan: +36.0%</a:t>
            </a:r>
          </a:p>
          <a:p>
            <a:br/>
            <a:pPr>
              <a:defRPr sz="1000">
                <a:solidFill>
                  <a:srgbClr val="94A3B8"/>
                </a:solidFill>
                <a:latin typeface="Times New Roman"/>
              </a:defRPr>
            </a:pPr>
            <a:r>
              <a:t>Basis pelanggan mantap terbentuk (2019), pesanan bungkus take-away meningkat</a:t>
            </a:r>
          </a:p>
        </p:txBody>
      </p:sp>
      <p:sp>
        <p:nvSpPr>
          <p:cNvPr id="12" name="Rounded Rectangle 11"/>
          <p:cNvSpPr/>
          <p:nvPr/>
        </p:nvSpPr>
        <p:spPr>
          <a:xfrm>
            <a:off x="7260336" y="1737360"/>
            <a:ext cx="20116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97496" y="1965960"/>
            <a:ext cx="1737360" cy="4023360"/>
          </a:xfrm>
          <a:prstGeom prst="rect">
            <a:avLst/>
          </a:prstGeom>
          <a:noFill/>
        </p:spPr>
        <p:txBody>
          <a:bodyPr wrap="none" lIns="0" rIns="0" tIns="0" bIns="0">
            <a:spAutoFit/>
          </a:bodyPr>
          <a:lstStyle/>
          <a:p>
            <a:pPr>
              <a:defRPr sz="1200" b="1">
                <a:solidFill>
                  <a:srgbClr val="F8FAFC"/>
                </a:solidFill>
                <a:latin typeface="Times New Roman"/>
              </a:defRPr>
            </a:pPr>
            <a:r>
              <a:t>Tahun 4 (2019/20)</a:t>
            </a:r>
          </a:p>
          <a:p>
            <a:pPr>
              <a:defRPr sz="1400" b="1">
                <a:solidFill>
                  <a:srgbClr val="F59E0B"/>
                </a:solidFill>
                <a:latin typeface="Times New Roman"/>
              </a:defRPr>
            </a:pPr>
            <a:r>
              <a:t>Rp 3.691.800.000</a:t>
            </a:r>
          </a:p>
          <a:p>
            <a:pPr>
              <a:defRPr sz="1000">
                <a:solidFill>
                  <a:srgbClr val="10B981"/>
                </a:solidFill>
                <a:latin typeface="Times New Roman"/>
              </a:defRPr>
            </a:pPr>
            <a:r>
              <a:t>Pertumbuhan: +35.1%</a:t>
            </a:r>
          </a:p>
          <a:p>
            <a:br/>
            <a:pPr>
              <a:defRPr sz="1000">
                <a:solidFill>
                  <a:srgbClr val="94A3B8"/>
                </a:solidFill>
                <a:latin typeface="Times New Roman"/>
              </a:defRPr>
            </a:pPr>
            <a:r>
              <a:t>Penjualan stabil dengan pelanggan tetap keluarga residensial perumahan</a:t>
            </a:r>
          </a:p>
        </p:txBody>
      </p:sp>
      <p:sp>
        <p:nvSpPr>
          <p:cNvPr id="14" name="Rounded Rectangle 13"/>
          <p:cNvSpPr/>
          <p:nvPr/>
        </p:nvSpPr>
        <p:spPr>
          <a:xfrm>
            <a:off x="9436608" y="1737360"/>
            <a:ext cx="20116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73768" y="1965960"/>
            <a:ext cx="1737360" cy="4023360"/>
          </a:xfrm>
          <a:prstGeom prst="rect">
            <a:avLst/>
          </a:prstGeom>
          <a:noFill/>
        </p:spPr>
        <p:txBody>
          <a:bodyPr wrap="none" lIns="0" rIns="0" tIns="0" bIns="0">
            <a:spAutoFit/>
          </a:bodyPr>
          <a:lstStyle/>
          <a:p>
            <a:pPr>
              <a:defRPr sz="1200" b="1">
                <a:solidFill>
                  <a:srgbClr val="F8FAFC"/>
                </a:solidFill>
                <a:latin typeface="Times New Roman"/>
              </a:defRPr>
            </a:pPr>
            <a:r>
              <a:t>Tahun 5 (2020/21)</a:t>
            </a:r>
          </a:p>
          <a:p>
            <a:pPr>
              <a:defRPr sz="1400" b="1">
                <a:solidFill>
                  <a:srgbClr val="F59E0B"/>
                </a:solidFill>
                <a:latin typeface="Times New Roman"/>
              </a:defRPr>
            </a:pPr>
            <a:r>
              <a:t>Rp 4.969.200.000</a:t>
            </a:r>
          </a:p>
          <a:p>
            <a:pPr>
              <a:defRPr sz="1000">
                <a:solidFill>
                  <a:srgbClr val="10B981"/>
                </a:solidFill>
                <a:latin typeface="Times New Roman"/>
              </a:defRPr>
            </a:pPr>
            <a:r>
              <a:t>Pertumbuhan: +34.6%</a:t>
            </a:r>
          </a:p>
          <a:p>
            <a:br/>
            <a:pPr>
              <a:defRPr sz="1000">
                <a:solidFill>
                  <a:srgbClr val="94A3B8"/>
                </a:solidFill>
                <a:latin typeface="Times New Roman"/>
              </a:defRPr>
            </a:pPr>
            <a:r>
              <a:t>Kapasitas kedai ruko optimal &amp; persiapan rencana ekspansi cabang 2027/28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V: ASPEK KEUANGAN</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18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Proyeksi Biaya &amp; Laba Bersih (NCF / EAT)</a:t>
            </a:r>
          </a:p>
          <a:p>
            <a:pPr>
              <a:defRPr sz="1200">
                <a:solidFill>
                  <a:srgbClr val="94A3B8"/>
                </a:solidFill>
                <a:latin typeface="Times New Roman"/>
              </a:defRPr>
            </a:pPr>
            <a:r>
              <a:t>Analisis arus kas keluar operasional dan laba bersih selama 5 tahun</a:t>
            </a:r>
          </a:p>
        </p:txBody>
      </p:sp>
      <p:sp>
        <p:nvSpPr>
          <p:cNvPr id="6" name="Rounded Rectangle 5"/>
          <p:cNvSpPr/>
          <p:nvPr/>
        </p:nvSpPr>
        <p:spPr>
          <a:xfrm>
            <a:off x="731520" y="1737360"/>
            <a:ext cx="2542032" cy="21945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2176272" cy="1828800"/>
          </a:xfrm>
          <a:prstGeom prst="rect">
            <a:avLst/>
          </a:prstGeom>
          <a:noFill/>
        </p:spPr>
        <p:txBody>
          <a:bodyPr wrap="none" lIns="0" rIns="0" tIns="0" bIns="0">
            <a:spAutoFit/>
          </a:bodyPr>
          <a:lstStyle/>
          <a:p>
            <a:pPr>
              <a:defRPr sz="1150" b="1">
                <a:solidFill>
                  <a:srgbClr val="38BDF8"/>
                </a:solidFill>
                <a:latin typeface="Times New Roman"/>
              </a:defRPr>
            </a:pPr>
            <a:r>
              <a:t>CASH INFLOW (CIF)</a:t>
            </a:r>
          </a:p>
          <a:p>
            <a:pPr>
              <a:defRPr sz="1550" b="1">
                <a:solidFill>
                  <a:srgbClr val="F8FAFC"/>
                </a:solidFill>
                <a:latin typeface="Times New Roman"/>
              </a:defRPr>
            </a:pPr>
            <a:r>
              <a:t>Rp 1.483.200.000</a:t>
            </a:r>
          </a:p>
          <a:p>
            <a:br/>
            <a:pPr>
              <a:defRPr sz="1000">
                <a:solidFill>
                  <a:srgbClr val="94A3B8"/>
                </a:solidFill>
                <a:latin typeface="Times New Roman"/>
              </a:defRPr>
            </a:pPr>
            <a:r>
              <a:t>Total omzet penjualan bakmi, menu kuah swikiaw/pangsit, &amp; aneka minuman.</a:t>
            </a:r>
          </a:p>
        </p:txBody>
      </p:sp>
      <p:sp>
        <p:nvSpPr>
          <p:cNvPr id="8" name="Rounded Rectangle 7"/>
          <p:cNvSpPr/>
          <p:nvPr/>
        </p:nvSpPr>
        <p:spPr>
          <a:xfrm>
            <a:off x="3456432" y="1737360"/>
            <a:ext cx="2542032" cy="219456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1920240"/>
            <a:ext cx="2176272" cy="1828800"/>
          </a:xfrm>
          <a:prstGeom prst="rect">
            <a:avLst/>
          </a:prstGeom>
          <a:noFill/>
        </p:spPr>
        <p:txBody>
          <a:bodyPr wrap="none" lIns="0" rIns="0" tIns="0" bIns="0">
            <a:spAutoFit/>
          </a:bodyPr>
          <a:lstStyle/>
          <a:p>
            <a:pPr>
              <a:defRPr sz="1150" b="1">
                <a:solidFill>
                  <a:srgbClr val="FBBF24"/>
                </a:solidFill>
                <a:latin typeface="Times New Roman"/>
              </a:defRPr>
            </a:pPr>
            <a:r>
              <a:t>CASH OUTFLOW (COF)</a:t>
            </a:r>
          </a:p>
          <a:p>
            <a:pPr>
              <a:defRPr sz="1550" b="1">
                <a:solidFill>
                  <a:srgbClr val="F8FAFC"/>
                </a:solidFill>
                <a:latin typeface="Times New Roman"/>
              </a:defRPr>
            </a:pPr>
            <a:r>
              <a:t>Rp 564.000.000</a:t>
            </a:r>
          </a:p>
          <a:p>
            <a:br/>
            <a:pPr>
              <a:defRPr sz="1000">
                <a:solidFill>
                  <a:srgbClr val="94A3B8"/>
                </a:solidFill>
                <a:latin typeface="Times New Roman"/>
              </a:defRPr>
            </a:pPr>
            <a:r>
              <a:t>Total HPP bahan baku, gaji 3 staf (Rp 120 Jt), sewa ruko (Rp 20 Jt), gas &amp; galon.</a:t>
            </a:r>
          </a:p>
        </p:txBody>
      </p:sp>
      <p:sp>
        <p:nvSpPr>
          <p:cNvPr id="10" name="Rounded Rectangle 9"/>
          <p:cNvSpPr/>
          <p:nvPr/>
        </p:nvSpPr>
        <p:spPr>
          <a:xfrm>
            <a:off x="6181344" y="1737360"/>
            <a:ext cx="2542032" cy="21945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64224" y="1920240"/>
            <a:ext cx="2176272" cy="1828800"/>
          </a:xfrm>
          <a:prstGeom prst="rect">
            <a:avLst/>
          </a:prstGeom>
          <a:noFill/>
        </p:spPr>
        <p:txBody>
          <a:bodyPr wrap="none" lIns="0" rIns="0" tIns="0" bIns="0">
            <a:spAutoFit/>
          </a:bodyPr>
          <a:lstStyle/>
          <a:p>
            <a:pPr>
              <a:defRPr sz="1150" b="1">
                <a:solidFill>
                  <a:srgbClr val="10B981"/>
                </a:solidFill>
                <a:latin typeface="Times New Roman"/>
              </a:defRPr>
            </a:pPr>
            <a:r>
              <a:t>NET CASH FLOW (EAT)</a:t>
            </a:r>
          </a:p>
          <a:p>
            <a:pPr>
              <a:defRPr sz="1550" b="1">
                <a:solidFill>
                  <a:srgbClr val="F8FAFC"/>
                </a:solidFill>
                <a:latin typeface="Times New Roman"/>
              </a:defRPr>
            </a:pPr>
            <a:r>
              <a:t>Rp 919.200.000</a:t>
            </a:r>
          </a:p>
          <a:p>
            <a:br/>
            <a:pPr>
              <a:defRPr sz="1000">
                <a:solidFill>
                  <a:srgbClr val="94A3B8"/>
                </a:solidFill>
                <a:latin typeface="Times New Roman"/>
              </a:defRPr>
            </a:pPr>
            <a:r>
              <a:t>Laba bersih operasional (CIF dikurangi COF), margin keuntungan 61,97%.</a:t>
            </a:r>
          </a:p>
        </p:txBody>
      </p:sp>
      <p:sp>
        <p:nvSpPr>
          <p:cNvPr id="12" name="Rounded Rectangle 11"/>
          <p:cNvSpPr/>
          <p:nvPr/>
        </p:nvSpPr>
        <p:spPr>
          <a:xfrm>
            <a:off x="8906256" y="1737360"/>
            <a:ext cx="2542032" cy="21945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89136" y="1920240"/>
            <a:ext cx="2176272" cy="1828800"/>
          </a:xfrm>
          <a:prstGeom prst="rect">
            <a:avLst/>
          </a:prstGeom>
          <a:noFill/>
        </p:spPr>
        <p:txBody>
          <a:bodyPr wrap="none" lIns="0" rIns="0" tIns="0" bIns="0">
            <a:spAutoFit/>
          </a:bodyPr>
          <a:lstStyle/>
          <a:p>
            <a:pPr>
              <a:defRPr sz="1150" b="1">
                <a:solidFill>
                  <a:srgbClr val="F59E0B"/>
                </a:solidFill>
                <a:latin typeface="Times New Roman"/>
              </a:defRPr>
            </a:pPr>
            <a:r>
              <a:t>PROCEED (NCF - DEPR/ADJ)</a:t>
            </a:r>
          </a:p>
          <a:p>
            <a:pPr>
              <a:defRPr sz="1550" b="1">
                <a:solidFill>
                  <a:srgbClr val="F8FAFC"/>
                </a:solidFill>
                <a:latin typeface="Times New Roman"/>
              </a:defRPr>
            </a:pPr>
            <a:r>
              <a:t>Rp 911.060.000</a:t>
            </a:r>
          </a:p>
          <a:p>
            <a:br/>
            <a:pPr>
              <a:defRPr sz="1000">
                <a:solidFill>
                  <a:srgbClr val="94A3B8"/>
                </a:solidFill>
                <a:latin typeface="Times New Roman"/>
              </a:defRPr>
            </a:pPr>
            <a:r>
              <a:t>Arus kas bersih riil yang memperhitungkan penyusutan aktiva tetap.</a:t>
            </a:r>
          </a:p>
        </p:txBody>
      </p:sp>
      <p:sp>
        <p:nvSpPr>
          <p:cNvPr id="14" name="Rounded Rectangle 13"/>
          <p:cNvSpPr/>
          <p:nvPr/>
        </p:nvSpPr>
        <p:spPr>
          <a:xfrm>
            <a:off x="731520" y="4114800"/>
            <a:ext cx="1069848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297680"/>
            <a:ext cx="10149840" cy="1737360"/>
          </a:xfrm>
          <a:prstGeom prst="rect">
            <a:avLst/>
          </a:prstGeom>
          <a:noFill/>
        </p:spPr>
        <p:txBody>
          <a:bodyPr wrap="none" lIns="0" rIns="0" tIns="0" bIns="0">
            <a:spAutoFit/>
          </a:bodyPr>
          <a:lstStyle/>
          <a:p>
            <a:pPr>
              <a:defRPr sz="1250" b="1">
                <a:solidFill>
                  <a:srgbClr val="F59E0B"/>
                </a:solidFill>
                <a:latin typeface="Times New Roman"/>
              </a:defRPr>
            </a:pPr>
            <a:r>
              <a:t>RINGKASAN TREN KINERJA KEUANGAN 5 TAHUN KEDAI DURI KOSAMBI</a:t>
            </a:r>
          </a:p>
          <a:p>
            <a:pPr>
              <a:defRPr sz="1050">
                <a:solidFill>
                  <a:srgbClr val="F8FAFC"/>
                </a:solidFill>
                <a:latin typeface="Times New Roman"/>
              </a:defRPr>
            </a:pPr>
            <a:r>
              <a:t>• Tahun 1: NCF Rp 919.20 Jt  |  Proceed Rp 911.06 Jt  (Margin Operasional: 61.97%)</a:t>
            </a:r>
            <a:br/>
            <a:r>
              <a:t>• Tahun 2: NCF Rp 1.365.96 Jt  |  Proceed Rp 1.357.82 Jt  (Pertumbuhan Omzet Solid)</a:t>
            </a:r>
            <a:br/>
            <a:r>
              <a:t>• Tahun 3: NCF Rp 1.982.79 Jt  |  Proceed Rp 1.974.65 Jt  (Basis Pelanggan Solid Terbentuk)</a:t>
            </a:r>
            <a:br/>
            <a:r>
              <a:t>• Tahun 4: NCF Rp 2.797.39 Jt  |  Proceed Rp 2.789.25 Jt  (Arus Kas Operasional Kuat)</a:t>
            </a:r>
            <a:br/>
            <a:r>
              <a:t>• Tahun 5: NCF Rp 3.875.89 Jt  |  Proceed Rp 3.867.75 Jt  (Akumulasi Kas untuk Ekspansi 2027/28)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VI: KELAYAKAN INVESTASI</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19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Evaluasi Modal: Net Present Value (NPV)</a:t>
            </a:r>
          </a:p>
          <a:p>
            <a:pPr>
              <a:defRPr sz="1200">
                <a:solidFill>
                  <a:srgbClr val="94A3B8"/>
                </a:solidFill>
                <a:latin typeface="Times New Roman"/>
              </a:defRPr>
            </a:pPr>
            <a:r>
              <a:t>Hasil perhitungan nilai sekarang bersih kas masuk dengan discount rate 20%</a:t>
            </a:r>
          </a:p>
        </p:txBody>
      </p:sp>
      <p:sp>
        <p:nvSpPr>
          <p:cNvPr id="6" name="Rounded Rectangle 5"/>
          <p:cNvSpPr/>
          <p:nvPr/>
        </p:nvSpPr>
        <p:spPr>
          <a:xfrm>
            <a:off x="731520" y="1737360"/>
            <a:ext cx="5212080" cy="448056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4663440" cy="3931920"/>
          </a:xfrm>
          <a:prstGeom prst="rect">
            <a:avLst/>
          </a:prstGeom>
          <a:noFill/>
        </p:spPr>
        <p:txBody>
          <a:bodyPr wrap="none" lIns="0" rIns="0" tIns="0" bIns="0">
            <a:spAutoFit/>
          </a:bodyPr>
          <a:lstStyle/>
          <a:p>
            <a:pPr>
              <a:defRPr sz="1500" b="1">
                <a:solidFill>
                  <a:srgbClr val="F59E0B"/>
                </a:solidFill>
                <a:latin typeface="Times New Roman"/>
              </a:defRPr>
            </a:pPr>
            <a:r>
              <a:t>NET PRESENT VALUE (NPV)</a:t>
            </a:r>
          </a:p>
          <a:p>
            <a:pPr>
              <a:defRPr sz="2800" b="1">
                <a:solidFill>
                  <a:srgbClr val="10B981"/>
                </a:solidFill>
                <a:latin typeface="Times New Roman"/>
              </a:defRPr>
            </a:pPr>
            <a:r>
              <a:t>Rp 5.682.364.987</a:t>
            </a:r>
          </a:p>
          <a:p>
            <a:br/>
            <a:pPr>
              <a:defRPr sz="1300" b="1">
                <a:solidFill>
                  <a:srgbClr val="F8FAFC"/>
                </a:solidFill>
                <a:latin typeface="Times New Roman"/>
              </a:defRPr>
            </a:pPr>
            <a:r>
              <a:t>STATUS KELAYAKAN: SANGAT LAYAK (POSITIVE)</a:t>
            </a:r>
          </a:p>
          <a:p>
            <a:br/>
            <a:pPr>
              <a:defRPr sz="1100">
                <a:solidFill>
                  <a:srgbClr val="94A3B8"/>
                </a:solidFill>
                <a:latin typeface="Times New Roman"/>
              </a:defRPr>
            </a:pPr>
            <a:r>
              <a:t>Berdasarkan kriteria standar FEB UKRIDA, rencana investasi dinyatakan LAYAK jika NPV &gt; 0. Nilai NPV sebesar Rp 5.68 Milyar membuktikan bahwa proyek Bakmi Mimu Carina Sayang mampu menutupi seluruh modal investasi awal Rp 62 Juta dan menghasilkan surplus kekayaan bersih yang sangat luar biasa.</a:t>
            </a:r>
          </a:p>
        </p:txBody>
      </p:sp>
      <p:sp>
        <p:nvSpPr>
          <p:cNvPr id="8" name="Rounded Rectangle 7"/>
          <p:cNvSpPr/>
          <p:nvPr/>
        </p:nvSpPr>
        <p:spPr>
          <a:xfrm>
            <a:off x="6217920" y="1737360"/>
            <a:ext cx="5212080"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20240"/>
            <a:ext cx="4663440" cy="4114800"/>
          </a:xfrm>
          <a:prstGeom prst="rect">
            <a:avLst/>
          </a:prstGeom>
          <a:noFill/>
        </p:spPr>
        <p:txBody>
          <a:bodyPr wrap="none" lIns="0" rIns="0" tIns="0" bIns="0">
            <a:spAutoFit/>
          </a:bodyPr>
          <a:lstStyle/>
          <a:p>
            <a:pPr>
              <a:defRPr sz="1300" b="1">
                <a:solidFill>
                  <a:srgbClr val="F59E0B"/>
                </a:solidFill>
                <a:latin typeface="Times New Roman"/>
              </a:defRPr>
            </a:pPr>
            <a:r>
              <a:t>RINCIAN DISCOUNTED PRESENT VALUE (RATE 20%)</a:t>
            </a:r>
          </a:p>
          <a:p>
            <a:br/>
            <a:pPr>
              <a:defRPr sz="1050">
                <a:solidFill>
                  <a:srgbClr val="F8FAFC"/>
                </a:solidFill>
                <a:latin typeface="Times New Roman"/>
              </a:defRPr>
            </a:pPr>
            <a:r>
              <a:t>• Tahun 0 (Initial Outlay) ➔ -Rp 62.000.000 (Investasi Awal)</a:t>
            </a:r>
          </a:p>
          <a:p>
            <a:br/>
            <a:pPr>
              <a:defRPr sz="1050">
                <a:solidFill>
                  <a:srgbClr val="F8FAFC"/>
                </a:solidFill>
                <a:latin typeface="Times New Roman"/>
              </a:defRPr>
            </a:pPr>
            <a:r>
              <a:t>• Tahun 1 (Proceed Thn 1) ➔ Rp 759.216.667 (DF (20%): 0.8333)</a:t>
            </a:r>
          </a:p>
          <a:p>
            <a:br/>
            <a:pPr>
              <a:defRPr sz="1050">
                <a:solidFill>
                  <a:srgbClr val="F8FAFC"/>
                </a:solidFill>
                <a:latin typeface="Times New Roman"/>
              </a:defRPr>
            </a:pPr>
            <a:r>
              <a:t>• Tahun 2 (Proceed Thn 2) ➔ Rp 942.927.778 (DF (20%): 0.6944)</a:t>
            </a:r>
          </a:p>
          <a:p>
            <a:br/>
            <a:pPr>
              <a:defRPr sz="1050">
                <a:solidFill>
                  <a:srgbClr val="F8FAFC"/>
                </a:solidFill>
                <a:latin typeface="Times New Roman"/>
              </a:defRPr>
            </a:pPr>
            <a:r>
              <a:t>• Tahun 3 (Proceed Thn 3) ➔ Rp 1.142.736.250 (DF (20%): 0.5787)</a:t>
            </a:r>
          </a:p>
          <a:p>
            <a:br/>
            <a:pPr>
              <a:defRPr sz="1050">
                <a:solidFill>
                  <a:srgbClr val="F8FAFC"/>
                </a:solidFill>
                <a:latin typeface="Times New Roman"/>
              </a:defRPr>
            </a:pPr>
            <a:r>
              <a:t>• Tahun 4 (Proceed Thn 4) ➔ Rp 1.345.123.431 (DF (20%): 0.4823)</a:t>
            </a:r>
          </a:p>
          <a:p>
            <a:br/>
            <a:pPr>
              <a:defRPr sz="1050">
                <a:solidFill>
                  <a:srgbClr val="F8FAFC"/>
                </a:solidFill>
                <a:latin typeface="Times New Roman"/>
              </a:defRPr>
            </a:pPr>
            <a:r>
              <a:t>• Tahun 5 (Proceed Thn 5) ➔ Rp 1.554.360.861 (DF (20%): 0.4019)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VI: KELAYAKAN INVESTASI</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20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Evaluasi Modal: IRR &amp; Payback Period</a:t>
            </a:r>
          </a:p>
          <a:p>
            <a:pPr>
              <a:defRPr sz="1200">
                <a:solidFill>
                  <a:srgbClr val="94A3B8"/>
                </a:solidFill>
                <a:latin typeface="Times New Roman"/>
              </a:defRPr>
            </a:pPr>
            <a:r>
              <a:t>Tingkat pengembalian internal dan kecepatan pemulihan modal investasi</a:t>
            </a:r>
          </a:p>
        </p:txBody>
      </p:sp>
      <p:sp>
        <p:nvSpPr>
          <p:cNvPr id="6" name="Rounded Rectangle 5"/>
          <p:cNvSpPr/>
          <p:nvPr/>
        </p:nvSpPr>
        <p:spPr>
          <a:xfrm>
            <a:off x="731520" y="1737360"/>
            <a:ext cx="521208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4663440" cy="3931920"/>
          </a:xfrm>
          <a:prstGeom prst="rect">
            <a:avLst/>
          </a:prstGeom>
          <a:noFill/>
        </p:spPr>
        <p:txBody>
          <a:bodyPr wrap="none" lIns="0" rIns="0" tIns="0" bIns="0">
            <a:spAutoFit/>
          </a:bodyPr>
          <a:lstStyle/>
          <a:p>
            <a:pPr>
              <a:defRPr sz="1500" b="1">
                <a:solidFill>
                  <a:srgbClr val="F59E0B"/>
                </a:solidFill>
                <a:latin typeface="Times New Roman"/>
              </a:defRPr>
            </a:pPr>
            <a:r>
              <a:t>INTERNAL RATE OF RETURN (IRR)</a:t>
            </a:r>
          </a:p>
          <a:p>
            <a:pPr>
              <a:defRPr sz="3800" b="1">
                <a:solidFill>
                  <a:srgbClr val="10B981"/>
                </a:solidFill>
                <a:latin typeface="Times New Roman"/>
              </a:defRPr>
            </a:pPr>
            <a:r>
              <a:t>&gt; 20,00%</a:t>
            </a:r>
          </a:p>
          <a:p>
            <a:br/>
            <a:pPr>
              <a:defRPr sz="1250" b="1">
                <a:solidFill>
                  <a:srgbClr val="F8FAFC"/>
                </a:solidFill>
                <a:latin typeface="Times New Roman"/>
              </a:defRPr>
            </a:pPr>
            <a:r>
              <a:t>TARGET / SYARAT: &gt; 20,00% (Opportunity Cost)</a:t>
            </a:r>
          </a:p>
          <a:p>
            <a:br/>
            <a:pPr>
              <a:defRPr sz="1200" b="1">
                <a:solidFill>
                  <a:srgbClr val="10B981"/>
                </a:solidFill>
                <a:latin typeface="Times New Roman"/>
              </a:defRPr>
            </a:pPr>
            <a:r>
              <a:t>STATUS: SANGAT LAYAK (Jauh Melampaui Standar)</a:t>
            </a:r>
          </a:p>
          <a:p>
            <a:br/>
            <a:pPr>
              <a:defRPr sz="1050">
                <a:solidFill>
                  <a:srgbClr val="94A3B8"/>
                </a:solidFill>
                <a:latin typeface="Times New Roman"/>
              </a:defRPr>
            </a:pPr>
            <a:r>
              <a:t>Nilai IRR yang melampaui 20,00% membuktikan efisiensi operasional kedai yang sangat prima. Imbal hasil riil proyek jauh melampaui tingkat diskonto modal dan suku bunga perbankan.</a:t>
            </a:r>
          </a:p>
        </p:txBody>
      </p:sp>
      <p:sp>
        <p:nvSpPr>
          <p:cNvPr id="8" name="Rounded Rectangle 7"/>
          <p:cNvSpPr/>
          <p:nvPr/>
        </p:nvSpPr>
        <p:spPr>
          <a:xfrm>
            <a:off x="6217920" y="1737360"/>
            <a:ext cx="521208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11680"/>
            <a:ext cx="4663440" cy="3931920"/>
          </a:xfrm>
          <a:prstGeom prst="rect">
            <a:avLst/>
          </a:prstGeom>
          <a:noFill/>
        </p:spPr>
        <p:txBody>
          <a:bodyPr wrap="none" lIns="0" rIns="0" tIns="0" bIns="0">
            <a:spAutoFit/>
          </a:bodyPr>
          <a:lstStyle/>
          <a:p>
            <a:pPr>
              <a:defRPr sz="1500" b="1">
                <a:solidFill>
                  <a:srgbClr val="38BDF8"/>
                </a:solidFill>
                <a:latin typeface="Times New Roman"/>
              </a:defRPr>
            </a:pPr>
            <a:r>
              <a:t>PAYBACK PERIOD (PP)</a:t>
            </a:r>
          </a:p>
          <a:p>
            <a:pPr>
              <a:defRPr sz="3800" b="1">
                <a:solidFill>
                  <a:srgbClr val="38BDF8"/>
                </a:solidFill>
                <a:latin typeface="Times New Roman"/>
              </a:defRPr>
            </a:pPr>
            <a:r>
              <a:t>0.82 BULAN</a:t>
            </a:r>
          </a:p>
          <a:p>
            <a:br/>
            <a:pPr>
              <a:defRPr sz="1200" b="1">
                <a:solidFill>
                  <a:srgbClr val="F8FAFC"/>
                </a:solidFill>
                <a:latin typeface="Times New Roman"/>
              </a:defRPr>
            </a:pPr>
            <a:r>
              <a:t>SETARA: 0.07 TAHUN (KURANG DARI 1 BULAN OPERASI)</a:t>
            </a:r>
          </a:p>
          <a:p>
            <a:br/>
            <a:pPr>
              <a:defRPr sz="1200" b="1">
                <a:solidFill>
                  <a:srgbClr val="10B981"/>
                </a:solidFill>
                <a:latin typeface="Times New Roman"/>
              </a:defRPr>
            </a:pPr>
            <a:r>
              <a:t>TARGET / SYARAT: &lt; 3,00 TAHUN (36 BULAN) ➔ SANGAT LAYAK</a:t>
            </a:r>
          </a:p>
          <a:p>
            <a:br/>
            <a:pPr>
              <a:defRPr sz="1050">
                <a:solidFill>
                  <a:srgbClr val="94A3B8"/>
                </a:solidFill>
                <a:latin typeface="Times New Roman"/>
              </a:defRPr>
            </a:pPr>
            <a:r>
              <a:t>Modal awal sebesar Rp 62.000.000 telah pulih kembali sepenuhnya hanya dalam tempo 0.82 bulan (sekitar 25 hari kerja pada bulan pertama). Seluruh arus kas berikutnya murni menjadi keuntungan likuid.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114800" cy="320040"/>
          </a:xfrm>
          <a:prstGeom prst="rect">
            <a:avLst/>
          </a:prstGeom>
          <a:noFill/>
        </p:spPr>
        <p:txBody>
          <a:bodyPr wrap="none" lIns="0" rIns="0" tIns="0" bIns="0">
            <a:spAutoFit/>
          </a:bodyPr>
          <a:lstStyle/>
          <a:p>
            <a:pPr>
              <a:defRPr sz="1050" b="1">
                <a:solidFill>
                  <a:srgbClr val="F59E0B"/>
                </a:solidFill>
                <a:latin typeface="Times New Roman"/>
              </a:defRPr>
            </a:pPr>
            <a:r>
              <a:t>• BAB VI: KELAYAKAN INVESTASI</a:t>
            </a:r>
          </a:p>
        </p:txBody>
      </p:sp>
      <p:sp>
        <p:nvSpPr>
          <p:cNvPr id="4" name="TextBox 3"/>
          <p:cNvSpPr txBox="1"/>
          <p:nvPr/>
        </p:nvSpPr>
        <p:spPr>
          <a:xfrm>
            <a:off x="9601200" y="365760"/>
            <a:ext cx="1828800" cy="320040"/>
          </a:xfrm>
          <a:prstGeom prst="rect">
            <a:avLst/>
          </a:prstGeom>
          <a:noFill/>
        </p:spPr>
        <p:txBody>
          <a:bodyPr wrap="none" lIns="0" rIns="0" tIns="0" bIns="0">
            <a:spAutoFit/>
          </a:bodyPr>
          <a:lstStyle/>
          <a:p>
            <a:pPr algn="r">
              <a:defRPr sz="1050" b="1">
                <a:solidFill>
                  <a:srgbClr val="94A3B8"/>
                </a:solidFill>
                <a:latin typeface="Times New Roman"/>
              </a:defRPr>
            </a:pPr>
            <a:r>
              <a:t>SLIDE 21 / 22</a:t>
            </a:r>
          </a:p>
        </p:txBody>
      </p:sp>
      <p:sp>
        <p:nvSpPr>
          <p:cNvPr id="5" name="TextBox 4"/>
          <p:cNvSpPr txBox="1"/>
          <p:nvPr/>
        </p:nvSpPr>
        <p:spPr>
          <a:xfrm>
            <a:off x="731520" y="685800"/>
            <a:ext cx="10698480" cy="777240"/>
          </a:xfrm>
          <a:prstGeom prst="rect">
            <a:avLst/>
          </a:prstGeom>
          <a:noFill/>
        </p:spPr>
        <p:txBody>
          <a:bodyPr wrap="none" lIns="0" rIns="0" tIns="0" bIns="0">
            <a:spAutoFit/>
          </a:bodyPr>
          <a:lstStyle/>
          <a:p>
            <a:pPr>
              <a:defRPr sz="2400" b="1">
                <a:solidFill>
                  <a:srgbClr val="F8FAFC"/>
                </a:solidFill>
                <a:latin typeface="Times New Roman"/>
              </a:defRPr>
            </a:pPr>
            <a:r>
              <a:t>Profitability Index &amp; Matriks Kelayakan</a:t>
            </a:r>
          </a:p>
          <a:p>
            <a:pPr>
              <a:defRPr sz="1200">
                <a:solidFill>
                  <a:srgbClr val="94A3B8"/>
                </a:solidFill>
                <a:latin typeface="Times New Roman"/>
              </a:defRPr>
            </a:pPr>
            <a:r>
              <a:t>Rangkuman skor evaluasi investasi dan ketahanan terhadap risiko pasar</a:t>
            </a:r>
          </a:p>
        </p:txBody>
      </p:sp>
      <p:sp>
        <p:nvSpPr>
          <p:cNvPr id="6" name="Rounded Rectangle 5"/>
          <p:cNvSpPr/>
          <p:nvPr/>
        </p:nvSpPr>
        <p:spPr>
          <a:xfrm>
            <a:off x="731520" y="1737360"/>
            <a:ext cx="5212080" cy="12801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20"/>
            <a:ext cx="4846320" cy="1005840"/>
          </a:xfrm>
          <a:prstGeom prst="rect">
            <a:avLst/>
          </a:prstGeom>
          <a:noFill/>
        </p:spPr>
        <p:txBody>
          <a:bodyPr wrap="none" lIns="0" rIns="0" tIns="0" bIns="0">
            <a:spAutoFit/>
          </a:bodyPr>
          <a:lstStyle/>
          <a:p>
            <a:pPr>
              <a:defRPr sz="1100" b="1">
                <a:solidFill>
                  <a:srgbClr val="F59E0B"/>
                </a:solidFill>
                <a:latin typeface="Times New Roman"/>
              </a:defRPr>
            </a:pPr>
            <a:r>
              <a:t>NET PRESENT VALUE (NPV)</a:t>
            </a:r>
          </a:p>
          <a:p>
            <a:pPr>
              <a:defRPr sz="1300" b="1">
                <a:solidFill>
                  <a:srgbClr val="F8FAFC"/>
                </a:solidFill>
                <a:latin typeface="Times New Roman"/>
              </a:defRPr>
            </a:pPr>
            <a:r>
              <a:t>Rp 5.682.364.987   [Standar: &gt; Rp 0 (Positif)]   ➔  SANGAT LAYAK</a:t>
            </a:r>
          </a:p>
        </p:txBody>
      </p:sp>
      <p:sp>
        <p:nvSpPr>
          <p:cNvPr id="8" name="Rounded Rectangle 7"/>
          <p:cNvSpPr/>
          <p:nvPr/>
        </p:nvSpPr>
        <p:spPr>
          <a:xfrm>
            <a:off x="6217920" y="1737360"/>
            <a:ext cx="5212080" cy="12801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74520"/>
            <a:ext cx="4846320" cy="1005840"/>
          </a:xfrm>
          <a:prstGeom prst="rect">
            <a:avLst/>
          </a:prstGeom>
          <a:noFill/>
        </p:spPr>
        <p:txBody>
          <a:bodyPr wrap="none" lIns="0" rIns="0" tIns="0" bIns="0">
            <a:spAutoFit/>
          </a:bodyPr>
          <a:lstStyle/>
          <a:p>
            <a:pPr>
              <a:defRPr sz="1100" b="1">
                <a:solidFill>
                  <a:srgbClr val="F59E0B"/>
                </a:solidFill>
                <a:latin typeface="Times New Roman"/>
              </a:defRPr>
            </a:pPr>
            <a:r>
              <a:t>INTERNAL RATE OF RETURN (IRR)</a:t>
            </a:r>
          </a:p>
          <a:p>
            <a:pPr>
              <a:defRPr sz="1300" b="1">
                <a:solidFill>
                  <a:srgbClr val="F8FAFC"/>
                </a:solidFill>
                <a:latin typeface="Times New Roman"/>
              </a:defRPr>
            </a:pPr>
            <a:r>
              <a:t>&gt; 20,00%   [Standar: &gt; 20,00%]   ➔  SANGAT LAYAK</a:t>
            </a:r>
          </a:p>
        </p:txBody>
      </p:sp>
      <p:sp>
        <p:nvSpPr>
          <p:cNvPr id="10" name="Rounded Rectangle 9"/>
          <p:cNvSpPr/>
          <p:nvPr/>
        </p:nvSpPr>
        <p:spPr>
          <a:xfrm>
            <a:off x="731520" y="3200400"/>
            <a:ext cx="5212080" cy="12801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337560"/>
            <a:ext cx="4846320" cy="1005840"/>
          </a:xfrm>
          <a:prstGeom prst="rect">
            <a:avLst/>
          </a:prstGeom>
          <a:noFill/>
        </p:spPr>
        <p:txBody>
          <a:bodyPr wrap="none" lIns="0" rIns="0" tIns="0" bIns="0">
            <a:spAutoFit/>
          </a:bodyPr>
          <a:lstStyle/>
          <a:p>
            <a:pPr>
              <a:defRPr sz="1100" b="1">
                <a:solidFill>
                  <a:srgbClr val="F59E0B"/>
                </a:solidFill>
                <a:latin typeface="Times New Roman"/>
              </a:defRPr>
            </a:pPr>
            <a:r>
              <a:t>PAYBACK PERIOD (PP)</a:t>
            </a:r>
          </a:p>
          <a:p>
            <a:pPr>
              <a:defRPr sz="1300" b="1">
                <a:solidFill>
                  <a:srgbClr val="F8FAFC"/>
                </a:solidFill>
                <a:latin typeface="Times New Roman"/>
              </a:defRPr>
            </a:pPr>
            <a:r>
              <a:t>0.82 Bulan   [Standar: &lt; 36 Bulan (3 Thn)]   ➔  SANGAT LAYAK</a:t>
            </a:r>
          </a:p>
        </p:txBody>
      </p:sp>
      <p:sp>
        <p:nvSpPr>
          <p:cNvPr id="12" name="Rounded Rectangle 11"/>
          <p:cNvSpPr/>
          <p:nvPr/>
        </p:nvSpPr>
        <p:spPr>
          <a:xfrm>
            <a:off x="6217920" y="3200400"/>
            <a:ext cx="5212080" cy="12801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337560"/>
            <a:ext cx="4846320" cy="1005840"/>
          </a:xfrm>
          <a:prstGeom prst="rect">
            <a:avLst/>
          </a:prstGeom>
          <a:noFill/>
        </p:spPr>
        <p:txBody>
          <a:bodyPr wrap="none" lIns="0" rIns="0" tIns="0" bIns="0">
            <a:spAutoFit/>
          </a:bodyPr>
          <a:lstStyle/>
          <a:p>
            <a:pPr>
              <a:defRPr sz="1100" b="1">
                <a:solidFill>
                  <a:srgbClr val="F59E0B"/>
                </a:solidFill>
                <a:latin typeface="Times New Roman"/>
              </a:defRPr>
            </a:pPr>
            <a:r>
              <a:t>PROFITABILITY INDEX (PI)</a:t>
            </a:r>
          </a:p>
          <a:p>
            <a:pPr>
              <a:defRPr sz="1300" b="1">
                <a:solidFill>
                  <a:srgbClr val="F8FAFC"/>
                </a:solidFill>
                <a:latin typeface="Times New Roman"/>
              </a:defRPr>
            </a:pPr>
            <a:r>
              <a:t>175.81   [Standar: &gt; 1,20]   ➔  SANGAT LAYAK</a:t>
            </a:r>
          </a:p>
        </p:txBody>
      </p:sp>
      <p:sp>
        <p:nvSpPr>
          <p:cNvPr id="14" name="Rounded Rectangle 13"/>
          <p:cNvSpPr/>
          <p:nvPr/>
        </p:nvSpPr>
        <p:spPr>
          <a:xfrm>
            <a:off x="731520" y="4846320"/>
            <a:ext cx="10698480" cy="137160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983480"/>
            <a:ext cx="10149840" cy="1097280"/>
          </a:xfrm>
          <a:prstGeom prst="rect">
            <a:avLst/>
          </a:prstGeom>
          <a:noFill/>
        </p:spPr>
        <p:txBody>
          <a:bodyPr wrap="none" lIns="0" rIns="0" tIns="0" bIns="0">
            <a:spAutoFit/>
          </a:bodyPr>
          <a:lstStyle/>
          <a:p>
            <a:pPr>
              <a:defRPr sz="1200" b="1">
                <a:solidFill>
                  <a:srgbClr val="38BDF8"/>
                </a:solidFill>
                <a:latin typeface="Times New Roman"/>
              </a:defRPr>
            </a:pPr>
            <a:r>
              <a:t>ANALISIS SENSITIVITAS &amp; KETAHANAN TERHADAP RISIKO</a:t>
            </a:r>
          </a:p>
          <a:p>
            <a:pPr>
              <a:defRPr sz="1050">
                <a:solidFill>
                  <a:srgbClr val="F8FAFC"/>
                </a:solidFill>
                <a:latin typeface="Times New Roman"/>
              </a:defRPr>
            </a:pPr>
            <a:r>
              <a:t>• Skenario Kenaikan Harga Bahan Baku Daging (+10%): Nilai NPV tetap positif di atas Rp 5,2 Milyar dengan Payback Period &lt; 1 bulan.</a:t>
            </a:r>
            <a:br/>
            <a:r>
              <a:t>• Skenario Penurunan Volume Penjualan (-15%): Kedai tetap menghasilkan arus kas operasional surplus yang sangat sehat untuk menutup gaji dan sewa.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457200"/>
            <a:ext cx="10362895" cy="594360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krida.png"/>
          <p:cNvPicPr>
            <a:picLocks noChangeAspect="1"/>
          </p:cNvPicPr>
          <p:nvPr/>
        </p:nvPicPr>
        <p:blipFill>
          <a:blip r:embed="rId2"/>
          <a:stretch>
            <a:fillRect/>
          </a:stretch>
        </p:blipFill>
        <p:spPr>
          <a:xfrm>
            <a:off x="5546750" y="685800"/>
            <a:ext cx="1097280" cy="1097280"/>
          </a:xfrm>
          <a:prstGeom prst="rect">
            <a:avLst/>
          </a:prstGeom>
        </p:spPr>
      </p:pic>
      <p:sp>
        <p:nvSpPr>
          <p:cNvPr id="5" name="TextBox 4"/>
          <p:cNvSpPr txBox="1"/>
          <p:nvPr/>
        </p:nvSpPr>
        <p:spPr>
          <a:xfrm>
            <a:off x="1188720" y="1874519"/>
            <a:ext cx="9814255" cy="4389120"/>
          </a:xfrm>
          <a:prstGeom prst="rect">
            <a:avLst/>
          </a:prstGeom>
          <a:noFill/>
        </p:spPr>
        <p:txBody>
          <a:bodyPr wrap="none" lIns="0" rIns="0" tIns="0" bIns="0">
            <a:spAutoFit/>
          </a:bodyPr>
          <a:lstStyle/>
          <a:p>
            <a:pPr algn="ctr">
              <a:defRPr sz="1600" b="1">
                <a:solidFill>
                  <a:srgbClr val="F59E0B"/>
                </a:solidFill>
                <a:latin typeface="Times New Roman"/>
              </a:defRPr>
            </a:pPr>
            <a:r>
              <a:t>KESIMPULAN AKHIR KELAYAKAN INVESTASI</a:t>
            </a:r>
          </a:p>
          <a:p>
            <a:pPr algn="ctr">
              <a:defRPr sz="3200" b="1">
                <a:solidFill>
                  <a:srgbClr val="10B981"/>
                </a:solidFill>
                <a:latin typeface="Times New Roman"/>
              </a:defRPr>
            </a:pPr>
            <a:r>
              <a:t>“ BISNIS DINYATAKAN SANGAT LAYAK ”</a:t>
            </a:r>
          </a:p>
          <a:p>
            <a:pPr algn="ctr">
              <a:defRPr sz="1200">
                <a:solidFill>
                  <a:srgbClr val="F8FAFC"/>
                </a:solidFill>
                <a:latin typeface="Times New Roman"/>
              </a:defRPr>
            </a:pPr>
            <a:r>
              <a:t>Berdasarkan hasil analisis komprehensif aspek pasar. manajemen. teknis operasi. dan finansial.</a:t>
            </a:r>
            <a:br/>
            <a:r>
              <a:t>proyek Bakmi Mimu Carina Sayang menghasilkan NPV Rp 5.682.364.987, IRR &gt; 20,00%, Payback Period 0.82 bulan (hanya 0,07 tahun), dan PI 175.81.</a:t>
            </a:r>
          </a:p>
          <a:p>
            <a:pPr algn="ctr">
              <a:defRPr sz="1100" b="1">
                <a:solidFill>
                  <a:srgbClr val="FBBF24"/>
                </a:solidFill>
                <a:latin typeface="Times New Roman"/>
              </a:defRPr>
            </a:pPr>
            <a:br/>
            <a:r>
              <a:t>Disusun Oleh Tim Mahasiswa:</a:t>
            </a:r>
            <a:br/>
            <a:r>
              <a:t>Arthur Reezan (312023002)   •   Jennese Putra Alamsyah Sukadi (312023033)   •   Valendrik Dwiputra Wirawan (312023013)</a:t>
            </a:r>
            <a:br/>
            <a:r>
              <a:t>Affandy (312023075)   •   Steven Putra Tjhin (312023015)</a:t>
            </a:r>
          </a:p>
          <a:p>
            <a:pPr algn="ctr">
              <a:defRPr sz="1050" i="1">
                <a:solidFill>
                  <a:srgbClr val="94A3B8"/>
                </a:solidFill>
                <a:latin typeface="Times New Roman"/>
              </a:defRPr>
            </a:pPr>
            <a:br/>
            <a:r>
              <a:t>Sekian &amp; Terima Kasih  |  Sesi Tanya Jawab Dibuka</a:t>
            </a:r>
            <a:br/>
            <a:r>
              <a:t>Program Studi Manajemen  |  Fakultas Ekonomi &amp; Bisnis  |  Universitas Kristen Krida Wacana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