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10728655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/>
          </a:p>
        </p:txBody>
      </p:sp>
      <p:pic>
        <p:nvPicPr>
          <p:cNvPr id="5" name="Picture 4" descr="logo_ukr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50" y="64008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810512"/>
            <a:ext cx="1036289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FAKULTAS EKONOMI &amp; BISNIS  •  UNIVERSITAS KRISTEN KRIDA WACANA</a:t>
            </a:r>
          </a:p>
          <a:p>
            <a:pPr algn="ctr">
              <a:defRPr sz="1500">
                <a:solidFill>
                  <a:srgbClr val="475569"/>
                </a:solidFill>
                <a:latin typeface="Times New Roman"/>
              </a:defRPr>
            </a:pPr>
            <a:r>
              <a:t>LAPORAN PRESENTASI STUDI KELAYAKAN BISNIS (SKB)</a:t>
            </a:r>
          </a:p>
          <a:p>
            <a:pPr algn="ctr">
              <a:defRPr sz="3400" b="1">
                <a:solidFill>
                  <a:srgbClr val="0F294D"/>
                </a:solidFill>
                <a:latin typeface="Times New Roman"/>
              </a:defRPr>
            </a:pPr>
            <a:r>
              <a:t>“ BAKMI MIMU CARINA SAYANG ”</a:t>
            </a:r>
          </a:p>
          <a:p>
            <a:pPr algn="ctr">
              <a:defRPr sz="1400" i="1">
                <a:solidFill>
                  <a:srgbClr val="C27803"/>
                </a:solidFill>
                <a:latin typeface="Times New Roman"/>
              </a:defRPr>
            </a:pPr>
            <a:r>
              <a:t>- Cita Rasa Bakmi Legendaris &amp; Otentik Sejak 1999 -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4279392"/>
            <a:ext cx="2011680" cy="11704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Mahasiswa 1</a:t>
            </a:r>
          </a:p>
          <a:p>
            <a:pPr algn="ctr">
              <a:defRPr sz="1050" b="1">
                <a:solidFill>
                  <a:srgbClr val="0F294D"/>
                </a:solidFill>
                <a:latin typeface="Times New Roman"/>
              </a:defRPr>
            </a:pPr>
            <a:r>
              <a:t>Arthur Reezan</a:t>
            </a:r>
          </a:p>
          <a:p>
            <a:pPr algn="ctr"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NIM: 312023002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72968" y="4279392"/>
            <a:ext cx="2011680" cy="11704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Mahasiswa 2</a:t>
            </a:r>
          </a:p>
          <a:p>
            <a:pPr algn="ctr">
              <a:defRPr sz="1050" b="1">
                <a:solidFill>
                  <a:srgbClr val="0F294D"/>
                </a:solidFill>
                <a:latin typeface="Times New Roman"/>
              </a:defRPr>
            </a:pPr>
            <a:r>
              <a:t>Jennese Putra Alamsyah Sukadi</a:t>
            </a:r>
          </a:p>
          <a:p>
            <a:pPr algn="ctr"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NIM: 312023033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94376" y="4279392"/>
            <a:ext cx="2011680" cy="11704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Mahasiswa 3</a:t>
            </a:r>
          </a:p>
          <a:p>
            <a:pPr algn="ctr">
              <a:defRPr sz="1050" b="1">
                <a:solidFill>
                  <a:srgbClr val="0F294D"/>
                </a:solidFill>
                <a:latin typeface="Times New Roman"/>
              </a:defRPr>
            </a:pPr>
            <a:r>
              <a:t>Valendrik Dwiputra Wirawan</a:t>
            </a:r>
          </a:p>
          <a:p>
            <a:pPr algn="ctr"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NIM: 312023013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15784" y="4279392"/>
            <a:ext cx="2011680" cy="11704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Mahasiswa 4</a:t>
            </a:r>
          </a:p>
          <a:p>
            <a:pPr algn="ctr">
              <a:defRPr sz="1050" b="1">
                <a:solidFill>
                  <a:srgbClr val="0F294D"/>
                </a:solidFill>
                <a:latin typeface="Times New Roman"/>
              </a:defRPr>
            </a:pPr>
            <a:r>
              <a:t>Affandy</a:t>
            </a:r>
          </a:p>
          <a:p>
            <a:pPr algn="ctr"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NIM: 312023075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37192" y="4279392"/>
            <a:ext cx="2011680" cy="11704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Mahasiswa 5</a:t>
            </a:r>
          </a:p>
          <a:p>
            <a:pPr algn="ctr">
              <a:defRPr sz="1050" b="1">
                <a:solidFill>
                  <a:srgbClr val="0F294D"/>
                </a:solidFill>
                <a:latin typeface="Times New Roman"/>
              </a:defRPr>
            </a:pPr>
            <a:r>
              <a:t>Steven Putra Tjhin</a:t>
            </a:r>
          </a:p>
          <a:p>
            <a:pPr algn="ctr"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NIM: 312023015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  <a:latin typeface="Times New Roman"/>
              </a:defRPr>
            </a:pPr>
            <a:r>
              <a:t>Program Studi Sarjana Manajemen  |  Konsentrasi Studi Kelayakan Bisnis  |  Tahun Akademik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AGENDA PRESENTASI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Daftar Isi &amp; Sistematika Kajian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Ringkasan 6 bab utama studi kelayakan bisnis berstandar akademik FEB UKRIDA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56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BAB 01</a:t>
            </a:r>
          </a:p>
          <a:p>
            <a:pPr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BAB I: PENDAHULUAN &amp; PROFIL</a:t>
            </a:r>
          </a:p>
          <a:p>
            <a:br/>
            <a:pPr>
              <a:defRPr sz="1100">
                <a:solidFill>
                  <a:srgbClr val="475569"/>
                </a:solidFill>
                <a:latin typeface="Times New Roman"/>
              </a:defRPr>
            </a:pPr>
            <a:r>
              <a:t>Perjalanan usaha 1999 Taman Aries -&gt; 2016 Duri Kosambi, basis pelanggan 2019, peluang ekspansi 2027/28, &amp; 5 pilar diferensiasi.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00200"/>
            <a:ext cx="3456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BAB 02</a:t>
            </a:r>
          </a:p>
          <a:p>
            <a:pPr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BAB II: ASPEK PASAR &amp; PEMASARAN</a:t>
            </a:r>
          </a:p>
          <a:p>
            <a:br/>
            <a:pPr>
              <a:defRPr sz="1100">
                <a:solidFill>
                  <a:srgbClr val="475569"/>
                </a:solidFill>
                <a:latin typeface="Times New Roman"/>
              </a:defRPr>
            </a:pPr>
            <a:r>
              <a:t>Segmentasi STP, bauran pemasaran terpadu 7P lengkap, matriks komparasi kompetitor, &amp; keunggulan 3 racikan minyak khas.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00200"/>
            <a:ext cx="3456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BAB 03</a:t>
            </a:r>
          </a:p>
          <a:p>
            <a:pPr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BAB III: ASPEK MANAJEMEN &amp; SDM</a:t>
            </a:r>
          </a:p>
          <a:p>
            <a:br/>
            <a:pPr>
              <a:defRPr sz="1100">
                <a:solidFill>
                  <a:srgbClr val="475569"/>
                </a:solidFill>
                <a:latin typeface="Times New Roman"/>
              </a:defRPr>
            </a:pPr>
            <a:r>
              <a:t>Struktur organisasi owner &amp; 3 staf fungsional, rincian job description operasional, &amp; total anggaran upah pasti Rp 10 Jt/bulan.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456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BAB 04</a:t>
            </a:r>
          </a:p>
          <a:p>
            <a:pPr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BAB IV: ASPEK TEKNIS &amp; OPERASI</a:t>
            </a:r>
          </a:p>
          <a:p>
            <a:br/>
            <a:pPr>
              <a:defRPr sz="1100">
                <a:solidFill>
                  <a:srgbClr val="475569"/>
                </a:solidFill>
                <a:latin typeface="Times New Roman"/>
              </a:defRPr>
            </a:pPr>
            <a:r>
              <a:t>Tata letak ruko 1 lantai 23 kursi, alur open kitchen teras, adonan mie mingguan tanpa pengawet, &amp; timeline pra-operasi 12 minggu.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4023360"/>
            <a:ext cx="3456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BAB 05</a:t>
            </a:r>
          </a:p>
          <a:p>
            <a:pPr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BAB V: ASPEK KEUANGAN TERPADU</a:t>
            </a:r>
          </a:p>
          <a:p>
            <a:br/>
            <a:pPr>
              <a:defRPr sz="1100">
                <a:solidFill>
                  <a:srgbClr val="475569"/>
                </a:solidFill>
                <a:latin typeface="Times New Roman"/>
              </a:defRPr>
            </a:pPr>
            <a:r>
              <a:t>Modal awal Rp 62.0 Jt, 12 item capex Rp 40.7 Jt, depresiasi 20%, &amp; proyeksi arus kas 5 tahun (CIF, COF, NCF).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4023360"/>
            <a:ext cx="345643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BAB 06</a:t>
            </a:r>
          </a:p>
          <a:p>
            <a:pPr>
              <a:defRPr sz="1300" b="1">
                <a:solidFill>
                  <a:srgbClr val="0F294D"/>
                </a:solidFill>
                <a:latin typeface="Times New Roman"/>
              </a:defRPr>
            </a:pPr>
            <a:r>
              <a:t>BAB VI: KELAYAKAN INVESTASI</a:t>
            </a:r>
          </a:p>
          <a:p>
            <a:br/>
            <a:pPr>
              <a:defRPr sz="1100">
                <a:solidFill>
                  <a:srgbClr val="475569"/>
                </a:solidFill>
                <a:latin typeface="Times New Roman"/>
              </a:defRPr>
            </a:pPr>
            <a:r>
              <a:t>Uji 4 kriteria: NPV Positif Rp 5.68 M, IRR &gt; 20%, Payback Period 0.82 Bulan (cepat), &amp; PI 175.81x.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I: PENDAHULUAN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Profil Usaha &amp; Keunggulan Kompetitif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Perjalanan kuliner legendaris sejak 1999, diferensiasi produk, dan peluang ekspansi masa depan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600" b="1">
                <a:solidFill>
                  <a:srgbClr val="C27803"/>
                </a:solidFill>
                <a:latin typeface="Times New Roman"/>
              </a:defRPr>
            </a:pPr>
            <a:r>
              <a:t>1999</a:t>
            </a:r>
          </a:p>
          <a:p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Awal di Taman Aries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Usaha didirikan pertama kali di Taman Aries (Meruya) dengan resep autentik keluarga turun-temurun.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0020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600" b="1">
                <a:solidFill>
                  <a:srgbClr val="C27803"/>
                </a:solidFill>
                <a:latin typeface="Times New Roman"/>
              </a:defRPr>
            </a:pPr>
            <a:r>
              <a:t>2016</a:t>
            </a:r>
          </a:p>
          <a:p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Relokasi ke Duri Kosambi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Tahun 2016 berpindah ke ruko Jl. Angsoka Hijau IV Duri Kosambi persis di depan Kalam Kudus.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0020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600" b="1">
                <a:solidFill>
                  <a:srgbClr val="C27803"/>
                </a:solidFill>
                <a:latin typeface="Times New Roman"/>
              </a:defRPr>
            </a:pPr>
            <a:r>
              <a:t>2019</a:t>
            </a:r>
          </a:p>
          <a:p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Basis Pelanggan Solid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Basis pelanggan setia terbentuk kuat favorit sarapan dan makan siang keluarga perumahan.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00200"/>
            <a:ext cx="25420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600" b="1">
                <a:solidFill>
                  <a:srgbClr val="C27803"/>
                </a:solidFill>
                <a:latin typeface="Times New Roman"/>
              </a:defRPr>
            </a:pPr>
            <a:r>
              <a:t>2027/28</a:t>
            </a:r>
          </a:p>
          <a:p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Peluang Ekspansi Cabang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Tingginya permintaan membuka peluang ekspansi 2027/2028 untuk ruko lebih luas atau cabang baru.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10728655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C27803"/>
                </a:solidFill>
                <a:latin typeface="Times New Roman"/>
              </a:defRPr>
            </a:pPr>
            <a:r>
              <a:t>FILOSOFI MUTU: ADONAN MIE FRESH DIBUAT MANDIRI SETIAP MINGGU (BATCH MINGGUAN TANPA PENGAWET)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Adonan mie dibuat mandiri setiap minggu menghasilkan tekstur kenyal alami berkilau (shining), higienis, serta 100% bebas dari formalin dan zat pengawet kimia berbahaya.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0F294D"/>
                </a:solidFill>
                <a:latin typeface="Times New Roman"/>
              </a:defRPr>
            </a:pPr>
            <a:r>
              <a:t>01. TASTE (RASA)</a:t>
            </a:r>
          </a:p>
          <a:p>
            <a:br/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Mie kenyal, 3 racikan minyak khas (babi, ayam, sayur+wijen), kaldu gurih asli, 3 topping murni: ayam putih, babi kecap, casiu madu.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1" y="429768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0F294D"/>
                </a:solidFill>
                <a:latin typeface="Times New Roman"/>
              </a:defRPr>
            </a:pPr>
            <a:r>
              <a:t>02. LOKASI STRATEGIS</a:t>
            </a:r>
          </a:p>
          <a:p>
            <a:br/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Jl. Angsoka Hijau IV Blok E6 No. 17 Duri Kosambi (Depan Taman TK, SD, SMP Kalam Kudus), lokasi strategis &amp; parkir motor aman.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429768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0F294D"/>
                </a:solidFill>
                <a:latin typeface="Times New Roman"/>
              </a:defRPr>
            </a:pPr>
            <a:r>
              <a:t>03. OPEN KITCHEN</a:t>
            </a:r>
          </a:p>
          <a:p>
            <a:br/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Dapur terbuka gerobak di teras depan, perebusan higienis terlihat jelas, serta saus botol resmi Cap Belibis &amp; Mangga Besar.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429768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0F294D"/>
                </a:solidFill>
                <a:latin typeface="Times New Roman"/>
              </a:defRPr>
            </a:pPr>
            <a:r>
              <a:t>04. PORSI FLEKSIBEL</a:t>
            </a:r>
          </a:p>
          <a:p>
            <a:br/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Pilihan fleksibel: Porsi Kecil (27k), Reguler (29k-39k), hingga Jumbo (+100% mie / 2x lipat porsi standar 49k-59k) untuk segala selera.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4297680"/>
            <a:ext cx="20116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0F294D"/>
                </a:solidFill>
                <a:latin typeface="Times New Roman"/>
              </a:defRPr>
            </a:pPr>
            <a:r>
              <a:t>05. PELENGKAP LENGKAP</a:t>
            </a:r>
          </a:p>
          <a:p>
            <a:br/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Swikiaw &amp; pangsit kuah (@4.5k-5.5k), baso goreng babi-udang 8k, badak sarsaparilla, susu kacang &amp; liang teh segar 12k.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I: PENDAHULUAN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Daftar Menu &amp; Struktur Harga Jual Resmi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Struktur harga bersaing (Value-Based Pricing) sesuai daftar menu riil kedai di Duri Kosambi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00200"/>
          <a:ext cx="521208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554480"/>
              </a:tblGrid>
              <a:tr h="568234"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Menu Utama (Topping Murni)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Harga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Keterangan Porsi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</a:tr>
              <a:tr h="568234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Mie Campur (Ayam + Babi Kecap)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29.000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Reguler Favorit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Mie Ayam Putih / Babi Saja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29.000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Topping Tunggal Murni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8234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Mie Daging Casiu Madu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31.000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Casiu Panggang Gurih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Mie Spesial 3 Isi Lengkap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39.000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Ayam, Babi &amp; Casiu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8234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Porsi Jumbo (+100% Mie)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49.000 - 59.000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2x Lipat Porsi Standar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Porsi Kecil (Sarapan Hemat)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27.000 - 29.000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Porsi Ringan Anak/Pagi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48095" y="1600200"/>
          <a:ext cx="521208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554480"/>
              </a:tblGrid>
              <a:tr h="568234"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Pelengkap, Kuah &amp; Minuman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Harga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Keterangan Item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68234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t>Pangsit Rebus Kuah (5 pcs)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22.500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@Rp 4.500 / pcs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t>Swikiaw Rebus Kuah (5 pcs)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27.500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@Rp 5.500 / pcs (Babi-Udang)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8234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t>Baso Sapi &amp; Baso Ikan (5 pcs)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22.500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Sama harga pangsit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t>Pangsit Goreng &amp; Baso Goreng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5.000 - 8.000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Baso grg babi-udang 8k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68234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t>Badak Sarsaparilla (Cap Badak)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12.000 - 14.000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Soda legendaris Siantar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1E3A8A"/>
                          </a:solidFill>
                          <a:latin typeface="Times New Roman"/>
                        </a:defRPr>
                      </a:pPr>
                      <a:r>
                        <a:t>Susu Kacang, Liang Teh, Teh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1.000 - 12.000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0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Saus Belibis &amp; Mangga Bsr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715000"/>
            <a:ext cx="10728655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059669"/>
                </a:solidFill>
                <a:latin typeface="Times New Roman"/>
              </a:defRPr>
            </a:pPr>
            <a:r>
              <a:t>STANDAR KUALITAS BAHAN: 100% DAGING MURNI PILIHAN (TANPA BEBEK &amp; JAMUR)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Seluruh menu diolah fresh setiap hari tanpa formalin. Disajikan lengkap dengan 3 racikan minyak khas (minyak babi, ayam, atau sayur+wijen) sesuai selera pengunjung.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II: ASPEK PASAR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Analisis Pasar: STP &amp; Peta Kompetitor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Segmentasi pasar sasaran serta matriks komparasi daya saing terhadap kompetitor sekitar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0F294D"/>
                </a:solidFill>
                <a:latin typeface="Times New Roman"/>
              </a:defRPr>
            </a:pPr>
            <a:r>
              <a:t>SEGMENTASI (SEGMENTING)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Geografis: Radius 0 - 5 km meliputi Perumahan Duri Kosambi, Semanan, TSI, &amp; Cengkareng.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Demografis: Pria &amp; wanita usia 7 - 65 tahun, siswa-siswi, guru, orang tua Kalam Kudus, SES Menengah.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Perilaku: Pencinta bakmi oriental yang mengutamakan tekstur kenyal, kaldu gurih, &amp; higienitas.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0F294D"/>
                </a:solidFill>
                <a:latin typeface="Times New Roman"/>
              </a:defRPr>
            </a:pPr>
            <a:r>
              <a:t>TARGET PASAR (TARGETING)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Keluarga Residensial: Keluarga perumahan sekitar Duri Kosambi untuk sarapan &amp; makan siang.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Civitas Kalam Kudus: Murid, guru, dan orang tua Sekolah Kristen Kalam Kudus di depan kedai.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Komunitas Sekitar: Jemaat gereja hari Sabtu-Minggu serta pelanggan bawa pulang / take-away.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0060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0F294D"/>
                </a:solidFill>
                <a:latin typeface="Times New Roman"/>
              </a:defRPr>
            </a:pPr>
            <a:r>
              <a:t>POSISI PASAR (POSITIONING)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Identitas: “Kedai Bakmi Otentik Legendaris Resep 1999 dan Standar Kebersihan Higienis Terpercaya”.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Value Proposition: Memberikan kepuasan rasa autentik resep keluarga dengan porsi mengenyangkan.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Brand Perception: Kedai bakmi keluarga yang bersih, ramah, bersahaja, dan bernilai sebanding.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C27803"/>
                </a:solidFill>
                <a:latin typeface="Times New Roman"/>
              </a:defRPr>
            </a:pPr>
            <a:r>
              <a:t>BAKMI MIMU CARINA SAYANG (BRAND UNGGULAN)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▸ Rasa &amp; Resep: Resep 1999, 3 racikan minyak khas, adonan fresh mingguan.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▸ Fasilitas: Ruko 1 lantai 23 kursi, 6 kipas angin dinding sejuk, open kitchen teras.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▸ Topping &amp; Saus: 3 Topping murni (ayam, babi, casiu), kuah swikiaw, saus Belibis.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▸ Harga &amp; Value: Rp 27.000 - Rp 59.000 (Opsi porsi kecil, reguler, hingga jumbo).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320040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1E3A8A"/>
                </a:solidFill>
                <a:latin typeface="Times New Roman"/>
              </a:defRPr>
            </a:pPr>
            <a:r>
              <a:t>BAKMI ALOK / BRAND BESAR (KOMPETITOR TERKENAL)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▸ Rasa &amp; Resep: Dominan ayam rebus gurih, brand equity kuat Jakarta Barat.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▸ Fasilitas: Restoran permanen ber-AC, kapasitas besar, antrean jam makan siang.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▸ Topping &amp; Saus: Fokus ayam kampung rebus, tidak menyediakan varian babi casiu.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▸ Harga &amp; Value: Rp 45.000 - Rp 65.000 (Segmen premium, relatif lebih mahal).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480060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475569"/>
                </a:solidFill>
                <a:latin typeface="Times New Roman"/>
              </a:defRPr>
            </a:pPr>
            <a:r>
              <a:t>WARUNG BAKMI LOKAL KOSAMBI (TRADISIONAL)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▸ Rasa &amp; Resep: Standar gerobak kaki lima, bumbu penyedap dominan.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▸ Fasilitas: Kios tenda pinggir jalan, sirkulasi udara terbatas, parkir sempit.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▸ Topping &amp; Saus: Topping terbatas ayam cincang biasa, jarang menyediakan swikiaw.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▸ Harga &amp; Value: Rp 20.000 - Rp 25.000 (Murah namun higienitas &amp; fasilitas minim).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II: ASPEK PASAR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Strategi Bauran Pemasaran Terpadu (Marketing Mix 7P)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Penerapan bauran pemasaran menyeluruh: 4P Tradisional dan 3P Extended Layanan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C27803"/>
                </a:solidFill>
                <a:latin typeface="Times New Roman"/>
              </a:defRPr>
            </a:pPr>
            <a:r>
              <a:t>PRODUCT (PRODUK)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Resep autentik 1999 (Taman Aries), adonan fresh dibuat mandiri setiap minggu tanpa formalin.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3 Topping murni: Ayam Putih, Babi Kecap, &amp; Casiu Madu gurih (tanpa bebek &amp; jamur).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3 Pilihan racikan minyak: Minyak Babi, Minyak Ayam, &amp; Minyak Sayur + Wijen.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Porsi fleksibel: Porsi Kecil (27k), Reguler (29k-39k), hingga Jumbo (+100% mie, 49k-59k).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0020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059669"/>
                </a:solidFill>
                <a:latin typeface="Times New Roman"/>
              </a:defRPr>
            </a:pPr>
            <a:r>
              <a:t>PRICE (HARGA)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Menerapkan Value-Based Pricing bersaing di kawasan residensial Duri Kosambi.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Range bakmi: Rp 27.000 s.d. Rp 59.000 (porsi kecil, reguler, hingga jumbo kenyang).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Kuah pelengkap: Pangsit rebus Rp 22.500 (5 pcs), Swikiaw Rp 27.500 (5 pcs), Baso Rp 22.500.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Gorengan Rp 5.000 - 8.000, minuman segar Rp 1.000 - 14.000 (Badak, Liang Teh, Susu Kacang).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0020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1E3A8A"/>
                </a:solidFill>
                <a:latin typeface="Times New Roman"/>
              </a:defRPr>
            </a:pPr>
            <a:r>
              <a:t>PLACE (LOKASI)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Ruko 1 lantai di Jl. Angsoka Hijau IV Blok E6 No. 17 Duri Kosambi, Cengkareng, Jakarta Barat.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Posisi emas persis di depan Taman TK, SD, dan SMP Sekolah Kristen Kalam Kudus.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Daya tampung ruang makan 23 kursi aktif (3 meja reguler 12 kursi + meja dinding 7 kursi + teras 4 kursi).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Saluran penjualan langsung: Makan di tempat (Dine-In) dan pesanan bawa pulang (Take-Away).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00200"/>
            <a:ext cx="25420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PROMOTION (PROMOSI)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Murni mengandalkan pemasaran lokal getok tular (loyalitas pelanggan setia sejak 2019).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Pemasaran organik sukarela dari ulasan pengunjung dan food vlogger kuliner di media sosial.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Papan nama kedai (signage) sederhana di fasad ruko yang terlihat jelas oleh penjemput sekolah.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Tanpa biaya diskon buatan sehingga menjaga citra mutu autentik dan stabilitas margin laba.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34564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C27803"/>
                </a:solidFill>
                <a:latin typeface="Times New Roman"/>
              </a:defRPr>
            </a:pPr>
            <a:r>
              <a:t>PEOPLE (SUMBER DAYA MANUSIA)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▸ Tim operasional 3 karyawan tetap: Koki Utama Dapur, Asisten Koki Dapur, &amp; Kasir-Pramusaji.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▸ Sistem remunerasi berbasis upah bulanan pasti (total alokasi gaji tetap Rp 10.000.000 per bulan).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▸ Fokus tim diarahkan penuh pada konsistensi racikan rasa resep 1999 dan higienitas sajian.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▸ Karyawan berseragam bersih, ramah menyambut tamu, dan menguasai varian menu topping secara rinci.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4069080"/>
            <a:ext cx="34564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1E3A8A"/>
                </a:solidFill>
                <a:latin typeface="Times New Roman"/>
              </a:defRPr>
            </a:pPr>
            <a:r>
              <a:t>PROCESS (PROSES OPERASIONAL)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▸ Sistem pemesanan kasir menggunakan nota fisik manual yang tertib, cepat, dan transparan.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▸ Alur penyajian kilat: Perebusan mie fresh membutuhkan 45 detik, saji di meja pelanggan &lt; 5 menit.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▸ Siklus produksi adonan mie dibuat mandiri terjadwal setiap minggu tanpa bahan pengawet kimia.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▸ Penyediaan botol saus meja standar resmi (Cap Belibis &amp; Mangga Besar) yang selalu terisi higienis.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069080"/>
            <a:ext cx="345643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059669"/>
                </a:solidFill>
                <a:latin typeface="Times New Roman"/>
              </a:defRPr>
            </a:pPr>
            <a:r>
              <a:t>PHYSICAL EVIDENCE (BUKTI FISIK)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▸ Desain interior standar ruko 1 lantai yang bersih, bersahaja, rapi, dan sirkulasi udara alami.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▸ Fasilitas pendingin udara menggunakan 6 unit kipas angin dinding/plafon sejuk bebas rasa pengap.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▸ Kapasitas dine-in 23 kursi aktif (meja reguler kayu, meja bar dinding memanjang, dan meja teras).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▸ Fasilitas sanitasi wastafel cuci tangan higienis dan toilet bersih tertutup di sudut belakang kedai.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III: ASPEK MANAJEMEN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Aspek Manajemen &amp; SDM: Struktur Organisasi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Bagan hierarki organisasi fungsional, pembagian tanggung jawab, dan anggaran gaji Rp 10 Jt/Bln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BAGAN STRUKTUR ORGANISASI FUNGSIONAL KEDAI (GAMBAR 3.1 ACUAN RESMI)</a:t>
            </a:r>
          </a:p>
          <a:p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Garis Komando: Owner / Pengelola Utama ➔ 3 Staf Fungsional Inti (Koki Utama, Asisten Koki, Kasir &amp; Pramusaji)</a:t>
            </a:r>
          </a:p>
        </p:txBody>
      </p:sp>
      <p:pic>
        <p:nvPicPr>
          <p:cNvPr id="9" name="Picture 8" descr="struktur_organisasi_bakmi_mi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33" y="2121408"/>
            <a:ext cx="6489027" cy="3520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833872"/>
            <a:ext cx="10728655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50" b="1">
                <a:solidFill>
                  <a:srgbClr val="0F294D"/>
                </a:solidFill>
                <a:latin typeface="Times New Roman"/>
              </a:defRPr>
            </a:pPr>
            <a:r>
              <a:t>TOTAL FORMASI SDM: 1 OWNER (PENGELOLA) + 3 KARYAWAN TETAP  |  TOTAL ALOKASI UPAH: RP 10.000.000 / BULAN (RP 120.000.000 / TAHUN)</a:t>
            </a:r>
          </a:p>
          <a:p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Rincian Gaji: Koki Utama Rp 3,8 Jt, Asisten Koki Rp 3,2 Jt, Kasir-Pramusaji Rp 3,0 Jt  |  Fasilitas: Gaji Tetap, Makan Harian Kedai, &amp; THR Tahunan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IV: TEKNIS &amp; OPERASI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Denah Tata Letak Kedai Ruko 1 Lantai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Visualisasi denah fisik arsitektural, stasiun dapur terbuka teras (open kitchen), dan ruang makan (23 kursi)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2907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DENAH ARSITEKTURAL TATA LETAK FISIK KEDAI RUKO (ALUR SATU ARAH)</a:t>
            </a:r>
          </a:p>
          <a:p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Alur Kerja: Pintu Masuk ➔ Open Kitchen Teras ➔ Rolling Door ➔ Ruang Santap Utama (Meja Reguler &amp; Dinding) ➔ Fasilitas Sanitasi Belakang</a:t>
            </a:r>
          </a:p>
        </p:txBody>
      </p:sp>
      <p:pic>
        <p:nvPicPr>
          <p:cNvPr id="9" name="Picture 8" descr="denah_tata_letak_ruk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723" y="2121408"/>
            <a:ext cx="9044247" cy="2331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4645152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0F294D"/>
                </a:solidFill>
                <a:latin typeface="Times New Roman"/>
              </a:defRPr>
            </a:pPr>
            <a:r>
              <a:t>ZONA 1: DAPUR TERAS &amp; TERBUKA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Etalase kaca display racik mie &amp; kompor gas perebusan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Meja kuah kaldu, dispenser minum &amp; kulkas sayur segar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Meja persiapan potong sayur &amp; pembungkusan pangsit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1 Meja makan teras (4 kursi) &amp; 1 unit freezer beku daging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4645152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C27803"/>
                </a:solidFill>
                <a:latin typeface="Times New Roman"/>
              </a:defRPr>
            </a:pPr>
            <a:r>
              <a:t>ZONA 2: RUANG MAKAN (DINE-IN)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Pembatas partisi fleksibel Rolling Door (sekat debu/udara)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3 Meja makan reguler kayu (kapasitas 12 kursi santap)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1 Meja makan dinding memanjang (7 kursi solo diner)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Sirkulasi 6 unit kipas angin dinding sejuk bebas pengap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4645152"/>
            <a:ext cx="34290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1E3A8A"/>
                </a:solidFill>
                <a:latin typeface="Times New Roman"/>
              </a:defRPr>
            </a:pPr>
            <a:r>
              <a:t>ZONA 3: FASILITAS &amp; SANITASI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Meja barang penyimpanan stok piring &amp; kemasan bersih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Wastafel cuci tangan higienis bagi pengunjung kedai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1 Unit kamar mandi / toilet ruko tertutup higienis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• Total daya tampung santap kedai: 23 kursi pengunjung aktif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IV: TEKNIS &amp; OPERASI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09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Network Planning &amp; Alur Proses Produksi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Diagram alur ketergantungan aktivitas proyek (CPM 12 minggu) dan 4 fase pra-operasi relokasi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728655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2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DIAGRAM NETWORK PLANNING &amp; CRITICAL PATH METHOD (CPM) RELOKASI 2016 (GAMBAR 4.2)</a:t>
            </a:r>
          </a:p>
          <a:p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Alur Kritis 12 Minggu: A (Survei 2 mg) ➔ B (Sewa 2 mg) ➔ E (Renovasi 1 mg) ➔ G (Gerobak 2 mg) ➔ I (Meja/Kursi 2 mg) ➔ K (Setting 1 mg) ➔ M-P (Buka 2 mg)</a:t>
            </a:r>
          </a:p>
        </p:txBody>
      </p:sp>
      <p:pic>
        <p:nvPicPr>
          <p:cNvPr id="9" name="Picture 8" descr="network_planning_bakmi_mim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33" y="2121408"/>
            <a:ext cx="6489027" cy="35204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5833872"/>
            <a:ext cx="10728655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50" b="1">
                <a:solidFill>
                  <a:srgbClr val="C27803"/>
                </a:solidFill>
                <a:latin typeface="Times New Roman"/>
              </a:defRPr>
            </a:pPr>
            <a:r>
              <a:t>JALUR KRITIS (CRITICAL PATH METHOD): 1 ➔ 2 ➔ 3 ➔ 5 ➔ 6 ➔ 8 ➔ 10 ➔ 11  |  TOTAL DURASI RELOKASI: 12 MINGGU</a:t>
            </a:r>
          </a:p>
          <a:p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Fase 1 (Mg 1-4: Survei &amp; Sewa Rp 20 Jt)  |  Fase 2 (Mg 5-8: Renovasi, 6 Kipas, Gerobak Teras)  |  Fase 3 (Mg 9-10: Alat &amp; 23 Kursi)  |  Fase 4 (Mg 11-12: Buka)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V: ASPEK KEUANGAN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Rencana Modal Investasi Awal &amp; Aktiva Tetap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Alokasi anggaran modal relokasi 2016 dan inventarisasi 12 item aktiva tetap kedai Duri Kosambi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2120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600" b="1">
                <a:solidFill>
                  <a:srgbClr val="C27803"/>
                </a:solidFill>
                <a:latin typeface="Times New Roman"/>
              </a:defRPr>
            </a:pPr>
            <a:r>
              <a:t>TOTAL INITIAL OUTLAY: RP 62.000.000</a:t>
            </a:r>
          </a:p>
          <a:p>
            <a:pPr>
              <a:defRPr sz="1150" b="1">
                <a:solidFill>
                  <a:srgbClr val="0F294D"/>
                </a:solidFill>
                <a:latin typeface="Times New Roman"/>
              </a:defRPr>
            </a:pPr>
            <a:r>
              <a:t>Struktur Permodalan: 100% Ekuitas Sendiri Tanpa Utang Bank</a:t>
            </a:r>
          </a:p>
          <a:p>
            <a:br/>
            <a:pPr>
              <a:defRPr sz="1050" b="1">
                <a:solidFill>
                  <a:srgbClr val="1E3A8A"/>
                </a:solidFill>
                <a:latin typeface="Times New Roman"/>
              </a:defRPr>
            </a:pPr>
            <a:r>
              <a:t>• 01. Aktiva Tetap (Capex): Rp 40.700.000 (65,6%)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   Pengadaan gerobak etalase, meja, kursi 37 pcs, 6 kipas angin, kulkas, freezer, panci, &amp; mangkok.</a:t>
            </a:r>
          </a:p>
          <a:p>
            <a:br/>
            <a:pPr>
              <a:defRPr sz="1050" b="1">
                <a:solidFill>
                  <a:srgbClr val="1E3A8A"/>
                </a:solidFill>
                <a:latin typeface="Times New Roman"/>
              </a:defRPr>
            </a:pPr>
            <a:r>
              <a:t>• 02. Sewa Tempat Ruko: Rp 20.000.000 (32,3%)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   Alokasi sewa ruko 1 lantai Duri Kosambi untuk 1 tahun penuh masa operasional.</a:t>
            </a:r>
          </a:p>
          <a:p>
            <a:br/>
            <a:pPr>
              <a:defRPr sz="1050" b="1">
                <a:solidFill>
                  <a:srgbClr val="1E3A8A"/>
                </a:solidFill>
                <a:latin typeface="Times New Roman"/>
              </a:defRPr>
            </a:pPr>
            <a:r>
              <a:t>• 03. Perizinan &amp; AMDAL: Rp 300.000 (0,5%)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   Retribusi kebersihan lingkungan RT/RW dan sarana tempat sampah kedai higienis.</a:t>
            </a:r>
          </a:p>
          <a:p>
            <a:br/>
            <a:pPr>
              <a:defRPr sz="1050" b="1">
                <a:solidFill>
                  <a:srgbClr val="1E3A8A"/>
                </a:solidFill>
                <a:latin typeface="Times New Roman"/>
              </a:defRPr>
            </a:pPr>
            <a:r>
              <a:t>• 04. Biaya Survei Pasar: Rp 500.000 (0,8%)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   Observasi demografi perumahan Kosambi dan potensi kantin sekolah Kalam Kudus.</a:t>
            </a:r>
          </a:p>
          <a:p>
            <a:br/>
            <a:pPr>
              <a:defRPr sz="1050" b="1">
                <a:solidFill>
                  <a:srgbClr val="1E3A8A"/>
                </a:solidFill>
                <a:latin typeface="Times New Roman"/>
              </a:defRPr>
            </a:pPr>
            <a:r>
              <a:t>• 05. Biaya Promosi Awal: Rp 500.000 (0,8%)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   Pembuatan spanduk pembukaan dan plang penunjuk arah kedai Bakmi Mimu.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48095" y="1600200"/>
          <a:ext cx="52120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737360"/>
              </a:tblGrid>
              <a:tr h="502920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Kelompok Capex (12 Item)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Nilai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Rincian Peralatan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</a:tr>
              <a:tr h="502920">
                <a:tc>
                  <a:txBody>
                    <a:bodyPr wrap="square" tIns="73152" bIns="73152"/>
                    <a:lstStyle/>
                    <a:p>
                      <a:pPr algn="l">
                        <a:defRPr sz="10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1. Gerobak &amp; Etalase Kaca Depan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8.000.000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9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Stasiun masak open kitchen teras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tIns="73152" bIns="73152"/>
                    <a:lstStyle/>
                    <a:p>
                      <a:pPr algn="l">
                        <a:defRPr sz="10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2. Perabotan Santap (Meja &amp; Kursi)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8.300.000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9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4 Meja pendek, meja bar, kursi 37 pcs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 tIns="73152" bIns="73152"/>
                    <a:lstStyle/>
                    <a:p>
                      <a:pPr algn="l">
                        <a:defRPr sz="10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3. Sirkulasi Udara (6 Kipas Angin)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900.000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9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6 Kipas dinding/plafon sejuk @150k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tIns="73152" bIns="73152"/>
                    <a:lstStyle/>
                    <a:p>
                      <a:pPr algn="l">
                        <a:defRPr sz="10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4. Pendingin Dapur (Kulkas/Freezer)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6.000.000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9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1 Kulkas sayur 2.5 Jt, 1 Freezer 3.5 Jt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 tIns="73152" bIns="73152"/>
                    <a:lstStyle/>
                    <a:p>
                      <a:pPr algn="l">
                        <a:defRPr sz="10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5. Panci Masak &amp; Stok Mangkok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6.500.000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9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Panci kaldu, mangkok keramik, sendok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tIns="73152" bIns="73152"/>
                    <a:lstStyle/>
                    <a:p>
                      <a:pPr algn="l">
                        <a:defRPr sz="10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6. Renovasi Ruko &amp; Plang 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11.000.000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l">
                        <a:defRPr sz="95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Cat ruko 1 lantai, pipa/air, plang nama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248095" y="5257800"/>
            <a:ext cx="5212080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50" b="1">
                <a:solidFill>
                  <a:srgbClr val="059669"/>
                </a:solidFill>
                <a:latin typeface="Times New Roman"/>
              </a:defRPr>
            </a:pPr>
            <a:r>
              <a:t>PARAMETER DEPRESIASI GARIS LURUS (STRAIGHT-LINE)</a:t>
            </a:r>
          </a:p>
          <a:p>
            <a:pPr>
              <a:defRPr sz="1050">
                <a:solidFill>
                  <a:srgbClr val="0F172A"/>
                </a:solidFill>
                <a:latin typeface="Times New Roman"/>
              </a:defRPr>
            </a:pPr>
            <a:r>
              <a:t>Total Perolehan: Rp 40.700.000  |  Tarif: 20.00% / Tahun (Masa Manfaat 5 Tahun)</a:t>
            </a:r>
            <a:br/>
            <a:r>
              <a:t>Beban Depresiasi Tahunan: Rp 8.140.000 / Tahun (Rp 678.333 / Bulan)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V: ASPEK KEUANGAN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Proyeksi Keuangan 5 Tahun: Arus Kas &amp; Laba Bersih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Estimasi penerimaan kas 300 hari operasi tahunan, biaya operasional, dan kas bersih riil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0020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415"/>
                <a:gridCol w="2194560"/>
                <a:gridCol w="2194560"/>
                <a:gridCol w="2194560"/>
                <a:gridCol w="2194560"/>
              </a:tblGrid>
              <a:tr h="548640">
                <a:tc>
                  <a:txBody>
                    <a:bodyPr wrap="square" tIns="73152" bIns="73152"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Tahun Operasi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Inflow (CIF)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Outflow (COF)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Net Cash Flow (EAT)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Proceed (Kas Riil)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</a:tr>
              <a:tr h="548640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1 (2016/17)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1.483.200.000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Rp 564.000.000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Rp 919.200.000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911.060.000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2 (2017/18)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2.008.200.000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Rp 642.244.000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Rp 1.365.956.000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1.357.816.000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3 (2018/19)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2.731.800.000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Rp 749.011.760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Rp 1.982.788.240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1.974.648.240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4 (2019/110)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3.691.800.000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Rp 894.412.054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Rp 2.797.387.946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2.789.247.946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5 (20110/111)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4.969.200.000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0">
                          <a:solidFill>
                            <a:srgbClr val="475569"/>
                          </a:solidFill>
                          <a:latin typeface="Times New Roman"/>
                        </a:defRPr>
                      </a:pPr>
                      <a:r>
                        <a:t>Rp 1.093.312.782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059669"/>
                          </a:solidFill>
                          <a:latin typeface="Times New Roman"/>
                        </a:defRPr>
                      </a:pPr>
                      <a:r>
                        <a:t>Rp 3.875.887.218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3.867.747.218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029200"/>
            <a:ext cx="345643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059669"/>
                </a:solidFill>
                <a:latin typeface="Times New Roman"/>
              </a:defRPr>
            </a:pPr>
            <a:r>
              <a:t>MARGIN LABA OPERASIONAL TINGGI</a:t>
            </a:r>
          </a:p>
          <a:p>
            <a:br/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Margin laba bersih operasional mencapai 61,97% di tahun pertama dan meningkat hingga 77,99% di tahun ke-5 berkat efisiensi skala ekonomi dan pengolahan adonan mingguan mandiri.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5029200"/>
            <a:ext cx="345643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1E3A8A"/>
                </a:solidFill>
                <a:latin typeface="Times New Roman"/>
              </a:defRPr>
            </a:pPr>
            <a:r>
              <a:t>LIKUIDITAS ARUS KAS SANGAT KUAT</a:t>
            </a:r>
          </a:p>
          <a:p>
            <a:br/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Arus kas masuk sangat likuid untuk menutup seluruh beban sewa ruko Rp 20 Jt/thn, gaji 3 staf karyawan Rp 120 Jt/thn, utilitas PLN/PDAM/gas, dan HPP belanja daging segar harian.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5029200"/>
            <a:ext cx="3456432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C27803"/>
                </a:solidFill>
                <a:latin typeface="Times New Roman"/>
              </a:defRPr>
            </a:pPr>
            <a:r>
              <a:t>AKUMULASI KAS UNTUK EKSPANSI 2027/28</a:t>
            </a:r>
          </a:p>
          <a:p>
            <a:br/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Kinerja arus kas riil yang surplus melimpah menjadi fondasi pembiayaan mandiri untuk rencana ekspansi tahun 2027/2028 dalam mencari ruko lebih luas atau pembukaan cabang kedua.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• BAB VI: KELAYAKAN INVESTASI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320040"/>
            <a:ext cx="1310335" cy="3200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0F294D"/>
                </a:solidFill>
                <a:latin typeface="Times New Roman"/>
              </a:defRPr>
            </a:pPr>
            <a:r>
              <a:t>SLIDE 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F294D"/>
                </a:solidFill>
                <a:latin typeface="Times New Roman"/>
              </a:defRPr>
            </a:pPr>
            <a:r>
              <a:t>Evaluasi Kelayakan Investasi Terpadu</a:t>
            </a:r>
          </a:p>
          <a:p>
            <a:pPr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Pengujian 4 kriteria kelayakan modal dengan discount factor 20% sesuai standar akademik FEB UKRIDA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54203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0F294D"/>
                </a:solidFill>
                <a:latin typeface="Times New Roman"/>
              </a:defRPr>
            </a:pPr>
            <a:r>
              <a:t>NET PRESENT VALUE (NPV)</a:t>
            </a:r>
          </a:p>
          <a:p>
            <a:pPr>
              <a:defRPr sz="1800" b="1">
                <a:solidFill>
                  <a:srgbClr val="059669"/>
                </a:solidFill>
                <a:latin typeface="Times New Roman"/>
              </a:defRPr>
            </a:pPr>
            <a:r>
              <a:t>Rp 5.682.364.987</a:t>
            </a:r>
          </a:p>
          <a:p>
            <a:pPr>
              <a:defRPr sz="1000" b="1">
                <a:solidFill>
                  <a:srgbClr val="059669"/>
                </a:solidFill>
                <a:latin typeface="Times New Roman"/>
              </a:defRPr>
            </a:pPr>
            <a:r>
              <a:t>Target: NPV &gt; 0</a:t>
            </a:r>
            <a:br/>
            <a:r>
              <a:t>STATUS: SANGAT LAYAK</a:t>
            </a:r>
          </a:p>
          <a:p>
            <a:br/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Surplus nilai tunai bersih di atas modal awal.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00200"/>
            <a:ext cx="254203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0F294D"/>
                </a:solidFill>
                <a:latin typeface="Times New Roman"/>
              </a:defRPr>
            </a:pPr>
            <a:r>
              <a:t>INTERNAL RATE OF RETURN</a:t>
            </a:r>
          </a:p>
          <a:p>
            <a:pPr>
              <a:defRPr sz="2400" b="1">
                <a:solidFill>
                  <a:srgbClr val="1E3A8A"/>
                </a:solidFill>
                <a:latin typeface="Times New Roman"/>
              </a:defRPr>
            </a:pPr>
            <a:r>
              <a:t>&gt; 20,00%</a:t>
            </a:r>
          </a:p>
          <a:p>
            <a:pPr>
              <a:defRPr sz="1000" b="1">
                <a:solidFill>
                  <a:srgbClr val="1E3A8A"/>
                </a:solidFill>
                <a:latin typeface="Times New Roman"/>
              </a:defRPr>
            </a:pPr>
            <a:r>
              <a:t>Target: IRR &gt; 20,00%</a:t>
            </a:r>
            <a:br/>
            <a:r>
              <a:t>STATUS: SANGAT LAYAK</a:t>
            </a:r>
          </a:p>
          <a:p>
            <a:br/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Imbal hasil riil jauh melampaui suku bunga bank.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00200"/>
            <a:ext cx="254203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0F294D"/>
                </a:solidFill>
                <a:latin typeface="Times New Roman"/>
              </a:defRPr>
            </a:pPr>
            <a:r>
              <a:t>PAYBACK PERIOD (PP)</a:t>
            </a:r>
          </a:p>
          <a:p>
            <a:pPr>
              <a:defRPr sz="2400" b="1">
                <a:solidFill>
                  <a:srgbClr val="C27803"/>
                </a:solidFill>
                <a:latin typeface="Times New Roman"/>
              </a:defRPr>
            </a:pPr>
            <a:r>
              <a:t>0.82 BULAN</a:t>
            </a:r>
          </a:p>
          <a:p>
            <a:pPr>
              <a:defRPr sz="1000" b="1">
                <a:solidFill>
                  <a:srgbClr val="C27803"/>
                </a:solidFill>
                <a:latin typeface="Times New Roman"/>
              </a:defRPr>
            </a:pPr>
            <a:r>
              <a:t>Target: PP &lt; 36 Bulan</a:t>
            </a:r>
            <a:br/>
            <a:r>
              <a:t>STATUS: SANGAT LAYAK</a:t>
            </a:r>
          </a:p>
          <a:p>
            <a:br/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Modal investasi awal Rp 62 Jt kembali kilat.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600200"/>
            <a:ext cx="254203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0F294D"/>
                </a:solidFill>
                <a:latin typeface="Times New Roman"/>
              </a:defRPr>
            </a:pPr>
            <a:r>
              <a:t>PROFITABILITY INDEX (PI)</a:t>
            </a:r>
          </a:p>
          <a:p>
            <a:pPr>
              <a:defRPr sz="2400" b="1">
                <a:solidFill>
                  <a:srgbClr val="059669"/>
                </a:solidFill>
                <a:latin typeface="Times New Roman"/>
              </a:defRPr>
            </a:pPr>
            <a:r>
              <a:t>175.81x</a:t>
            </a:r>
          </a:p>
          <a:p>
            <a:pPr>
              <a:defRPr sz="1000" b="1">
                <a:solidFill>
                  <a:srgbClr val="059669"/>
                </a:solidFill>
                <a:latin typeface="Times New Roman"/>
              </a:defRPr>
            </a:pPr>
            <a:r>
              <a:t>Target: PI &gt; 1,20x</a:t>
            </a:r>
            <a:br/>
            <a:r>
              <a:t>STATUS: SANGAT LAYAK</a:t>
            </a:r>
          </a:p>
          <a:p>
            <a:br/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Efisiensi pengembalian kas sangat luar biasa.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977639"/>
          <a:ext cx="62179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011680"/>
              </a:tblGrid>
              <a:tr h="359228">
                <a:tc>
                  <a:txBody>
                    <a:bodyPr wrap="square" tIns="73152" bIns="73152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Periode Aliran Kas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Nominal Kas Riil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Present Value (DF 20%)</a:t>
                      </a:r>
                    </a:p>
                  </a:txBody>
                  <a:tcPr>
                    <a:solidFill>
                      <a:srgbClr val="0F294D"/>
                    </a:solidFill>
                  </a:tcPr>
                </a:tc>
              </a:tr>
              <a:tr h="359228">
                <a:tc>
                  <a:txBody>
                    <a:bodyPr wrap="square" tIns="73152" bIns="73152"/>
                    <a:lstStyle/>
                    <a:p>
                      <a:pPr algn="l">
                        <a:defRPr sz="10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0 (Initial Outlay)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0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-Rp 62.000.000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Modal Awal Relokasi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 wrap="square" tIns="73152" bIns="73152"/>
                    <a:lstStyle/>
                    <a:p>
                      <a:pPr algn="l">
                        <a:defRPr sz="10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1 (Proceed Thn 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0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911.060.000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759.216.667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9228">
                <a:tc>
                  <a:txBody>
                    <a:bodyPr wrap="square" tIns="73152" bIns="73152"/>
                    <a:lstStyle/>
                    <a:p>
                      <a:pPr algn="l">
                        <a:defRPr sz="10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2 (Proceed Thn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0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1.357.816.000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942.927.778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 wrap="square" tIns="73152" bIns="73152"/>
                    <a:lstStyle/>
                    <a:p>
                      <a:pPr algn="l">
                        <a:defRPr sz="10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3 (Proceed Thn 3)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0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1.974.648.240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1.142.736.250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9228">
                <a:tc>
                  <a:txBody>
                    <a:bodyPr wrap="square" tIns="73152" bIns="73152"/>
                    <a:lstStyle/>
                    <a:p>
                      <a:pPr algn="l">
                        <a:defRPr sz="10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4 (Proceed Thn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0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2.789.247.946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1.345.123.431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9232">
                <a:tc>
                  <a:txBody>
                    <a:bodyPr wrap="square" tIns="73152" bIns="73152"/>
                    <a:lstStyle/>
                    <a:p>
                      <a:pPr algn="l">
                        <a:defRPr sz="1000" b="1">
                          <a:solidFill>
                            <a:srgbClr val="0F294D"/>
                          </a:solidFill>
                          <a:latin typeface="Times New Roman"/>
                        </a:defRPr>
                      </a:pPr>
                      <a:r>
                        <a:t>Tahun 5 (Proceed Thn 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00" b="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Rp 3.867.747.218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 tIns="73152" bIns="73152"/>
                    <a:lstStyle/>
                    <a:p>
                      <a:pPr algn="r">
                        <a:defRPr sz="1050" b="1">
                          <a:solidFill>
                            <a:srgbClr val="C27803"/>
                          </a:solidFill>
                          <a:latin typeface="Times New Roman"/>
                        </a:defRPr>
                      </a:pPr>
                      <a:r>
                        <a:t>Rp 1.554.360.861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132320" y="3977639"/>
            <a:ext cx="4327855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200" b="1">
                <a:solidFill>
                  <a:srgbClr val="059669"/>
                </a:solidFill>
                <a:latin typeface="Times New Roman"/>
              </a:defRPr>
            </a:pPr>
            <a:r>
              <a:t>ANALISIS SENSITIVITAS &amp; KETAHANAN FINANSIAL</a:t>
            </a:r>
          </a:p>
          <a:p>
            <a:br/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• Kenaikan Biaya Bahan Baku (+20%): Proyek tetap menghasilkan NPV positif di atas Rp 3 Miliar karena margin kotor yang tebal.</a:t>
            </a:r>
          </a:p>
          <a:p>
            <a:br/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• Penurunan Volume Penjualan (-15%): Cash flow tetap likuid dan Payback Period hanya bergeser menjadi 1,2 bulan.</a:t>
            </a:r>
          </a:p>
          <a:p>
            <a:br/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• Kenaikan Tarif Sewa Ruko (+25%): Dampak sangat kecil (&lt;2% terhadap total outflow tahunan).</a:t>
            </a:r>
          </a:p>
          <a:p>
            <a:br/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• Vonis Akhir Kelayakan: Bisnis Bakmi Mimu memiliki tingkat ketahanan finansial yang sangat kokoh dan risiko investasi rendah.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278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457200"/>
            <a:ext cx="10728655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10362895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0F294D"/>
                </a:solidFill>
                <a:latin typeface="Times New Roman"/>
              </a:defRPr>
            </a:pPr>
            <a:r>
              <a:t>KESIMPULAN AKHIR KELAYAKAN INVESTASI  •  BAKMI MIMU CARINA SAYANG</a:t>
            </a:r>
          </a:p>
          <a:p>
            <a:pPr algn="ctr">
              <a:defRPr sz="1150">
                <a:solidFill>
                  <a:srgbClr val="475569"/>
                </a:solidFill>
                <a:latin typeface="Times New Roman"/>
              </a:defRPr>
            </a:pPr>
            <a:r>
              <a:t>Berdasarkan evaluasi komprehensif 6 aspek bisnis, rencana investasi dinyatakan SANGAT LAYAK (FEASIBLE) untuk dijalankan dan dikembangkan.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691640"/>
            <a:ext cx="3310128" cy="11155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50" b="1">
                <a:solidFill>
                  <a:srgbClr val="059669"/>
                </a:solidFill>
                <a:latin typeface="Times New Roman"/>
              </a:defRPr>
            </a:pPr>
            <a:r>
              <a:t>ASPEK PASAR: SANGAT LAYAK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Permintaan tinggi, basis pelanggan sejak 2019, posisi emas depan Kalam Kudus.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4568" y="1691640"/>
            <a:ext cx="3310128" cy="11155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50" b="1">
                <a:solidFill>
                  <a:srgbClr val="059669"/>
                </a:solidFill>
                <a:latin typeface="Times New Roman"/>
              </a:defRPr>
            </a:pPr>
            <a:r>
              <a:t>ASPEK TEKNIS: SANGAT LAYAK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Ruko strategis 23 kursi, open kitchen teras higienis, &amp; adonan fresh mingguan.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7575" y="1691640"/>
            <a:ext cx="3310128" cy="11155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50" b="1">
                <a:solidFill>
                  <a:srgbClr val="059669"/>
                </a:solidFill>
                <a:latin typeface="Times New Roman"/>
              </a:defRPr>
            </a:pPr>
            <a:r>
              <a:t>ASPEK MANAJEMEN: SANGAT LAYAK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3 Staf terampil, jobdesk terstruktur, &amp; anggaran upah pasti Rp 10 Jt/bulan.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926080"/>
            <a:ext cx="3310128" cy="11155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50" b="1">
                <a:solidFill>
                  <a:srgbClr val="1E3A8A"/>
                </a:solidFill>
                <a:latin typeface="Times New Roman"/>
              </a:defRPr>
            </a:pPr>
            <a:r>
              <a:t>ASPEK HUKUM &amp; AMDAL: LAYAK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Izin lingkungan RT/RW lengkap &amp; pengelolaan sanitasi limbah tertib higienis.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926080"/>
            <a:ext cx="3310128" cy="11155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50" b="1">
                <a:solidFill>
                  <a:srgbClr val="059669"/>
                </a:solidFill>
                <a:latin typeface="Times New Roman"/>
              </a:defRPr>
            </a:pPr>
            <a:r>
              <a:t>ASPEK KEUANGAN: SANGAT LAYAK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Modal Rp 62 Jt didanai ekuitas sendiri, margin laba bersih operasional 61,97%.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2926080"/>
            <a:ext cx="3310128" cy="11155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050" b="1">
                <a:solidFill>
                  <a:srgbClr val="C27803"/>
                </a:solidFill>
                <a:latin typeface="Times New Roman"/>
              </a:defRPr>
            </a:pPr>
            <a:r>
              <a:t>KELAYAKAN INVESTASI: SANGAT LAYAK</a:t>
            </a:r>
          </a:p>
          <a:p>
            <a:pPr>
              <a:defRPr sz="950">
                <a:solidFill>
                  <a:srgbClr val="0F172A"/>
                </a:solidFill>
                <a:latin typeface="Times New Roman"/>
              </a:defRPr>
            </a:pPr>
            <a:r>
              <a:t>NPV Positif Rp 5,68 M, IRR &gt; 20%, PP 0,82 Bln, &amp; Profitability Index 175,81x.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251960"/>
            <a:ext cx="10088575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278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 bIns="128016"/>
          <a:lstStyle/>
          <a:p>
            <a:pPr algn="ctr">
              <a:defRPr sz="1100" b="1">
                <a:solidFill>
                  <a:srgbClr val="C27803"/>
                </a:solidFill>
                <a:latin typeface="Times New Roman"/>
              </a:defRPr>
            </a:pPr>
            <a:r>
              <a:t>REKOMENDASI STRATEGIS: REALISASI EKSPANSI TAHUN 2027/2028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Memanfaatkan surplus akumulasi kas operasional untuk merealisasikan rencana ekspansi 2027/2028 dengan mencari lokasi ruko yang lebih luas di kawasan Jakarta Barat atau membuka cabang kedua guna menjaring basis pelanggan baru.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20640"/>
            <a:ext cx="10088575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>
                <a:solidFill>
                  <a:srgbClr val="475569"/>
                </a:solidFill>
                <a:latin typeface="Times New Roman"/>
              </a:defRPr>
            </a:pPr>
            <a:r>
              <a:t>Disusun oleh Kelompok Mahasiswa FEB UKRIDA:</a:t>
            </a:r>
            <a:br/>
            <a:r>
              <a:t>Arthur Reezan (312023002)  •  Jennese Putra Alamsyah Sukadi (312023033)  •  Valendrik Dwiputra Wirawan (312023013)</a:t>
            </a:r>
            <a:br/>
            <a:r>
              <a:t>Affandy (312023075)  •  Steven Putra Tjhin (312023015)</a:t>
            </a:r>
          </a:p>
          <a:p>
            <a:pPr algn="ctr">
              <a:defRPr sz="2400" b="1">
                <a:solidFill>
                  <a:srgbClr val="0F294D"/>
                </a:solidFill>
                <a:latin typeface="Times New Roman"/>
              </a:defRPr>
            </a:pPr>
            <a:r>
              <a:t>SEKIAN &amp; 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