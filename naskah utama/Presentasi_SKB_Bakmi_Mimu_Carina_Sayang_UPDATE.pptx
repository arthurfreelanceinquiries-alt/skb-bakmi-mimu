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C2780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457200"/>
            <a:ext cx="10728655" cy="59436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93C5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46304" bIns="146304"/>
          <a:lstStyle/>
          <a:p>
            <a:pPr algn="ctr"/>
          </a:p>
        </p:txBody>
      </p:sp>
      <p:pic>
        <p:nvPicPr>
          <p:cNvPr id="5" name="Picture 4" descr="logo_ukrid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46750" y="640080"/>
            <a:ext cx="1097280" cy="10972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914400" y="1810512"/>
            <a:ext cx="10362895" cy="2377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200" b="1">
                <a:solidFill>
                  <a:srgbClr val="C27803"/>
                </a:solidFill>
                <a:latin typeface="Times New Roman"/>
              </a:defRPr>
            </a:pPr>
            <a:r>
              <a:t>FAKULTAS EKONOMI &amp; BISNIS  •  UNIVERSITAS KRISTEN KRIDA WACANA</a:t>
            </a:r>
          </a:p>
          <a:p>
            <a:pPr algn="ctr">
              <a:defRPr sz="1500">
                <a:solidFill>
                  <a:srgbClr val="475569"/>
                </a:solidFill>
                <a:latin typeface="Times New Roman"/>
              </a:defRPr>
            </a:pPr>
            <a:r>
              <a:t>LAPORAN PRESENTASI STUDI KELAYAKAN BISNIS (SKB)</a:t>
            </a:r>
          </a:p>
          <a:p>
            <a:pPr algn="ctr">
              <a:defRPr sz="3400" b="1">
                <a:solidFill>
                  <a:srgbClr val="0F294D"/>
                </a:solidFill>
                <a:latin typeface="Times New Roman"/>
              </a:defRPr>
            </a:pPr>
            <a:r>
              <a:t>“ BAKMI MIMU CARINA SAYANG ”</a:t>
            </a:r>
          </a:p>
          <a:p>
            <a:pPr algn="ctr">
              <a:defRPr sz="1400" i="1">
                <a:solidFill>
                  <a:srgbClr val="C27803"/>
                </a:solidFill>
                <a:latin typeface="Times New Roman"/>
              </a:defRPr>
            </a:pPr>
            <a:r>
              <a:t>- Cita Rasa Bakmi Legendaris &amp; Otentik Sejak 1999 -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51560" y="4279392"/>
            <a:ext cx="2011680" cy="1170432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46304" bIns="146304"/>
          <a:lstStyle/>
          <a:p>
            <a:pPr algn="ctr">
              <a:defRPr sz="1000" b="1">
                <a:solidFill>
                  <a:srgbClr val="C27803"/>
                </a:solidFill>
                <a:latin typeface="Times New Roman"/>
              </a:defRPr>
            </a:pPr>
            <a:r>
              <a:t>Mahasiswa 1</a:t>
            </a:r>
          </a:p>
          <a:p>
            <a:pPr algn="ctr">
              <a:defRPr sz="1050" b="1">
                <a:solidFill>
                  <a:srgbClr val="0F294D"/>
                </a:solidFill>
                <a:latin typeface="Times New Roman"/>
              </a:defRPr>
            </a:pPr>
            <a:r>
              <a:t>Arthur Reezan</a:t>
            </a:r>
          </a:p>
          <a:p>
            <a:pPr algn="ctr">
              <a:defRPr sz="1000">
                <a:solidFill>
                  <a:srgbClr val="475569"/>
                </a:solidFill>
                <a:latin typeface="Times New Roman"/>
              </a:defRPr>
            </a:pPr>
            <a:r>
              <a:t>NIM: 312023002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172968" y="4279392"/>
            <a:ext cx="2011680" cy="1170432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46304" bIns="146304"/>
          <a:lstStyle/>
          <a:p>
            <a:pPr algn="ctr">
              <a:defRPr sz="1000" b="1">
                <a:solidFill>
                  <a:srgbClr val="C27803"/>
                </a:solidFill>
                <a:latin typeface="Times New Roman"/>
              </a:defRPr>
            </a:pPr>
            <a:r>
              <a:t>Mahasiswa 2</a:t>
            </a:r>
          </a:p>
          <a:p>
            <a:pPr algn="ctr">
              <a:defRPr sz="1050" b="1">
                <a:solidFill>
                  <a:srgbClr val="0F294D"/>
                </a:solidFill>
                <a:latin typeface="Times New Roman"/>
              </a:defRPr>
            </a:pPr>
            <a:r>
              <a:t>Jennese Putra Alamsyah Sukadi</a:t>
            </a:r>
          </a:p>
          <a:p>
            <a:pPr algn="ctr">
              <a:defRPr sz="1000">
                <a:solidFill>
                  <a:srgbClr val="475569"/>
                </a:solidFill>
                <a:latin typeface="Times New Roman"/>
              </a:defRPr>
            </a:pPr>
            <a:r>
              <a:t>NIM: 312023033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294376" y="4279392"/>
            <a:ext cx="2011680" cy="1170432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46304" bIns="146304"/>
          <a:lstStyle/>
          <a:p>
            <a:pPr algn="ctr">
              <a:defRPr sz="1000" b="1">
                <a:solidFill>
                  <a:srgbClr val="C27803"/>
                </a:solidFill>
                <a:latin typeface="Times New Roman"/>
              </a:defRPr>
            </a:pPr>
            <a:r>
              <a:t>Mahasiswa 3</a:t>
            </a:r>
          </a:p>
          <a:p>
            <a:pPr algn="ctr">
              <a:defRPr sz="1050" b="1">
                <a:solidFill>
                  <a:srgbClr val="0F294D"/>
                </a:solidFill>
                <a:latin typeface="Times New Roman"/>
              </a:defRPr>
            </a:pPr>
            <a:r>
              <a:t>Valendrik Dwiputra Wirawan</a:t>
            </a:r>
          </a:p>
          <a:p>
            <a:pPr algn="ctr">
              <a:defRPr sz="1000">
                <a:solidFill>
                  <a:srgbClr val="475569"/>
                </a:solidFill>
                <a:latin typeface="Times New Roman"/>
              </a:defRPr>
            </a:pPr>
            <a:r>
              <a:t>NIM: 312023013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15784" y="4279392"/>
            <a:ext cx="2011680" cy="1170432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46304" bIns="146304"/>
          <a:lstStyle/>
          <a:p>
            <a:pPr algn="ctr">
              <a:defRPr sz="1000" b="1">
                <a:solidFill>
                  <a:srgbClr val="C27803"/>
                </a:solidFill>
                <a:latin typeface="Times New Roman"/>
              </a:defRPr>
            </a:pPr>
            <a:r>
              <a:t>Mahasiswa 4</a:t>
            </a:r>
          </a:p>
          <a:p>
            <a:pPr algn="ctr">
              <a:defRPr sz="1050" b="1">
                <a:solidFill>
                  <a:srgbClr val="0F294D"/>
                </a:solidFill>
                <a:latin typeface="Times New Roman"/>
              </a:defRPr>
            </a:pPr>
            <a:r>
              <a:t>Affandy</a:t>
            </a:r>
          </a:p>
          <a:p>
            <a:pPr algn="ctr">
              <a:defRPr sz="1000">
                <a:solidFill>
                  <a:srgbClr val="475569"/>
                </a:solidFill>
                <a:latin typeface="Times New Roman"/>
              </a:defRPr>
            </a:pPr>
            <a:r>
              <a:t>NIM: 312023075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537192" y="4279392"/>
            <a:ext cx="2011680" cy="1170432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46304" bIns="146304"/>
          <a:lstStyle/>
          <a:p>
            <a:pPr algn="ctr">
              <a:defRPr sz="1000" b="1">
                <a:solidFill>
                  <a:srgbClr val="C27803"/>
                </a:solidFill>
                <a:latin typeface="Times New Roman"/>
              </a:defRPr>
            </a:pPr>
            <a:r>
              <a:t>Mahasiswa 5</a:t>
            </a:r>
          </a:p>
          <a:p>
            <a:pPr algn="ctr">
              <a:defRPr sz="1050" b="1">
                <a:solidFill>
                  <a:srgbClr val="0F294D"/>
                </a:solidFill>
                <a:latin typeface="Times New Roman"/>
              </a:defRPr>
            </a:pPr>
            <a:r>
              <a:t>Steven Putra Tjhin</a:t>
            </a:r>
          </a:p>
          <a:p>
            <a:pPr algn="ctr">
              <a:defRPr sz="1000">
                <a:solidFill>
                  <a:srgbClr val="475569"/>
                </a:solidFill>
                <a:latin typeface="Times New Roman"/>
              </a:defRPr>
            </a:pPr>
            <a:r>
              <a:t>NIM: 312023015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5596128"/>
            <a:ext cx="103628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>
                <a:solidFill>
                  <a:srgbClr val="475569"/>
                </a:solidFill>
                <a:latin typeface="Times New Roman"/>
              </a:defRPr>
            </a:pPr>
            <a:r>
              <a:t>Program Studi Sarjana Manajemen  |  Konsentrasi Studi Kelayakan Bisnis  |  Tahun Akademik 2024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C2780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320040"/>
            <a:ext cx="3474720" cy="320040"/>
          </a:xfrm>
          <a:prstGeom prst="roundRect">
            <a:avLst/>
          </a:prstGeom>
          <a:solidFill>
            <a:srgbClr val="FEF3C7"/>
          </a:solidFill>
          <a:ln w="12700">
            <a:solidFill>
              <a:srgbClr val="C2780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defRPr sz="1000" b="1">
                <a:solidFill>
                  <a:srgbClr val="C27803"/>
                </a:solidFill>
                <a:latin typeface="Times New Roman"/>
              </a:defRPr>
            </a:pPr>
            <a:r>
              <a:t>• AGENDA PRESENTASI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149840" y="320040"/>
            <a:ext cx="1310335" cy="32004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defRPr sz="1000" b="1">
                <a:solidFill>
                  <a:srgbClr val="0F294D"/>
                </a:solidFill>
                <a:latin typeface="Times New Roman"/>
              </a:defRPr>
            </a:pPr>
            <a:r>
              <a:t>SLIDE 02 / 22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713232"/>
            <a:ext cx="10728655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100" b="1">
                <a:solidFill>
                  <a:srgbClr val="0F294D"/>
                </a:solidFill>
                <a:latin typeface="Times New Roman"/>
              </a:defRPr>
            </a:pPr>
            <a:r>
              <a:t>Daftar Isi &amp; Sistematika Kajian</a:t>
            </a:r>
          </a:p>
          <a:p>
            <a:pPr>
              <a:defRPr sz="1150">
                <a:solidFill>
                  <a:srgbClr val="475569"/>
                </a:solidFill>
                <a:latin typeface="Times New Roman"/>
              </a:defRPr>
            </a:pPr>
            <a:r>
              <a:t>Ringkasan 6 bab utama studi kelayakan bisnis sesuai standar akademik FEB UKRIDA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444752"/>
            <a:ext cx="10728655" cy="18288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31520" y="1691640"/>
            <a:ext cx="3456432" cy="2148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46304" bIns="146304"/>
          <a:lstStyle/>
          <a:p>
            <a:pPr algn="ctr">
              <a:defRPr sz="1200" b="1">
                <a:solidFill>
                  <a:srgbClr val="C27803"/>
                </a:solidFill>
                <a:latin typeface="Times New Roman"/>
              </a:defRPr>
            </a:pPr>
            <a:r>
              <a:t>BAB 01</a:t>
            </a:r>
          </a:p>
          <a:p>
            <a:pPr>
              <a:defRPr sz="1350" b="1">
                <a:solidFill>
                  <a:srgbClr val="0F294D"/>
                </a:solidFill>
                <a:latin typeface="Times New Roman"/>
              </a:defRPr>
            </a:pPr>
            <a:r>
              <a:t>BAB I: PENDAHULUAN &amp; PROFIL</a:t>
            </a:r>
          </a:p>
          <a:p>
            <a:br/>
            <a:pPr>
              <a:defRPr sz="1150">
                <a:solidFill>
                  <a:srgbClr val="475569"/>
                </a:solidFill>
                <a:latin typeface="Times New Roman"/>
              </a:defRPr>
            </a:pPr>
            <a:r>
              <a:t>Perjalanan usaha 1999 Taman Aries -&gt; 2016 Duri Kosambi, basis pelanggan 2019, dan peluang ekspansi 2027/28.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70832" y="1691640"/>
            <a:ext cx="3456432" cy="2148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46304" bIns="146304"/>
          <a:lstStyle/>
          <a:p>
            <a:pPr algn="ctr">
              <a:defRPr sz="1200" b="1">
                <a:solidFill>
                  <a:srgbClr val="C27803"/>
                </a:solidFill>
                <a:latin typeface="Times New Roman"/>
              </a:defRPr>
            </a:pPr>
            <a:r>
              <a:t>BAB 02</a:t>
            </a:r>
          </a:p>
          <a:p>
            <a:pPr>
              <a:defRPr sz="1350" b="1">
                <a:solidFill>
                  <a:srgbClr val="0F294D"/>
                </a:solidFill>
                <a:latin typeface="Times New Roman"/>
              </a:defRPr>
            </a:pPr>
            <a:r>
              <a:t>BAB II: ASPEK PASAR &amp; PEMASARAN</a:t>
            </a:r>
          </a:p>
          <a:p>
            <a:br/>
            <a:pPr>
              <a:defRPr sz="1150">
                <a:solidFill>
                  <a:srgbClr val="475569"/>
                </a:solidFill>
                <a:latin typeface="Times New Roman"/>
              </a:defRPr>
            </a:pPr>
            <a:r>
              <a:t>Segmentasi STP, 3 racikan minyak khas, 3 topping daging murni, benchmarking kompetitor, dan bauran 7P.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10144" y="1691640"/>
            <a:ext cx="3456432" cy="2148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46304" bIns="146304"/>
          <a:lstStyle/>
          <a:p>
            <a:pPr algn="ctr">
              <a:defRPr sz="1200" b="1">
                <a:solidFill>
                  <a:srgbClr val="C27803"/>
                </a:solidFill>
                <a:latin typeface="Times New Roman"/>
              </a:defRPr>
            </a:pPr>
            <a:r>
              <a:t>BAB 03</a:t>
            </a:r>
          </a:p>
          <a:p>
            <a:pPr>
              <a:defRPr sz="1350" b="1">
                <a:solidFill>
                  <a:srgbClr val="0F294D"/>
                </a:solidFill>
                <a:latin typeface="Times New Roman"/>
              </a:defRPr>
            </a:pPr>
            <a:r>
              <a:t>BAB III: ASPEK MANAJEMEN</a:t>
            </a:r>
          </a:p>
          <a:p>
            <a:br/>
            <a:pPr>
              <a:defRPr sz="1150">
                <a:solidFill>
                  <a:srgbClr val="475569"/>
                </a:solidFill>
                <a:latin typeface="Times New Roman"/>
              </a:defRPr>
            </a:pPr>
            <a:r>
              <a:t>Struktur organisasi 3 staf fungsional, job description terstruktur, dan total alokasi upah Rp 10 Jt/bulan.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4023360"/>
            <a:ext cx="3456432" cy="2148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46304" bIns="146304"/>
          <a:lstStyle/>
          <a:p>
            <a:pPr algn="ctr">
              <a:defRPr sz="1200" b="1">
                <a:solidFill>
                  <a:srgbClr val="C27803"/>
                </a:solidFill>
                <a:latin typeface="Times New Roman"/>
              </a:defRPr>
            </a:pPr>
            <a:r>
              <a:t>BAB 04</a:t>
            </a:r>
          </a:p>
          <a:p>
            <a:pPr>
              <a:defRPr sz="1350" b="1">
                <a:solidFill>
                  <a:srgbClr val="0F294D"/>
                </a:solidFill>
                <a:latin typeface="Times New Roman"/>
              </a:defRPr>
            </a:pPr>
            <a:r>
              <a:t>BAB IV: ASPEK TEKNIS &amp; OPERASI</a:t>
            </a:r>
          </a:p>
          <a:p>
            <a:br/>
            <a:pPr>
              <a:defRPr sz="1150">
                <a:solidFill>
                  <a:srgbClr val="475569"/>
                </a:solidFill>
                <a:latin typeface="Times New Roman"/>
              </a:defRPr>
            </a:pPr>
            <a:r>
              <a:t>Tata letak ruko 1 lantai 23 kursi, open kitchen gerobak teras, adonan fresh mingguan, dan Gantt Chart 12 minggu.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70832" y="4023360"/>
            <a:ext cx="3456432" cy="2148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46304" bIns="146304"/>
          <a:lstStyle/>
          <a:p>
            <a:pPr algn="ctr">
              <a:defRPr sz="1200" b="1">
                <a:solidFill>
                  <a:srgbClr val="C27803"/>
                </a:solidFill>
                <a:latin typeface="Times New Roman"/>
              </a:defRPr>
            </a:pPr>
            <a:r>
              <a:t>BAB 05</a:t>
            </a:r>
          </a:p>
          <a:p>
            <a:pPr>
              <a:defRPr sz="1350" b="1">
                <a:solidFill>
                  <a:srgbClr val="0F294D"/>
                </a:solidFill>
                <a:latin typeface="Times New Roman"/>
              </a:defRPr>
            </a:pPr>
            <a:r>
              <a:t>BAB V: ASPEK KEUANGAN TERPADU</a:t>
            </a:r>
          </a:p>
          <a:p>
            <a:br/>
            <a:pPr>
              <a:defRPr sz="1150">
                <a:solidFill>
                  <a:srgbClr val="475569"/>
                </a:solidFill>
                <a:latin typeface="Times New Roman"/>
              </a:defRPr>
            </a:pPr>
            <a:r>
              <a:t>Initial outlay Rp 62.0 Jt, proyeksi arus kas 5 tahun, dan penyusutan garis lurus 20% per tahun.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10144" y="4023360"/>
            <a:ext cx="3456432" cy="2148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46304" bIns="146304"/>
          <a:lstStyle/>
          <a:p>
            <a:pPr algn="ctr">
              <a:defRPr sz="1200" b="1">
                <a:solidFill>
                  <a:srgbClr val="C27803"/>
                </a:solidFill>
                <a:latin typeface="Times New Roman"/>
              </a:defRPr>
            </a:pPr>
            <a:r>
              <a:t>BAB 06</a:t>
            </a:r>
          </a:p>
          <a:p>
            <a:pPr>
              <a:defRPr sz="1350" b="1">
                <a:solidFill>
                  <a:srgbClr val="0F294D"/>
                </a:solidFill>
                <a:latin typeface="Times New Roman"/>
              </a:defRPr>
            </a:pPr>
            <a:r>
              <a:t>BAB VI: KELAYAKAN INVESTASI</a:t>
            </a:r>
          </a:p>
          <a:p>
            <a:br/>
            <a:pPr>
              <a:defRPr sz="1150">
                <a:solidFill>
                  <a:srgbClr val="475569"/>
                </a:solidFill>
                <a:latin typeface="Times New Roman"/>
              </a:defRPr>
            </a:pPr>
            <a:r>
              <a:t>Uji 4 kriteria: NPV Rp 5.68 M, IRR &gt; 20%, Payback Period 0.82 Bulan, dan PI 175.81.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C2780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320040"/>
            <a:ext cx="3474720" cy="320040"/>
          </a:xfrm>
          <a:prstGeom prst="roundRect">
            <a:avLst/>
          </a:prstGeom>
          <a:solidFill>
            <a:srgbClr val="FEF3C7"/>
          </a:solidFill>
          <a:ln w="12700">
            <a:solidFill>
              <a:srgbClr val="C2780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defRPr sz="1000" b="1">
                <a:solidFill>
                  <a:srgbClr val="C27803"/>
                </a:solidFill>
                <a:latin typeface="Times New Roman"/>
              </a:defRPr>
            </a:pPr>
            <a:r>
              <a:t>• BAB I: PENDAHULUAN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149840" y="320040"/>
            <a:ext cx="1310335" cy="32004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defRPr sz="1000" b="1">
                <a:solidFill>
                  <a:srgbClr val="0F294D"/>
                </a:solidFill>
                <a:latin typeface="Times New Roman"/>
              </a:defRPr>
            </a:pPr>
            <a:r>
              <a:t>SLIDE 03 / 22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713232"/>
            <a:ext cx="10728655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100" b="1">
                <a:solidFill>
                  <a:srgbClr val="0F294D"/>
                </a:solidFill>
                <a:latin typeface="Times New Roman"/>
              </a:defRPr>
            </a:pPr>
            <a:r>
              <a:t>Latar Belakang &amp; Filosofi Usaha</a:t>
            </a:r>
          </a:p>
          <a:p>
            <a:pPr>
              <a:defRPr sz="1150">
                <a:solidFill>
                  <a:srgbClr val="475569"/>
                </a:solidFill>
                <a:latin typeface="Times New Roman"/>
              </a:defRPr>
            </a:pPr>
            <a:r>
              <a:t>Perjalanan kuliner legendaris sejak 1999 dan peluang ekspansi masa depan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444752"/>
            <a:ext cx="10728655" cy="18288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31520" y="1691640"/>
            <a:ext cx="2542032" cy="3657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46304" bIns="146304"/>
          <a:lstStyle/>
          <a:p>
            <a:pPr algn="ctr">
              <a:defRPr sz="2400" b="1">
                <a:solidFill>
                  <a:srgbClr val="C27803"/>
                </a:solidFill>
                <a:latin typeface="Times New Roman"/>
              </a:defRPr>
            </a:pPr>
            <a:r>
              <a:t>1999</a:t>
            </a:r>
          </a:p>
          <a:p>
            <a:pPr>
              <a:defRPr sz="1350" b="1">
                <a:solidFill>
                  <a:srgbClr val="0F294D"/>
                </a:solidFill>
                <a:latin typeface="Times New Roman"/>
              </a:defRPr>
            </a:pPr>
            <a:r>
              <a:t>Awal di Taman Aries</a:t>
            </a:r>
          </a:p>
          <a:p>
            <a:br/>
            <a:pPr>
              <a:defRPr sz="1150">
                <a:solidFill>
                  <a:srgbClr val="0F172A"/>
                </a:solidFill>
                <a:latin typeface="Times New Roman"/>
              </a:defRPr>
            </a:pPr>
            <a:r>
              <a:t>Usaha didirikan pertama kali tahun 1999 di Taman Aries (Meruya) dengan resep autentik keluarga turun-temurun.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56432" y="1691640"/>
            <a:ext cx="2542032" cy="3657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46304" bIns="146304"/>
          <a:lstStyle/>
          <a:p>
            <a:pPr algn="ctr">
              <a:defRPr sz="2400" b="1">
                <a:solidFill>
                  <a:srgbClr val="C27803"/>
                </a:solidFill>
                <a:latin typeface="Times New Roman"/>
              </a:defRPr>
            </a:pPr>
            <a:r>
              <a:t>2016</a:t>
            </a:r>
          </a:p>
          <a:p>
            <a:pPr>
              <a:defRPr sz="1350" b="1">
                <a:solidFill>
                  <a:srgbClr val="0F294D"/>
                </a:solidFill>
                <a:latin typeface="Times New Roman"/>
              </a:defRPr>
            </a:pPr>
            <a:r>
              <a:t>Relokasi ke Duri Kosambi</a:t>
            </a:r>
          </a:p>
          <a:p>
            <a:br/>
            <a:pPr>
              <a:defRPr sz="1150">
                <a:solidFill>
                  <a:srgbClr val="0F172A"/>
                </a:solidFill>
                <a:latin typeface="Times New Roman"/>
              </a:defRPr>
            </a:pPr>
            <a:r>
              <a:t>Tahun 2016 berpindah ke ruko Jl. Angsoka Hijau IV Duri Kosambi untuk melayani perumahan dan civitas sekolah.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81344" y="1691640"/>
            <a:ext cx="2542032" cy="3657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46304" bIns="146304"/>
          <a:lstStyle/>
          <a:p>
            <a:pPr algn="ctr">
              <a:defRPr sz="2400" b="1">
                <a:solidFill>
                  <a:srgbClr val="C27803"/>
                </a:solidFill>
                <a:latin typeface="Times New Roman"/>
              </a:defRPr>
            </a:pPr>
            <a:r>
              <a:t>2019</a:t>
            </a:r>
          </a:p>
          <a:p>
            <a:pPr>
              <a:defRPr sz="1350" b="1">
                <a:solidFill>
                  <a:srgbClr val="0F294D"/>
                </a:solidFill>
                <a:latin typeface="Times New Roman"/>
              </a:defRPr>
            </a:pPr>
            <a:r>
              <a:t>Basis Pelanggan Solid</a:t>
            </a:r>
          </a:p>
          <a:p>
            <a:br/>
            <a:pPr>
              <a:defRPr sz="1150">
                <a:solidFill>
                  <a:srgbClr val="0F172A"/>
                </a:solidFill>
                <a:latin typeface="Times New Roman"/>
              </a:defRPr>
            </a:pPr>
            <a:r>
              <a:t>Tahun 2019 basis pelanggan setia terbentuk kuat, menjadi destinasi sarapan dan makan siang favorit keluarga.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906256" y="1691640"/>
            <a:ext cx="2542032" cy="3657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2780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46304" bIns="146304"/>
          <a:lstStyle/>
          <a:p>
            <a:pPr algn="ctr">
              <a:defRPr sz="2400" b="1">
                <a:solidFill>
                  <a:srgbClr val="C27803"/>
                </a:solidFill>
                <a:latin typeface="Times New Roman"/>
              </a:defRPr>
            </a:pPr>
            <a:r>
              <a:t>2027/28</a:t>
            </a:r>
          </a:p>
          <a:p>
            <a:pPr>
              <a:defRPr sz="1350" b="1">
                <a:solidFill>
                  <a:srgbClr val="0F294D"/>
                </a:solidFill>
                <a:latin typeface="Times New Roman"/>
              </a:defRPr>
            </a:pPr>
            <a:r>
              <a:t>Peluang Ekspansi Cabang</a:t>
            </a:r>
          </a:p>
          <a:p>
            <a:br/>
            <a:pPr>
              <a:defRPr sz="1150">
                <a:solidFill>
                  <a:srgbClr val="0F172A"/>
                </a:solidFill>
                <a:latin typeface="Times New Roman"/>
              </a:defRPr>
            </a:pPr>
            <a:r>
              <a:t>Tingginya permintaan membuka peluang ekspansi 2027/2028 untuk mencari ruko lebih luas atau membuka cabang baru.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5486400"/>
            <a:ext cx="10728655" cy="960120"/>
          </a:xfrm>
          <a:prstGeom prst="roundRect">
            <a:avLst/>
          </a:prstGeom>
          <a:solidFill>
            <a:srgbClr val="FEF3C7"/>
          </a:solidFill>
          <a:ln w="12700">
            <a:solidFill>
              <a:srgbClr val="C2780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46304" bIns="146304"/>
          <a:lstStyle/>
          <a:p>
            <a:pPr algn="ctr">
              <a:defRPr sz="1200" b="1">
                <a:solidFill>
                  <a:srgbClr val="C27803"/>
                </a:solidFill>
                <a:latin typeface="Times New Roman"/>
              </a:defRPr>
            </a:pPr>
            <a:r>
              <a:t>FILOSOFI MUTU: ADONAN MIE FRESH DIBUAT SETIAP MINGGU (BATCH MINGGUAN TANPA PENGAWET)</a:t>
            </a:r>
          </a:p>
          <a:p>
            <a:pPr>
              <a:defRPr sz="1150">
                <a:solidFill>
                  <a:srgbClr val="0F172A"/>
                </a:solidFill>
                <a:latin typeface="Times New Roman"/>
              </a:defRPr>
            </a:pPr>
            <a:r>
              <a:t>Adonan mie dibuat mandiri setiap minggu menghasilkan tekstur kenyal alami berkilau (shining), higienis, serta 100% bebas dari formalin dan zat pengawet kimia berbahaya.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C2780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320040"/>
            <a:ext cx="3474720" cy="320040"/>
          </a:xfrm>
          <a:prstGeom prst="roundRect">
            <a:avLst/>
          </a:prstGeom>
          <a:solidFill>
            <a:srgbClr val="FEF3C7"/>
          </a:solidFill>
          <a:ln w="12700">
            <a:solidFill>
              <a:srgbClr val="C2780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defRPr sz="1000" b="1">
                <a:solidFill>
                  <a:srgbClr val="C27803"/>
                </a:solidFill>
                <a:latin typeface="Times New Roman"/>
              </a:defRPr>
            </a:pPr>
            <a:r>
              <a:t>• BAB I: PENDAHULUAN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149840" y="320040"/>
            <a:ext cx="1310335" cy="32004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defRPr sz="1000" b="1">
                <a:solidFill>
                  <a:srgbClr val="0F294D"/>
                </a:solidFill>
                <a:latin typeface="Times New Roman"/>
              </a:defRPr>
            </a:pPr>
            <a:r>
              <a:t>SLIDE 04 / 22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713232"/>
            <a:ext cx="10728655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100" b="1">
                <a:solidFill>
                  <a:srgbClr val="0F294D"/>
                </a:solidFill>
                <a:latin typeface="Times New Roman"/>
              </a:defRPr>
            </a:pPr>
            <a:r>
              <a:t>5 Pilar Keunggulan Kompetitif</a:t>
            </a:r>
          </a:p>
          <a:p>
            <a:pPr>
              <a:defRPr sz="1150">
                <a:solidFill>
                  <a:srgbClr val="475569"/>
                </a:solidFill>
                <a:latin typeface="Times New Roman"/>
              </a:defRPr>
            </a:pPr>
            <a:r>
              <a:t>Faktor diferensiasi penentu daya saing Bakmi Mimu Carina Sayang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444752"/>
            <a:ext cx="10728655" cy="18288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31520" y="1691640"/>
            <a:ext cx="2011680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46304" bIns="146304"/>
          <a:lstStyle/>
          <a:p>
            <a:pPr algn="ctr">
              <a:defRPr sz="1200" b="1">
                <a:solidFill>
                  <a:srgbClr val="C27803"/>
                </a:solidFill>
                <a:latin typeface="Times New Roman"/>
              </a:defRPr>
            </a:pPr>
            <a:r>
              <a:t>PILAR 01</a:t>
            </a:r>
          </a:p>
          <a:p>
            <a:pPr>
              <a:defRPr sz="1350" b="1">
                <a:solidFill>
                  <a:srgbClr val="0F294D"/>
                </a:solidFill>
                <a:latin typeface="Times New Roman"/>
              </a:defRPr>
            </a:pPr>
            <a:r>
              <a:t>Taste (Cita Rasa)</a:t>
            </a:r>
          </a:p>
          <a:p>
            <a:br/>
            <a:pPr>
              <a:defRPr sz="1150">
                <a:solidFill>
                  <a:srgbClr val="0F172A"/>
                </a:solidFill>
                <a:latin typeface="Times New Roman"/>
              </a:defRPr>
            </a:pPr>
            <a:r>
              <a:t>Mie kenyal dipadu 3 pilihan racikan minyak (babi, ayam, sayur+wijen), kaldu gurih asli, dan 3 topping murni: ayam putih, babi kecap, dan casiu madu panggang.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907791" y="1691640"/>
            <a:ext cx="2011680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46304" bIns="146304"/>
          <a:lstStyle/>
          <a:p>
            <a:pPr algn="ctr">
              <a:defRPr sz="1200" b="1">
                <a:solidFill>
                  <a:srgbClr val="C27803"/>
                </a:solidFill>
                <a:latin typeface="Times New Roman"/>
              </a:defRPr>
            </a:pPr>
            <a:r>
              <a:t>PILAR 02</a:t>
            </a:r>
          </a:p>
          <a:p>
            <a:pPr>
              <a:defRPr sz="1350" b="1">
                <a:solidFill>
                  <a:srgbClr val="0F294D"/>
                </a:solidFill>
                <a:latin typeface="Times New Roman"/>
              </a:defRPr>
            </a:pPr>
            <a:r>
              <a:t>Location (Lokasi)</a:t>
            </a:r>
          </a:p>
          <a:p>
            <a:br/>
            <a:pPr>
              <a:defRPr sz="1150">
                <a:solidFill>
                  <a:srgbClr val="0F172A"/>
                </a:solidFill>
                <a:latin typeface="Times New Roman"/>
              </a:defRPr>
            </a:pPr>
            <a:r>
              <a:t>Jl. Angsoka Hijau IV Blok E6 No. 17 Duri Kosambi, Cengkareng (persis di depan Taman TK, SD, SMP Kalam Kudus), lokasi sangat strategis dan parkir motor aman.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84064" y="1691640"/>
            <a:ext cx="2011680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46304" bIns="146304"/>
          <a:lstStyle/>
          <a:p>
            <a:pPr algn="ctr">
              <a:defRPr sz="1200" b="1">
                <a:solidFill>
                  <a:srgbClr val="C27803"/>
                </a:solidFill>
                <a:latin typeface="Times New Roman"/>
              </a:defRPr>
            </a:pPr>
            <a:r>
              <a:t>PILAR 03</a:t>
            </a:r>
          </a:p>
          <a:p>
            <a:pPr>
              <a:defRPr sz="1350" b="1">
                <a:solidFill>
                  <a:srgbClr val="0F294D"/>
                </a:solidFill>
                <a:latin typeface="Times New Roman"/>
              </a:defRPr>
            </a:pPr>
            <a:r>
              <a:t>Service (Dapur)</a:t>
            </a:r>
          </a:p>
          <a:p>
            <a:br/>
            <a:pPr>
              <a:defRPr sz="1150">
                <a:solidFill>
                  <a:srgbClr val="0F172A"/>
                </a:solidFill>
                <a:latin typeface="Times New Roman"/>
              </a:defRPr>
            </a:pPr>
            <a:r>
              <a:t>Dapur terbuka (open kitchen) gerobak di teras depan ruko, perebusan higienis terlihat jelas, serta saus botolan resmi terpercaya Cap Belibis &amp; Mangga Besar.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260336" y="1691640"/>
            <a:ext cx="2011680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46304" bIns="146304"/>
          <a:lstStyle/>
          <a:p>
            <a:pPr algn="ctr">
              <a:defRPr sz="1200" b="1">
                <a:solidFill>
                  <a:srgbClr val="C27803"/>
                </a:solidFill>
                <a:latin typeface="Times New Roman"/>
              </a:defRPr>
            </a:pPr>
            <a:r>
              <a:t>PILAR 04</a:t>
            </a:r>
          </a:p>
          <a:p>
            <a:pPr>
              <a:defRPr sz="1350" b="1">
                <a:solidFill>
                  <a:srgbClr val="0F294D"/>
                </a:solidFill>
                <a:latin typeface="Times New Roman"/>
              </a:defRPr>
            </a:pPr>
            <a:r>
              <a:t>Size (Porsi Fleksibel)</a:t>
            </a:r>
          </a:p>
          <a:p>
            <a:br/>
            <a:pPr>
              <a:defRPr sz="1150">
                <a:solidFill>
                  <a:srgbClr val="0F172A"/>
                </a:solidFill>
                <a:latin typeface="Times New Roman"/>
              </a:defRPr>
            </a:pPr>
            <a:r>
              <a:t>Pilihan fleksibel: Porsi Kecil (27k), Reguler (29k-39k), hingga Porsi Jumbo (+100% mie dari porsi standar / 2x lipat porsi biasa 49k-59k) untuk segala kapasitas selera.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436608" y="1691640"/>
            <a:ext cx="2011680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46304" bIns="146304"/>
          <a:lstStyle/>
          <a:p>
            <a:pPr algn="ctr">
              <a:defRPr sz="1200" b="1">
                <a:solidFill>
                  <a:srgbClr val="C27803"/>
                </a:solidFill>
                <a:latin typeface="Times New Roman"/>
              </a:defRPr>
            </a:pPr>
            <a:r>
              <a:t>PILAR 05</a:t>
            </a:r>
          </a:p>
          <a:p>
            <a:pPr>
              <a:defRPr sz="1350" b="1">
                <a:solidFill>
                  <a:srgbClr val="0F294D"/>
                </a:solidFill>
                <a:latin typeface="Times New Roman"/>
              </a:defRPr>
            </a:pPr>
            <a:r>
              <a:t>Pelengkap &amp; Minuman</a:t>
            </a:r>
          </a:p>
          <a:p>
            <a:br/>
            <a:pPr>
              <a:defRPr sz="1150">
                <a:solidFill>
                  <a:srgbClr val="0F172A"/>
                </a:solidFill>
                <a:latin typeface="Times New Roman"/>
              </a:defRPr>
            </a:pPr>
            <a:r>
              <a:t>Pilihan pelengkap swikiaw rebus, pangsit kuah, baso sapi &amp; ikan (@4.5k-5.5k/pcs), baso goreng babi-udang 8k, badak sarsaparilla, susu kacang &amp; liang teh 12k.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C2780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320040"/>
            <a:ext cx="3474720" cy="320040"/>
          </a:xfrm>
          <a:prstGeom prst="roundRect">
            <a:avLst/>
          </a:prstGeom>
          <a:solidFill>
            <a:srgbClr val="FEF3C7"/>
          </a:solidFill>
          <a:ln w="12700">
            <a:solidFill>
              <a:srgbClr val="C2780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defRPr sz="1000" b="1">
                <a:solidFill>
                  <a:srgbClr val="C27803"/>
                </a:solidFill>
                <a:latin typeface="Times New Roman"/>
              </a:defRPr>
            </a:pPr>
            <a:r>
              <a:t>• BAB I: PENDAHULUAN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149840" y="320040"/>
            <a:ext cx="1310335" cy="32004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defRPr sz="1000" b="1">
                <a:solidFill>
                  <a:srgbClr val="0F294D"/>
                </a:solidFill>
                <a:latin typeface="Times New Roman"/>
              </a:defRPr>
            </a:pPr>
            <a:r>
              <a:t>SLIDE 05 / 22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713232"/>
            <a:ext cx="10728655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100" b="1">
                <a:solidFill>
                  <a:srgbClr val="0F294D"/>
                </a:solidFill>
                <a:latin typeface="Times New Roman"/>
              </a:defRPr>
            </a:pPr>
            <a:r>
              <a:t>Daftar Menu &amp; Struktur Harga Jual Resmi</a:t>
            </a:r>
          </a:p>
          <a:p>
            <a:pPr>
              <a:defRPr sz="1150">
                <a:solidFill>
                  <a:srgbClr val="475569"/>
                </a:solidFill>
                <a:latin typeface="Times New Roman"/>
              </a:defRPr>
            </a:pPr>
            <a:r>
              <a:t>Struktur harga bersaing (Value-Based Pricing) sesuai daftar menu riil kedai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444752"/>
            <a:ext cx="10728655" cy="18288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731520" y="1691640"/>
          <a:ext cx="5212080" cy="4663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/>
                <a:gridCol w="1280160"/>
                <a:gridCol w="1554480"/>
              </a:tblGrid>
              <a:tr h="666205">
                <a:tc>
                  <a:txBody>
                    <a:bodyPr wrap="square" tIns="73152" bIns="73152"/>
                    <a:lstStyle/>
                    <a:p>
                      <a:pPr algn="l">
                        <a:defRPr sz="1200" b="1">
                          <a:solidFill>
                            <a:srgbClr val="FFFFFF"/>
                          </a:solidFill>
                          <a:latin typeface="Times New Roman"/>
                        </a:defRPr>
                      </a:pPr>
                      <a:r>
                        <a:t>Menu Utama (Topping Murni)</a:t>
                      </a:r>
                    </a:p>
                  </a:txBody>
                  <a:tcPr>
                    <a:solidFill>
                      <a:srgbClr val="0F294D"/>
                    </a:solidFill>
                  </a:tcPr>
                </a:tc>
                <a:tc>
                  <a:txBody>
                    <a:bodyPr wrap="square" tIns="73152" bIns="73152"/>
                    <a:lstStyle/>
                    <a:p>
                      <a:pPr algn="r">
                        <a:defRPr sz="1200" b="1">
                          <a:solidFill>
                            <a:srgbClr val="FFFFFF"/>
                          </a:solidFill>
                          <a:latin typeface="Times New Roman"/>
                        </a:defRPr>
                      </a:pPr>
                      <a:r>
                        <a:t>Harga</a:t>
                      </a:r>
                    </a:p>
                  </a:txBody>
                  <a:tcPr>
                    <a:solidFill>
                      <a:srgbClr val="0F294D"/>
                    </a:solidFill>
                  </a:tcPr>
                </a:tc>
                <a:tc>
                  <a:txBody>
                    <a:bodyPr wrap="square" tIns="73152" bIns="73152"/>
                    <a:lstStyle/>
                    <a:p>
                      <a:pPr algn="l">
                        <a:defRPr sz="1200" b="1">
                          <a:solidFill>
                            <a:srgbClr val="FFFFFF"/>
                          </a:solidFill>
                          <a:latin typeface="Times New Roman"/>
                        </a:defRPr>
                      </a:pPr>
                      <a:r>
                        <a:t>Keterangan Porsi</a:t>
                      </a:r>
                    </a:p>
                  </a:txBody>
                  <a:tcPr>
                    <a:solidFill>
                      <a:srgbClr val="0F294D"/>
                    </a:solidFill>
                  </a:tcPr>
                </a:tc>
              </a:tr>
              <a:tr h="666205">
                <a:tc>
                  <a:txBody>
                    <a:bodyPr wrap="square" tIns="73152" bIns="73152"/>
                    <a:lstStyle/>
                    <a:p>
                      <a:pPr algn="l">
                        <a:defRPr sz="1150" b="1">
                          <a:solidFill>
                            <a:srgbClr val="0F294D"/>
                          </a:solidFill>
                          <a:latin typeface="Times New Roman"/>
                        </a:defRPr>
                      </a:pPr>
                      <a:r>
                        <a:t>Mie Campur (Ayam + Babi Kecap)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tIns="73152" bIns="73152"/>
                    <a:lstStyle/>
                    <a:p>
                      <a:pPr algn="r">
                        <a:defRPr sz="1200" b="1">
                          <a:solidFill>
                            <a:srgbClr val="C27803"/>
                          </a:solidFill>
                          <a:latin typeface="Times New Roman"/>
                        </a:defRPr>
                      </a:pPr>
                      <a:r>
                        <a:t>Rp 29.000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tIns="73152" bIns="73152"/>
                    <a:lstStyle/>
                    <a:p>
                      <a:pPr algn="l">
                        <a:defRPr sz="1100" b="0">
                          <a:solidFill>
                            <a:srgbClr val="475569"/>
                          </a:solidFill>
                          <a:latin typeface="Times New Roman"/>
                        </a:defRPr>
                      </a:pPr>
                      <a:r>
                        <a:t>Reguler Favorit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66205">
                <a:tc>
                  <a:txBody>
                    <a:bodyPr wrap="square" tIns="73152" bIns="73152"/>
                    <a:lstStyle/>
                    <a:p>
                      <a:pPr algn="l">
                        <a:defRPr sz="1150" b="1">
                          <a:solidFill>
                            <a:srgbClr val="0F294D"/>
                          </a:solidFill>
                          <a:latin typeface="Times New Roman"/>
                        </a:defRPr>
                      </a:pPr>
                      <a:r>
                        <a:t>Mie Ayam Putih / Babi Saja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 wrap="square" tIns="73152" bIns="73152"/>
                    <a:lstStyle/>
                    <a:p>
                      <a:pPr algn="r">
                        <a:defRPr sz="1200" b="1">
                          <a:solidFill>
                            <a:srgbClr val="C27803"/>
                          </a:solidFill>
                          <a:latin typeface="Times New Roman"/>
                        </a:defRPr>
                      </a:pPr>
                      <a:r>
                        <a:t>Rp 29.000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 wrap="square" tIns="73152" bIns="73152"/>
                    <a:lstStyle/>
                    <a:p>
                      <a:pPr algn="l">
                        <a:defRPr sz="1100" b="0">
                          <a:solidFill>
                            <a:srgbClr val="475569"/>
                          </a:solidFill>
                          <a:latin typeface="Times New Roman"/>
                        </a:defRPr>
                      </a:pPr>
                      <a:r>
                        <a:t>Topping Tunggal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666205">
                <a:tc>
                  <a:txBody>
                    <a:bodyPr wrap="square" tIns="73152" bIns="73152"/>
                    <a:lstStyle/>
                    <a:p>
                      <a:pPr algn="l">
                        <a:defRPr sz="1150" b="1">
                          <a:solidFill>
                            <a:srgbClr val="0F294D"/>
                          </a:solidFill>
                          <a:latin typeface="Times New Roman"/>
                        </a:defRPr>
                      </a:pPr>
                      <a:r>
                        <a:t>Mie Daging Casiu Madu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tIns="73152" bIns="73152"/>
                    <a:lstStyle/>
                    <a:p>
                      <a:pPr algn="r">
                        <a:defRPr sz="1200" b="1">
                          <a:solidFill>
                            <a:srgbClr val="C27803"/>
                          </a:solidFill>
                          <a:latin typeface="Times New Roman"/>
                        </a:defRPr>
                      </a:pPr>
                      <a:r>
                        <a:t>Rp 31.000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tIns="73152" bIns="73152"/>
                    <a:lstStyle/>
                    <a:p>
                      <a:pPr algn="l">
                        <a:defRPr sz="1100" b="0">
                          <a:solidFill>
                            <a:srgbClr val="475569"/>
                          </a:solidFill>
                          <a:latin typeface="Times New Roman"/>
                        </a:defRPr>
                      </a:pPr>
                      <a:r>
                        <a:t>Casiu Panggang Gurih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66205">
                <a:tc>
                  <a:txBody>
                    <a:bodyPr wrap="square" tIns="73152" bIns="73152"/>
                    <a:lstStyle/>
                    <a:p>
                      <a:pPr algn="l">
                        <a:defRPr sz="1150" b="1">
                          <a:solidFill>
                            <a:srgbClr val="0F294D"/>
                          </a:solidFill>
                          <a:latin typeface="Times New Roman"/>
                        </a:defRPr>
                      </a:pPr>
                      <a:r>
                        <a:t>Mie Spesial 3 Isi Lengkap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 wrap="square" tIns="73152" bIns="73152"/>
                    <a:lstStyle/>
                    <a:p>
                      <a:pPr algn="r">
                        <a:defRPr sz="1200" b="1">
                          <a:solidFill>
                            <a:srgbClr val="C27803"/>
                          </a:solidFill>
                          <a:latin typeface="Times New Roman"/>
                        </a:defRPr>
                      </a:pPr>
                      <a:r>
                        <a:t>Rp 39.000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 wrap="square" tIns="73152" bIns="73152"/>
                    <a:lstStyle/>
                    <a:p>
                      <a:pPr algn="l">
                        <a:defRPr sz="1100" b="0">
                          <a:solidFill>
                            <a:srgbClr val="475569"/>
                          </a:solidFill>
                          <a:latin typeface="Times New Roman"/>
                        </a:defRPr>
                      </a:pPr>
                      <a:r>
                        <a:t>Ayam, Babi &amp; Casiu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666205">
                <a:tc>
                  <a:txBody>
                    <a:bodyPr wrap="square" tIns="73152" bIns="73152"/>
                    <a:lstStyle/>
                    <a:p>
                      <a:pPr algn="l">
                        <a:defRPr sz="1150" b="1">
                          <a:solidFill>
                            <a:srgbClr val="0F294D"/>
                          </a:solidFill>
                          <a:latin typeface="Times New Roman"/>
                        </a:defRPr>
                      </a:pPr>
                      <a:r>
                        <a:t>Porsi Jumbo (+100% Mie)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tIns="73152" bIns="73152"/>
                    <a:lstStyle/>
                    <a:p>
                      <a:pPr algn="r">
                        <a:defRPr sz="1200" b="1">
                          <a:solidFill>
                            <a:srgbClr val="C27803"/>
                          </a:solidFill>
                          <a:latin typeface="Times New Roman"/>
                        </a:defRPr>
                      </a:pPr>
                      <a:r>
                        <a:t>Rp 49.000 - 59.000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tIns="73152" bIns="73152"/>
                    <a:lstStyle/>
                    <a:p>
                      <a:pPr algn="l">
                        <a:defRPr sz="1100" b="0">
                          <a:solidFill>
                            <a:srgbClr val="475569"/>
                          </a:solidFill>
                          <a:latin typeface="Times New Roman"/>
                        </a:defRPr>
                      </a:pPr>
                      <a:r>
                        <a:t>2x Lipat Porsi Standar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66210">
                <a:tc>
                  <a:txBody>
                    <a:bodyPr wrap="square" tIns="73152" bIns="73152"/>
                    <a:lstStyle/>
                    <a:p>
                      <a:pPr algn="l">
                        <a:defRPr sz="1150" b="1">
                          <a:solidFill>
                            <a:srgbClr val="0F294D"/>
                          </a:solidFill>
                          <a:latin typeface="Times New Roman"/>
                        </a:defRPr>
                      </a:pPr>
                      <a:r>
                        <a:t>Porsi Kecil (Sarapan Hemat)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 wrap="square" tIns="73152" bIns="73152"/>
                    <a:lstStyle/>
                    <a:p>
                      <a:pPr algn="r">
                        <a:defRPr sz="1200" b="1">
                          <a:solidFill>
                            <a:srgbClr val="C27803"/>
                          </a:solidFill>
                          <a:latin typeface="Times New Roman"/>
                        </a:defRPr>
                      </a:pPr>
                      <a:r>
                        <a:t>Rp 27.000 - 29.000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 wrap="square" tIns="73152" bIns="73152"/>
                    <a:lstStyle/>
                    <a:p>
                      <a:pPr algn="l">
                        <a:defRPr sz="1100" b="0">
                          <a:solidFill>
                            <a:srgbClr val="475569"/>
                          </a:solidFill>
                          <a:latin typeface="Times New Roman"/>
                        </a:defRPr>
                      </a:pPr>
                      <a:r>
                        <a:t>Porsi Ringan Anak/Pagi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217920" y="1691640"/>
          <a:ext cx="5212080" cy="4663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/>
                <a:gridCol w="1280160"/>
                <a:gridCol w="1554480"/>
              </a:tblGrid>
              <a:tr h="666205">
                <a:tc>
                  <a:txBody>
                    <a:bodyPr wrap="square" tIns="73152" bIns="73152"/>
                    <a:lstStyle/>
                    <a:p>
                      <a:pPr algn="l">
                        <a:defRPr sz="1200" b="1">
                          <a:solidFill>
                            <a:srgbClr val="FFFFFF"/>
                          </a:solidFill>
                          <a:latin typeface="Times New Roman"/>
                        </a:defRPr>
                      </a:pPr>
                      <a:r>
                        <a:t>Pelengkap, Kuah &amp; Minuman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 wrap="square" tIns="73152" bIns="73152"/>
                    <a:lstStyle/>
                    <a:p>
                      <a:pPr algn="r">
                        <a:defRPr sz="1200" b="1">
                          <a:solidFill>
                            <a:srgbClr val="FFFFFF"/>
                          </a:solidFill>
                          <a:latin typeface="Times New Roman"/>
                        </a:defRPr>
                      </a:pPr>
                      <a:r>
                        <a:t>Harga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 wrap="square" tIns="73152" bIns="73152"/>
                    <a:lstStyle/>
                    <a:p>
                      <a:pPr algn="l">
                        <a:defRPr sz="1200" b="1">
                          <a:solidFill>
                            <a:srgbClr val="FFFFFF"/>
                          </a:solidFill>
                          <a:latin typeface="Times New Roman"/>
                        </a:defRPr>
                      </a:pPr>
                      <a:r>
                        <a:t>Keterangan Item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</a:tr>
              <a:tr h="666205">
                <a:tc>
                  <a:txBody>
                    <a:bodyPr wrap="square" tIns="73152" bIns="73152"/>
                    <a:lstStyle/>
                    <a:p>
                      <a:pPr algn="l">
                        <a:defRPr sz="1150" b="1">
                          <a:solidFill>
                            <a:srgbClr val="1E3A8A"/>
                          </a:solidFill>
                          <a:latin typeface="Times New Roman"/>
                        </a:defRPr>
                      </a:pPr>
                      <a:r>
                        <a:t>Pangsit Rebus Kuah (5 pcs)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tIns="73152" bIns="73152"/>
                    <a:lstStyle/>
                    <a:p>
                      <a:pPr algn="r">
                        <a:defRPr sz="1200" b="1">
                          <a:solidFill>
                            <a:srgbClr val="C27803"/>
                          </a:solidFill>
                          <a:latin typeface="Times New Roman"/>
                        </a:defRPr>
                      </a:pPr>
                      <a:r>
                        <a:t>Rp 22.500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tIns="73152" bIns="73152"/>
                    <a:lstStyle/>
                    <a:p>
                      <a:pPr algn="l">
                        <a:defRPr sz="1100" b="0">
                          <a:solidFill>
                            <a:srgbClr val="475569"/>
                          </a:solidFill>
                          <a:latin typeface="Times New Roman"/>
                        </a:defRPr>
                      </a:pPr>
                      <a:r>
                        <a:t>@Rp 4.500 / pcs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66205">
                <a:tc>
                  <a:txBody>
                    <a:bodyPr wrap="square" tIns="73152" bIns="73152"/>
                    <a:lstStyle/>
                    <a:p>
                      <a:pPr algn="l">
                        <a:defRPr sz="1150" b="1">
                          <a:solidFill>
                            <a:srgbClr val="1E3A8A"/>
                          </a:solidFill>
                          <a:latin typeface="Times New Roman"/>
                        </a:defRPr>
                      </a:pPr>
                      <a:r>
                        <a:t>Swikiaw Rebus Kuah (5 pcs)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 wrap="square" tIns="73152" bIns="73152"/>
                    <a:lstStyle/>
                    <a:p>
                      <a:pPr algn="r">
                        <a:defRPr sz="1200" b="1">
                          <a:solidFill>
                            <a:srgbClr val="C27803"/>
                          </a:solidFill>
                          <a:latin typeface="Times New Roman"/>
                        </a:defRPr>
                      </a:pPr>
                      <a:r>
                        <a:t>Rp 27.500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 wrap="square" tIns="73152" bIns="73152"/>
                    <a:lstStyle/>
                    <a:p>
                      <a:pPr algn="l">
                        <a:defRPr sz="1100" b="0">
                          <a:solidFill>
                            <a:srgbClr val="475569"/>
                          </a:solidFill>
                          <a:latin typeface="Times New Roman"/>
                        </a:defRPr>
                      </a:pPr>
                      <a:r>
                        <a:t>@Rp 5.500 / pcs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666205">
                <a:tc>
                  <a:txBody>
                    <a:bodyPr wrap="square" tIns="73152" bIns="73152"/>
                    <a:lstStyle/>
                    <a:p>
                      <a:pPr algn="l">
                        <a:defRPr sz="1150" b="1">
                          <a:solidFill>
                            <a:srgbClr val="1E3A8A"/>
                          </a:solidFill>
                          <a:latin typeface="Times New Roman"/>
                        </a:defRPr>
                      </a:pPr>
                      <a:r>
                        <a:t>Baso Sapi &amp; Baso Ikan (5 pcs)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tIns="73152" bIns="73152"/>
                    <a:lstStyle/>
                    <a:p>
                      <a:pPr algn="r">
                        <a:defRPr sz="1200" b="1">
                          <a:solidFill>
                            <a:srgbClr val="C27803"/>
                          </a:solidFill>
                          <a:latin typeface="Times New Roman"/>
                        </a:defRPr>
                      </a:pPr>
                      <a:r>
                        <a:t>Rp 22.500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tIns="73152" bIns="73152"/>
                    <a:lstStyle/>
                    <a:p>
                      <a:pPr algn="l">
                        <a:defRPr sz="1100" b="0">
                          <a:solidFill>
                            <a:srgbClr val="475569"/>
                          </a:solidFill>
                          <a:latin typeface="Times New Roman"/>
                        </a:defRPr>
                      </a:pPr>
                      <a:r>
                        <a:t>Sama harga pangsit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66205">
                <a:tc>
                  <a:txBody>
                    <a:bodyPr wrap="square" tIns="73152" bIns="73152"/>
                    <a:lstStyle/>
                    <a:p>
                      <a:pPr algn="l">
                        <a:defRPr sz="1150" b="1">
                          <a:solidFill>
                            <a:srgbClr val="1E3A8A"/>
                          </a:solidFill>
                          <a:latin typeface="Times New Roman"/>
                        </a:defRPr>
                      </a:pPr>
                      <a:r>
                        <a:t>Pangsit Goreng &amp; Baso Goreng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 wrap="square" tIns="73152" bIns="73152"/>
                    <a:lstStyle/>
                    <a:p>
                      <a:pPr algn="r">
                        <a:defRPr sz="1200" b="1">
                          <a:solidFill>
                            <a:srgbClr val="C27803"/>
                          </a:solidFill>
                          <a:latin typeface="Times New Roman"/>
                        </a:defRPr>
                      </a:pPr>
                      <a:r>
                        <a:t>Rp 5.000 - 8.000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 wrap="square" tIns="73152" bIns="73152"/>
                    <a:lstStyle/>
                    <a:p>
                      <a:pPr algn="l">
                        <a:defRPr sz="1100" b="0">
                          <a:solidFill>
                            <a:srgbClr val="475569"/>
                          </a:solidFill>
                          <a:latin typeface="Times New Roman"/>
                        </a:defRPr>
                      </a:pPr>
                      <a:r>
                        <a:t>Baso grg babi-udang 8k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666205">
                <a:tc>
                  <a:txBody>
                    <a:bodyPr wrap="square" tIns="73152" bIns="73152"/>
                    <a:lstStyle/>
                    <a:p>
                      <a:pPr algn="l">
                        <a:defRPr sz="1150" b="1">
                          <a:solidFill>
                            <a:srgbClr val="1E3A8A"/>
                          </a:solidFill>
                          <a:latin typeface="Times New Roman"/>
                        </a:defRPr>
                      </a:pPr>
                      <a:r>
                        <a:t>Badak Sarsaparilla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tIns="73152" bIns="73152"/>
                    <a:lstStyle/>
                    <a:p>
                      <a:pPr algn="r">
                        <a:defRPr sz="1200" b="1">
                          <a:solidFill>
                            <a:srgbClr val="C27803"/>
                          </a:solidFill>
                          <a:latin typeface="Times New Roman"/>
                        </a:defRPr>
                      </a:pPr>
                      <a:r>
                        <a:t>Rp 12.000 - 14.000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tIns="73152" bIns="73152"/>
                    <a:lstStyle/>
                    <a:p>
                      <a:pPr algn="l">
                        <a:defRPr sz="1100" b="0">
                          <a:solidFill>
                            <a:srgbClr val="475569"/>
                          </a:solidFill>
                          <a:latin typeface="Times New Roman"/>
                        </a:defRPr>
                      </a:pPr>
                      <a:r>
                        <a:t>Soda legendaris Siantar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66210">
                <a:tc>
                  <a:txBody>
                    <a:bodyPr wrap="square" tIns="73152" bIns="73152"/>
                    <a:lstStyle/>
                    <a:p>
                      <a:pPr algn="l">
                        <a:defRPr sz="1150" b="1">
                          <a:solidFill>
                            <a:srgbClr val="1E3A8A"/>
                          </a:solidFill>
                          <a:latin typeface="Times New Roman"/>
                        </a:defRPr>
                      </a:pPr>
                      <a:r>
                        <a:t>Susu Kacang, Liang Teh, Teh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 wrap="square" tIns="73152" bIns="73152"/>
                    <a:lstStyle/>
                    <a:p>
                      <a:pPr algn="r">
                        <a:defRPr sz="1200" b="1">
                          <a:solidFill>
                            <a:srgbClr val="C27803"/>
                          </a:solidFill>
                          <a:latin typeface="Times New Roman"/>
                        </a:defRPr>
                      </a:pPr>
                      <a:r>
                        <a:t>Rp 1.000 - 12.000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 wrap="square" tIns="73152" bIns="73152"/>
                    <a:lstStyle/>
                    <a:p>
                      <a:pPr algn="l">
                        <a:defRPr sz="1100" b="0">
                          <a:solidFill>
                            <a:srgbClr val="475569"/>
                          </a:solidFill>
                          <a:latin typeface="Times New Roman"/>
                        </a:defRPr>
                      </a:pPr>
                      <a:r>
                        <a:t>Saus Belibis &amp; Mangga Bsr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C2780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320040"/>
            <a:ext cx="3474720" cy="320040"/>
          </a:xfrm>
          <a:prstGeom prst="roundRect">
            <a:avLst/>
          </a:prstGeom>
          <a:solidFill>
            <a:srgbClr val="FEF3C7"/>
          </a:solidFill>
          <a:ln w="12700">
            <a:solidFill>
              <a:srgbClr val="C2780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defRPr sz="1000" b="1">
                <a:solidFill>
                  <a:srgbClr val="C27803"/>
                </a:solidFill>
                <a:latin typeface="Times New Roman"/>
              </a:defRPr>
            </a:pPr>
            <a:r>
              <a:t>• BAB II: ASPEK PASAR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149840" y="320040"/>
            <a:ext cx="1310335" cy="32004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defRPr sz="1000" b="1">
                <a:solidFill>
                  <a:srgbClr val="0F294D"/>
                </a:solidFill>
                <a:latin typeface="Times New Roman"/>
              </a:defRPr>
            </a:pPr>
            <a:r>
              <a:t>SLIDE 06 / 22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713232"/>
            <a:ext cx="10728655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100" b="1">
                <a:solidFill>
                  <a:srgbClr val="0F294D"/>
                </a:solidFill>
                <a:latin typeface="Times New Roman"/>
              </a:defRPr>
            </a:pPr>
            <a:r>
              <a:t>Analisis Pasar: STP Framework</a:t>
            </a:r>
          </a:p>
          <a:p>
            <a:pPr>
              <a:defRPr sz="1150">
                <a:solidFill>
                  <a:srgbClr val="475569"/>
                </a:solidFill>
                <a:latin typeface="Times New Roman"/>
              </a:defRPr>
            </a:pPr>
            <a:r>
              <a:t>Segmenting, Targeting, dan Positioning pasar sasaran Bakmi Mimu Carina Sayang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444752"/>
            <a:ext cx="10728655" cy="18288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31520" y="1691640"/>
            <a:ext cx="3456432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46304" bIns="146304"/>
          <a:lstStyle/>
          <a:p>
            <a:pPr algn="ctr">
              <a:defRPr sz="1350" b="1">
                <a:solidFill>
                  <a:srgbClr val="0F294D"/>
                </a:solidFill>
                <a:latin typeface="Times New Roman"/>
              </a:defRPr>
            </a:pPr>
            <a:r>
              <a:t>SEGMENTASI (SEGMENTING)</a:t>
            </a:r>
          </a:p>
          <a:p>
            <a:br/>
            <a:pPr>
              <a:defRPr sz="1200" b="1">
                <a:solidFill>
                  <a:srgbClr val="C27803"/>
                </a:solidFill>
                <a:latin typeface="Times New Roman"/>
              </a:defRPr>
            </a:pPr>
            <a:r>
              <a:t>• Geografis:</a:t>
            </a:r>
          </a:p>
          <a:p>
            <a:pPr>
              <a:defRPr sz="1100">
                <a:solidFill>
                  <a:srgbClr val="0F172A"/>
                </a:solidFill>
                <a:latin typeface="Times New Roman"/>
              </a:defRPr>
            </a:pPr>
            <a:r>
              <a:t>Radius 0 - 5 km meliputi Perumahan Duri Kosambi, Semanan, Taman Semanan Indah, Cengkareng, dan Puri Kembangan.</a:t>
            </a:r>
          </a:p>
          <a:p>
            <a:br/>
            <a:pPr>
              <a:defRPr sz="1200" b="1">
                <a:solidFill>
                  <a:srgbClr val="C27803"/>
                </a:solidFill>
                <a:latin typeface="Times New Roman"/>
              </a:defRPr>
            </a:pPr>
            <a:r>
              <a:t>• Demografis:</a:t>
            </a:r>
          </a:p>
          <a:p>
            <a:pPr>
              <a:defRPr sz="1100">
                <a:solidFill>
                  <a:srgbClr val="0F172A"/>
                </a:solidFill>
                <a:latin typeface="Times New Roman"/>
              </a:defRPr>
            </a:pPr>
            <a:r>
              <a:t>Pria &amp; wanita usia 7 - 65 tahun, siswa-siswi, guru, orang tua murid Kalam Kudus, karyawan kantor, SES Menengah.</a:t>
            </a:r>
          </a:p>
          <a:p>
            <a:br/>
            <a:pPr>
              <a:defRPr sz="1200" b="1">
                <a:solidFill>
                  <a:srgbClr val="C27803"/>
                </a:solidFill>
                <a:latin typeface="Times New Roman"/>
              </a:defRPr>
            </a:pPr>
            <a:r>
              <a:t>• Perilaku:</a:t>
            </a:r>
          </a:p>
          <a:p>
            <a:pPr>
              <a:defRPr sz="1100">
                <a:solidFill>
                  <a:srgbClr val="0F172A"/>
                </a:solidFill>
                <a:latin typeface="Times New Roman"/>
              </a:defRPr>
            </a:pPr>
            <a:r>
              <a:t>Pencinta kuliner mie oriental yang mengutamakan tekstur kenyal, cita rasa bumbu otentik, dan higienitas ruang makan.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70832" y="1691640"/>
            <a:ext cx="3456432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46304" bIns="146304"/>
          <a:lstStyle/>
          <a:p>
            <a:pPr algn="ctr">
              <a:defRPr sz="1350" b="1">
                <a:solidFill>
                  <a:srgbClr val="0F294D"/>
                </a:solidFill>
                <a:latin typeface="Times New Roman"/>
              </a:defRPr>
            </a:pPr>
            <a:r>
              <a:t>TARGET PASAR (TARGETING)</a:t>
            </a:r>
          </a:p>
          <a:p>
            <a:br/>
            <a:pPr>
              <a:defRPr sz="1200" b="1">
                <a:solidFill>
                  <a:srgbClr val="C27803"/>
                </a:solidFill>
                <a:latin typeface="Times New Roman"/>
              </a:defRPr>
            </a:pPr>
            <a:r>
              <a:t>• Keluarga Residensial:</a:t>
            </a:r>
          </a:p>
          <a:p>
            <a:pPr>
              <a:defRPr sz="1100">
                <a:solidFill>
                  <a:srgbClr val="0F172A"/>
                </a:solidFill>
                <a:latin typeface="Times New Roman"/>
              </a:defRPr>
            </a:pPr>
            <a:r>
              <a:t>Keluarga perumahan sekitar Duri Kosambi yang mencari santapan sarapan pagi dan makan siang lezat.</a:t>
            </a:r>
          </a:p>
          <a:p>
            <a:br/>
            <a:pPr>
              <a:defRPr sz="1200" b="1">
                <a:solidFill>
                  <a:srgbClr val="C27803"/>
                </a:solidFill>
                <a:latin typeface="Times New Roman"/>
              </a:defRPr>
            </a:pPr>
            <a:r>
              <a:t>• Civitas Kalam Kudus:</a:t>
            </a:r>
          </a:p>
          <a:p>
            <a:pPr>
              <a:defRPr sz="1100">
                <a:solidFill>
                  <a:srgbClr val="0F172A"/>
                </a:solidFill>
                <a:latin typeface="Times New Roman"/>
              </a:defRPr>
            </a:pPr>
            <a:r>
              <a:t>Siswa-siswi, guru, staf, dan orang tua murid Sekolah Kristen Kalam Kudus Kosambi tepat di depan gerai.</a:t>
            </a:r>
          </a:p>
          <a:p>
            <a:br/>
            <a:pPr>
              <a:defRPr sz="1200" b="1">
                <a:solidFill>
                  <a:srgbClr val="C27803"/>
                </a:solidFill>
                <a:latin typeface="Times New Roman"/>
              </a:defRPr>
            </a:pPr>
            <a:r>
              <a:t>• Pesan Antar &amp; Komunitas:</a:t>
            </a:r>
          </a:p>
          <a:p>
            <a:pPr>
              <a:defRPr sz="1100">
                <a:solidFill>
                  <a:srgbClr val="0F172A"/>
                </a:solidFill>
                <a:latin typeface="Times New Roman"/>
              </a:defRPr>
            </a:pPr>
            <a:r>
              <a:t>Jemaat gereja hari Sabtu-Minggu serta pelanggan bawa pulang / pesan antar warga sekitar.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10144" y="1691640"/>
            <a:ext cx="3456432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93C5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46304" bIns="146304"/>
          <a:lstStyle/>
          <a:p>
            <a:pPr algn="ctr">
              <a:defRPr sz="1350" b="1">
                <a:solidFill>
                  <a:srgbClr val="0F294D"/>
                </a:solidFill>
                <a:latin typeface="Times New Roman"/>
              </a:defRPr>
            </a:pPr>
            <a:r>
              <a:t>POSISI PASAR (POSITIONING)</a:t>
            </a:r>
          </a:p>
          <a:p>
            <a:br/>
            <a:pPr>
              <a:defRPr sz="1200" b="1">
                <a:solidFill>
                  <a:srgbClr val="C27803"/>
                </a:solidFill>
                <a:latin typeface="Times New Roman"/>
              </a:defRPr>
            </a:pPr>
            <a:r>
              <a:t>• Identitas Utama:</a:t>
            </a:r>
          </a:p>
          <a:p>
            <a:pPr>
              <a:defRPr sz="1100">
                <a:solidFill>
                  <a:srgbClr val="0F172A"/>
                </a:solidFill>
                <a:latin typeface="Times New Roman"/>
              </a:defRPr>
            </a:pPr>
            <a:r>
              <a:t>“Kedai Bakmi Otentik Legendaris dengan Resep 1999 dan Standar Kebersihan Higienis Terpercaya.”</a:t>
            </a:r>
          </a:p>
          <a:p>
            <a:br/>
            <a:pPr>
              <a:defRPr sz="1200" b="1">
                <a:solidFill>
                  <a:srgbClr val="C27803"/>
                </a:solidFill>
                <a:latin typeface="Times New Roman"/>
              </a:defRPr>
            </a:pPr>
            <a:r>
              <a:t>• Value Proposition:</a:t>
            </a:r>
          </a:p>
          <a:p>
            <a:pPr>
              <a:defRPr sz="1100">
                <a:solidFill>
                  <a:srgbClr val="0F172A"/>
                </a:solidFill>
                <a:latin typeface="Times New Roman"/>
              </a:defRPr>
            </a:pPr>
            <a:r>
              <a:t>Memberikan kepuasan rasa resep keluarga 1999 dengan porsi mengenyangkan dan harga sangat sebanding.</a:t>
            </a:r>
          </a:p>
          <a:p>
            <a:br/>
            <a:pPr>
              <a:defRPr sz="1200" b="1">
                <a:solidFill>
                  <a:srgbClr val="C27803"/>
                </a:solidFill>
                <a:latin typeface="Times New Roman"/>
              </a:defRPr>
            </a:pPr>
            <a:r>
              <a:t>• Brand Perception:</a:t>
            </a:r>
          </a:p>
          <a:p>
            <a:pPr>
              <a:defRPr sz="1100">
                <a:solidFill>
                  <a:srgbClr val="0F172A"/>
                </a:solidFill>
                <a:latin typeface="Times New Roman"/>
              </a:defRPr>
            </a:pPr>
            <a:r>
              <a:t>Bukan sekadar warung tenda biasa, melainkan kedai bakmi keluarga yang bersih, ramah, dan terpercaya.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C2780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320040"/>
            <a:ext cx="3474720" cy="320040"/>
          </a:xfrm>
          <a:prstGeom prst="roundRect">
            <a:avLst/>
          </a:prstGeom>
          <a:solidFill>
            <a:srgbClr val="FEF3C7"/>
          </a:solidFill>
          <a:ln w="12700">
            <a:solidFill>
              <a:srgbClr val="C2780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defRPr sz="1000" b="1">
                <a:solidFill>
                  <a:srgbClr val="C27803"/>
                </a:solidFill>
                <a:latin typeface="Times New Roman"/>
              </a:defRPr>
            </a:pPr>
            <a:r>
              <a:t>• BAB II: ASPEK PASAR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149840" y="320040"/>
            <a:ext cx="1310335" cy="32004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defRPr sz="1000" b="1">
                <a:solidFill>
                  <a:srgbClr val="0F294D"/>
                </a:solidFill>
                <a:latin typeface="Times New Roman"/>
              </a:defRPr>
            </a:pPr>
            <a:r>
              <a:t>SLIDE 07 / 22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713232"/>
            <a:ext cx="10728655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100" b="1">
                <a:solidFill>
                  <a:srgbClr val="0F294D"/>
                </a:solidFill>
                <a:latin typeface="Times New Roman"/>
              </a:defRPr>
            </a:pPr>
            <a:r>
              <a:t>Analisis Persaingan &amp; Peta Kompetitor</a:t>
            </a:r>
          </a:p>
          <a:p>
            <a:pPr>
              <a:defRPr sz="1150">
                <a:solidFill>
                  <a:srgbClr val="475569"/>
                </a:solidFill>
                <a:latin typeface="Times New Roman"/>
              </a:defRPr>
            </a:pPr>
            <a:r>
              <a:t>Matriks perbandingan daya saing Bakmi Mimu terhadap pelaku usaha sejenis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444752"/>
            <a:ext cx="10728655" cy="18288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31520" y="1691640"/>
            <a:ext cx="3456432" cy="4663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2780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46304" bIns="146304"/>
          <a:lstStyle/>
          <a:p>
            <a:pPr algn="ctr">
              <a:defRPr sz="1300" b="1">
                <a:solidFill>
                  <a:srgbClr val="C27803"/>
                </a:solidFill>
                <a:latin typeface="Times New Roman"/>
              </a:defRPr>
            </a:pPr>
            <a:r>
              <a:t>BAKMI MIMU CARINA SAYANG</a:t>
            </a:r>
          </a:p>
          <a:p>
            <a:pPr>
              <a:defRPr sz="1100">
                <a:solidFill>
                  <a:srgbClr val="475569"/>
                </a:solidFill>
                <a:latin typeface="Times New Roman"/>
              </a:defRPr>
            </a:pPr>
            <a:r>
              <a:t>Brand Unggulan Kita</a:t>
            </a:r>
          </a:p>
          <a:p>
            <a:br/>
            <a:pPr>
              <a:defRPr sz="1150" b="1">
                <a:solidFill>
                  <a:srgbClr val="0F294D"/>
                </a:solidFill>
                <a:latin typeface="Times New Roman"/>
              </a:defRPr>
            </a:pPr>
            <a:r>
              <a:t>▸ Rasa &amp; Resep:</a:t>
            </a:r>
          </a:p>
          <a:p>
            <a:pPr>
              <a:defRPr sz="1050">
                <a:solidFill>
                  <a:srgbClr val="0F172A"/>
                </a:solidFill>
                <a:latin typeface="Times New Roman"/>
              </a:defRPr>
            </a:pPr>
            <a:r>
              <a:t>Resep keluarga sejak 1999 di Taman Aries, 3 racikan minyak khas (babi, ayam, sayur+wijen), adonan fresh mingguan.</a:t>
            </a:r>
          </a:p>
          <a:p>
            <a:br/>
            <a:pPr>
              <a:defRPr sz="1150" b="1">
                <a:solidFill>
                  <a:srgbClr val="0F294D"/>
                </a:solidFill>
                <a:latin typeface="Times New Roman"/>
              </a:defRPr>
            </a:pPr>
            <a:r>
              <a:t>▸ Fasilitas Kedai:</a:t>
            </a:r>
          </a:p>
          <a:p>
            <a:pPr>
              <a:defRPr sz="1050">
                <a:solidFill>
                  <a:srgbClr val="0F172A"/>
                </a:solidFill>
                <a:latin typeface="Times New Roman"/>
              </a:defRPr>
            </a:pPr>
            <a:r>
              <a:t>Ruko 1 lantai, sirkulasi 6 kipas angin sejuk, suasana hangat padat (23 kursi), open kitchen gerobak depan.</a:t>
            </a:r>
          </a:p>
          <a:p>
            <a:br/>
            <a:pPr>
              <a:defRPr sz="1150" b="1">
                <a:solidFill>
                  <a:srgbClr val="0F294D"/>
                </a:solidFill>
                <a:latin typeface="Times New Roman"/>
              </a:defRPr>
            </a:pPr>
            <a:r>
              <a:t>▸ Varian Topping:</a:t>
            </a:r>
          </a:p>
          <a:p>
            <a:pPr>
              <a:defRPr sz="1050">
                <a:solidFill>
                  <a:srgbClr val="0F172A"/>
                </a:solidFill>
                <a:latin typeface="Times New Roman"/>
              </a:defRPr>
            </a:pPr>
            <a:r>
              <a:t>3 Topping murni: Ayam putih gurih, babi kecap manis, casiu madu (tanpa bebek/jamur), kuah swikiaw &amp; pangsit.</a:t>
            </a:r>
          </a:p>
          <a:p>
            <a:br/>
            <a:pPr>
              <a:defRPr sz="1150" b="1">
                <a:solidFill>
                  <a:srgbClr val="0F294D"/>
                </a:solidFill>
                <a:latin typeface="Times New Roman"/>
              </a:defRPr>
            </a:pPr>
            <a:r>
              <a:t>▸ Layanan &amp; Saus:</a:t>
            </a:r>
          </a:p>
          <a:p>
            <a:pPr>
              <a:defRPr sz="1050">
                <a:solidFill>
                  <a:srgbClr val="0F172A"/>
                </a:solidFill>
                <a:latin typeface="Times New Roman"/>
              </a:defRPr>
            </a:pPr>
            <a:r>
              <a:t>Penyajian kilat &lt; 5 menit, nota manual kasir, saus botol resmi Cap Belibis &amp; Mangga Besar.</a:t>
            </a:r>
          </a:p>
          <a:p>
            <a:br/>
            <a:pPr>
              <a:defRPr sz="1150" b="1">
                <a:solidFill>
                  <a:srgbClr val="0F294D"/>
                </a:solidFill>
                <a:latin typeface="Times New Roman"/>
              </a:defRPr>
            </a:pPr>
            <a:r>
              <a:t>▸ Harga &amp; Value:</a:t>
            </a:r>
          </a:p>
          <a:p>
            <a:pPr>
              <a:defRPr sz="1050">
                <a:solidFill>
                  <a:srgbClr val="0F172A"/>
                </a:solidFill>
                <a:latin typeface="Times New Roman"/>
              </a:defRPr>
            </a:pPr>
            <a:r>
              <a:t>Rp 27.000 - Rp 59.000 (Sangat terjangkau dengan opsi porsi kecil, reguler, hingga jumbo +100% mie).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70832" y="1691640"/>
            <a:ext cx="3456432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46304" bIns="146304"/>
          <a:lstStyle/>
          <a:p>
            <a:pPr algn="ctr">
              <a:defRPr sz="1300" b="1">
                <a:solidFill>
                  <a:srgbClr val="1E3A8A"/>
                </a:solidFill>
                <a:latin typeface="Times New Roman"/>
              </a:defRPr>
            </a:pPr>
            <a:r>
              <a:t>BAKMI ALOK / BRAND BESAR</a:t>
            </a:r>
          </a:p>
          <a:p>
            <a:pPr>
              <a:defRPr sz="1100">
                <a:solidFill>
                  <a:srgbClr val="475569"/>
                </a:solidFill>
                <a:latin typeface="Times New Roman"/>
              </a:defRPr>
            </a:pPr>
            <a:r>
              <a:t>Kompetitor Merek Terkenal</a:t>
            </a:r>
          </a:p>
          <a:p>
            <a:br/>
            <a:pPr>
              <a:defRPr sz="1150" b="1">
                <a:solidFill>
                  <a:srgbClr val="0F294D"/>
                </a:solidFill>
                <a:latin typeface="Times New Roman"/>
              </a:defRPr>
            </a:pPr>
            <a:r>
              <a:t>▸ Rasa &amp; Resep:</a:t>
            </a:r>
          </a:p>
          <a:p>
            <a:pPr>
              <a:defRPr sz="1050">
                <a:solidFill>
                  <a:srgbClr val="0F172A"/>
                </a:solidFill>
                <a:latin typeface="Times New Roman"/>
              </a:defRPr>
            </a:pPr>
            <a:r>
              <a:t>Cita rasa bakmi ayam rebus gurih, brand equity kuat di Jakarta Barat.</a:t>
            </a:r>
          </a:p>
          <a:p>
            <a:br/>
            <a:pPr>
              <a:defRPr sz="1150" b="1">
                <a:solidFill>
                  <a:srgbClr val="0F294D"/>
                </a:solidFill>
                <a:latin typeface="Times New Roman"/>
              </a:defRPr>
            </a:pPr>
            <a:r>
              <a:t>▸ Fasilitas Kedai:</a:t>
            </a:r>
          </a:p>
          <a:p>
            <a:pPr>
              <a:defRPr sz="1050">
                <a:solidFill>
                  <a:srgbClr val="0F172A"/>
                </a:solidFill>
                <a:latin typeface="Times New Roman"/>
              </a:defRPr>
            </a:pPr>
            <a:r>
              <a:t>Restoran permanen ber-AC, kapasitas besar, antrean panjang saat jam makan siang.</a:t>
            </a:r>
          </a:p>
          <a:p>
            <a:br/>
            <a:pPr>
              <a:defRPr sz="1150" b="1">
                <a:solidFill>
                  <a:srgbClr val="0F294D"/>
                </a:solidFill>
                <a:latin typeface="Times New Roman"/>
              </a:defRPr>
            </a:pPr>
            <a:r>
              <a:t>▸ Varian Topping:</a:t>
            </a:r>
          </a:p>
          <a:p>
            <a:pPr>
              <a:defRPr sz="1050">
                <a:solidFill>
                  <a:srgbClr val="0F172A"/>
                </a:solidFill>
                <a:latin typeface="Times New Roman"/>
              </a:defRPr>
            </a:pPr>
            <a:r>
              <a:t>Fokus dominan ayam kampung rebus, tidak menyediakan varian babi casiu madu.</a:t>
            </a:r>
          </a:p>
          <a:p>
            <a:br/>
            <a:pPr>
              <a:defRPr sz="1150" b="1">
                <a:solidFill>
                  <a:srgbClr val="0F294D"/>
                </a:solidFill>
                <a:latin typeface="Times New Roman"/>
              </a:defRPr>
            </a:pPr>
            <a:r>
              <a:t>▸ Layanan &amp; Saus:</a:t>
            </a:r>
          </a:p>
          <a:p>
            <a:pPr>
              <a:defRPr sz="1050">
                <a:solidFill>
                  <a:srgbClr val="0F172A"/>
                </a:solidFill>
                <a:latin typeface="Times New Roman"/>
              </a:defRPr>
            </a:pPr>
            <a:r>
              <a:t>Standar restoran waralaba terstruktur, layanan formal.</a:t>
            </a:r>
          </a:p>
          <a:p>
            <a:br/>
            <a:pPr>
              <a:defRPr sz="1150" b="1">
                <a:solidFill>
                  <a:srgbClr val="0F294D"/>
                </a:solidFill>
                <a:latin typeface="Times New Roman"/>
              </a:defRPr>
            </a:pPr>
            <a:r>
              <a:t>▸ Harga &amp; Value:</a:t>
            </a:r>
          </a:p>
          <a:p>
            <a:pPr>
              <a:defRPr sz="1050">
                <a:solidFill>
                  <a:srgbClr val="0F172A"/>
                </a:solidFill>
                <a:latin typeface="Times New Roman"/>
              </a:defRPr>
            </a:pPr>
            <a:r>
              <a:t>Rp 45.000 - Rp 65.000 (Segmen premium, relatif lebih mahal untuk konsumsi harian).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10144" y="1691640"/>
            <a:ext cx="3456432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46304" bIns="146304"/>
          <a:lstStyle/>
          <a:p>
            <a:pPr algn="ctr">
              <a:defRPr sz="1300" b="1">
                <a:solidFill>
                  <a:srgbClr val="475569"/>
                </a:solidFill>
                <a:latin typeface="Times New Roman"/>
              </a:defRPr>
            </a:pPr>
            <a:r>
              <a:t>WARUNG BAKMI LOKAL KOSAMBI</a:t>
            </a:r>
          </a:p>
          <a:p>
            <a:pPr>
              <a:defRPr sz="1100">
                <a:solidFill>
                  <a:srgbClr val="475569"/>
                </a:solidFill>
                <a:latin typeface="Times New Roman"/>
              </a:defRPr>
            </a:pPr>
            <a:r>
              <a:t>Kompetitor Tradisional Sekitar</a:t>
            </a:r>
          </a:p>
          <a:p>
            <a:br/>
            <a:pPr>
              <a:defRPr sz="1150" b="1">
                <a:solidFill>
                  <a:srgbClr val="0F294D"/>
                </a:solidFill>
                <a:latin typeface="Times New Roman"/>
              </a:defRPr>
            </a:pPr>
            <a:r>
              <a:t>▸ Rasa &amp; Resep:</a:t>
            </a:r>
          </a:p>
          <a:p>
            <a:pPr>
              <a:defRPr sz="1050">
                <a:solidFill>
                  <a:srgbClr val="0F172A"/>
                </a:solidFill>
                <a:latin typeface="Times New Roman"/>
              </a:defRPr>
            </a:pPr>
            <a:r>
              <a:t>Cita rasa standar warung tenda gerobak kaki lima, bumbu penyedap dominan.</a:t>
            </a:r>
          </a:p>
          <a:p>
            <a:br/>
            <a:pPr>
              <a:defRPr sz="1150" b="1">
                <a:solidFill>
                  <a:srgbClr val="0F294D"/>
                </a:solidFill>
                <a:latin typeface="Times New Roman"/>
              </a:defRPr>
            </a:pPr>
            <a:r>
              <a:t>▸ Fasilitas Kedai:</a:t>
            </a:r>
          </a:p>
          <a:p>
            <a:pPr>
              <a:defRPr sz="1050">
                <a:solidFill>
                  <a:srgbClr val="0F172A"/>
                </a:solidFill>
                <a:latin typeface="Times New Roman"/>
              </a:defRPr>
            </a:pPr>
            <a:r>
              <a:t>Kios semi terbuka/tenda pinggir jalan, sirkulasi udara terbatas, parkir sempit.</a:t>
            </a:r>
          </a:p>
          <a:p>
            <a:br/>
            <a:pPr>
              <a:defRPr sz="1150" b="1">
                <a:solidFill>
                  <a:srgbClr val="0F294D"/>
                </a:solidFill>
                <a:latin typeface="Times New Roman"/>
              </a:defRPr>
            </a:pPr>
            <a:r>
              <a:t>▸ Varian Topping:</a:t>
            </a:r>
          </a:p>
          <a:p>
            <a:pPr>
              <a:defRPr sz="1050">
                <a:solidFill>
                  <a:srgbClr val="0F172A"/>
                </a:solidFill>
                <a:latin typeface="Times New Roman"/>
              </a:defRPr>
            </a:pPr>
            <a:r>
              <a:t>Topping terbatas ayam cincang biasa, jarang menyediakan menu swikiaw rebus.</a:t>
            </a:r>
          </a:p>
          <a:p>
            <a:br/>
            <a:pPr>
              <a:defRPr sz="1150" b="1">
                <a:solidFill>
                  <a:srgbClr val="0F294D"/>
                </a:solidFill>
                <a:latin typeface="Times New Roman"/>
              </a:defRPr>
            </a:pPr>
            <a:r>
              <a:t>▸ Layanan &amp; Saus:</a:t>
            </a:r>
          </a:p>
          <a:p>
            <a:pPr>
              <a:defRPr sz="1050">
                <a:solidFill>
                  <a:srgbClr val="0F172A"/>
                </a:solidFill>
                <a:latin typeface="Times New Roman"/>
              </a:defRPr>
            </a:pPr>
            <a:r>
              <a:t>Kemasan plastik mika konvensional, rentan tumpah dan cepat dingin.</a:t>
            </a:r>
          </a:p>
          <a:p>
            <a:br/>
            <a:pPr>
              <a:defRPr sz="1150" b="1">
                <a:solidFill>
                  <a:srgbClr val="0F294D"/>
                </a:solidFill>
                <a:latin typeface="Times New Roman"/>
              </a:defRPr>
            </a:pPr>
            <a:r>
              <a:t>▸ Harga &amp; Value:</a:t>
            </a:r>
          </a:p>
          <a:p>
            <a:pPr>
              <a:defRPr sz="1050">
                <a:solidFill>
                  <a:srgbClr val="0F172A"/>
                </a:solidFill>
                <a:latin typeface="Times New Roman"/>
              </a:defRPr>
            </a:pPr>
            <a:r>
              <a:t>Rp 20.000 - Rp 25.000 (Harga murah namun kebersihan dan fasilitas sangat minim).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C2780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320040"/>
            <a:ext cx="3474720" cy="320040"/>
          </a:xfrm>
          <a:prstGeom prst="roundRect">
            <a:avLst/>
          </a:prstGeom>
          <a:solidFill>
            <a:srgbClr val="FEF3C7"/>
          </a:solidFill>
          <a:ln w="12700">
            <a:solidFill>
              <a:srgbClr val="C2780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defRPr sz="1000" b="1">
                <a:solidFill>
                  <a:srgbClr val="C27803"/>
                </a:solidFill>
                <a:latin typeface="Times New Roman"/>
              </a:defRPr>
            </a:pPr>
            <a:r>
              <a:t>• BAB II: ASPEK PASAR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149840" y="320040"/>
            <a:ext cx="1310335" cy="32004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defRPr sz="1000" b="1">
                <a:solidFill>
                  <a:srgbClr val="0F294D"/>
                </a:solidFill>
                <a:latin typeface="Times New Roman"/>
              </a:defRPr>
            </a:pPr>
            <a:r>
              <a:t>SLIDE 08 / 22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713232"/>
            <a:ext cx="10728655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100" b="1">
                <a:solidFill>
                  <a:srgbClr val="0F294D"/>
                </a:solidFill>
                <a:latin typeface="Times New Roman"/>
              </a:defRPr>
            </a:pPr>
            <a:r>
              <a:t>Strategi Bauran Pemasaran (4P Tradisional)</a:t>
            </a:r>
          </a:p>
          <a:p>
            <a:pPr>
              <a:defRPr sz="1150">
                <a:solidFill>
                  <a:srgbClr val="475569"/>
                </a:solidFill>
                <a:latin typeface="Times New Roman"/>
              </a:defRPr>
            </a:pPr>
            <a:r>
              <a:t>Strategi eksekusi taktis: Product, Price, Place, dan Promotion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444752"/>
            <a:ext cx="10728655" cy="18288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31520" y="1691640"/>
            <a:ext cx="521208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2780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46304" bIns="146304"/>
          <a:lstStyle/>
          <a:p>
            <a:pPr algn="ctr">
              <a:defRPr sz="1350" b="1">
                <a:solidFill>
                  <a:srgbClr val="C27803"/>
                </a:solidFill>
                <a:latin typeface="Times New Roman"/>
              </a:defRPr>
            </a:pPr>
            <a:r>
              <a:t>PRODUCT (PRODUK)</a:t>
            </a:r>
          </a:p>
          <a:p>
            <a:pPr>
              <a:defRPr sz="1150">
                <a:solidFill>
                  <a:srgbClr val="0F172A"/>
                </a:solidFill>
                <a:latin typeface="Times New Roman"/>
              </a:defRPr>
            </a:pPr>
            <a:r>
              <a:t>• Resep autentik 1999 (Taman Aries), adonan fresh dibuat mandiri setiap minggu tanpa pengawet.</a:t>
            </a:r>
          </a:p>
          <a:p>
            <a:pPr>
              <a:defRPr sz="1150">
                <a:solidFill>
                  <a:srgbClr val="0F172A"/>
                </a:solidFill>
                <a:latin typeface="Times New Roman"/>
              </a:defRPr>
            </a:pPr>
            <a:r>
              <a:t>• 3 Topping murni: Ayam Putih, Babi Kecap, &amp; Casiu Madu gurih (tanpa daging bebek &amp; jamur).</a:t>
            </a:r>
          </a:p>
          <a:p>
            <a:pPr>
              <a:defRPr sz="1150">
                <a:solidFill>
                  <a:srgbClr val="0F172A"/>
                </a:solidFill>
                <a:latin typeface="Times New Roman"/>
              </a:defRPr>
            </a:pPr>
            <a:r>
              <a:t>• 3 Pilihan racikan minyak mie: Minyak Babi, Minyak Ayam, &amp; Minyak Sayur + Wijen.</a:t>
            </a:r>
          </a:p>
          <a:p>
            <a:pPr>
              <a:defRPr sz="1150">
                <a:solidFill>
                  <a:srgbClr val="0F172A"/>
                </a:solidFill>
                <a:latin typeface="Times New Roman"/>
              </a:defRPr>
            </a:pPr>
            <a:r>
              <a:t>• Variasi porsi fleksibel: Porsi Kecil (27k), Reguler (29k-39k), hingga Jumbo (+100% mie, 49k-59k).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691640"/>
            <a:ext cx="521208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46304" bIns="146304"/>
          <a:lstStyle/>
          <a:p>
            <a:pPr algn="ctr">
              <a:defRPr sz="1350" b="1">
                <a:solidFill>
                  <a:srgbClr val="059669"/>
                </a:solidFill>
                <a:latin typeface="Times New Roman"/>
              </a:defRPr>
            </a:pPr>
            <a:r>
              <a:t>PRICE (HARGA)</a:t>
            </a:r>
          </a:p>
          <a:p>
            <a:pPr>
              <a:defRPr sz="1150">
                <a:solidFill>
                  <a:srgbClr val="0F172A"/>
                </a:solidFill>
                <a:latin typeface="Times New Roman"/>
              </a:defRPr>
            </a:pPr>
            <a:r>
              <a:t>• Menerapkan Value-Based Pricing bersaing di kawasan residensial Duri Kosambi.</a:t>
            </a:r>
          </a:p>
          <a:p>
            <a:pPr>
              <a:defRPr sz="1150">
                <a:solidFill>
                  <a:srgbClr val="0F172A"/>
                </a:solidFill>
                <a:latin typeface="Times New Roman"/>
              </a:defRPr>
            </a:pPr>
            <a:r>
              <a:t>• Range harga bakmi: Rp 27.000 s.d. Rp 59.000 (belum termasuk menu pelengkap tambahan).</a:t>
            </a:r>
          </a:p>
          <a:p>
            <a:pPr>
              <a:defRPr sz="1150">
                <a:solidFill>
                  <a:srgbClr val="0F172A"/>
                </a:solidFill>
                <a:latin typeface="Times New Roman"/>
              </a:defRPr>
            </a:pPr>
            <a:r>
              <a:t>• Menu kuah: Pangsit rebus Rp 22.500 (5 pcs), Swikiaw Rp 27.500 (5 pcs), Baso sapi/ikan Rp 22.500.</a:t>
            </a:r>
          </a:p>
          <a:p>
            <a:pPr>
              <a:defRPr sz="1150">
                <a:solidFill>
                  <a:srgbClr val="0F172A"/>
                </a:solidFill>
                <a:latin typeface="Times New Roman"/>
              </a:defRPr>
            </a:pPr>
            <a:r>
              <a:t>• Gorengan Rp 5.000 - 8.000, minuman segar Rp 1.000 - 14.000 (Badak, Liang Teh, Susu Kacang).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4023360"/>
            <a:ext cx="521208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46304" bIns="146304"/>
          <a:lstStyle/>
          <a:p>
            <a:pPr algn="ctr">
              <a:defRPr sz="1350" b="1">
                <a:solidFill>
                  <a:srgbClr val="1E3A8A"/>
                </a:solidFill>
                <a:latin typeface="Times New Roman"/>
              </a:defRPr>
            </a:pPr>
            <a:r>
              <a:t>PLACE (DISTRIBUSI / LOKASI)</a:t>
            </a:r>
          </a:p>
          <a:p>
            <a:pPr>
              <a:defRPr sz="1150">
                <a:solidFill>
                  <a:srgbClr val="0F172A"/>
                </a:solidFill>
                <a:latin typeface="Times New Roman"/>
              </a:defRPr>
            </a:pPr>
            <a:r>
              <a:t>• Lokasi ruko 1 lantai di Jl. Angsoka Hijau IV Blok E6 No. 17 Duri Kosambi, Cengkareng, Jakarta Barat.</a:t>
            </a:r>
          </a:p>
          <a:p>
            <a:pPr>
              <a:defRPr sz="1150">
                <a:solidFill>
                  <a:srgbClr val="0F172A"/>
                </a:solidFill>
                <a:latin typeface="Times New Roman"/>
              </a:defRPr>
            </a:pPr>
            <a:r>
              <a:t>• Posisi emas persis di depan Taman TK, SD, dan SMP Sekolah Kristen Kalam Kudus.</a:t>
            </a:r>
          </a:p>
          <a:p>
            <a:pPr>
              <a:defRPr sz="1150">
                <a:solidFill>
                  <a:srgbClr val="0F172A"/>
                </a:solidFill>
                <a:latin typeface="Times New Roman"/>
              </a:defRPr>
            </a:pPr>
            <a:r>
              <a:t>• Fasilitas ruang makan berdaya tampung 23 kursi aktif (meja reguler + meja bar dinding).</a:t>
            </a:r>
          </a:p>
          <a:p>
            <a:pPr>
              <a:defRPr sz="1150">
                <a:solidFill>
                  <a:srgbClr val="0F172A"/>
                </a:solidFill>
                <a:latin typeface="Times New Roman"/>
              </a:defRPr>
            </a:pPr>
            <a:r>
              <a:t>• Fokus saluran penjualan langsung: Makan di tempat (Dine-In) dan pesanan bawa pulang (Take-Away).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4023360"/>
            <a:ext cx="521208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F29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46304" bIns="146304"/>
          <a:lstStyle/>
          <a:p>
            <a:pPr algn="ctr">
              <a:defRPr sz="1350" b="1">
                <a:solidFill>
                  <a:srgbClr val="0F294D"/>
                </a:solidFill>
                <a:latin typeface="Times New Roman"/>
              </a:defRPr>
            </a:pPr>
            <a:r>
              <a:t>PROMOTION (PROMOSI)</a:t>
            </a:r>
          </a:p>
          <a:p>
            <a:pPr>
              <a:defRPr sz="1150">
                <a:solidFill>
                  <a:srgbClr val="0F172A"/>
                </a:solidFill>
                <a:latin typeface="Times New Roman"/>
              </a:defRPr>
            </a:pPr>
            <a:r>
              <a:t>• Tidak mengadakan program promosi diskon buatan, kupon berhadiah, atau stamp card formal.</a:t>
            </a:r>
          </a:p>
          <a:p>
            <a:pPr>
              <a:defRPr sz="1150">
                <a:solidFill>
                  <a:srgbClr val="0F172A"/>
                </a:solidFill>
                <a:latin typeface="Times New Roman"/>
              </a:defRPr>
            </a:pPr>
            <a:r>
              <a:t>• Murni mengandalkan penjualan lokal getok tular (loyalitas pelanggan lama sejak 2019 &amp; pembeli baru).</a:t>
            </a:r>
          </a:p>
          <a:p>
            <a:pPr>
              <a:defRPr sz="1150">
                <a:solidFill>
                  <a:srgbClr val="0F172A"/>
                </a:solidFill>
                <a:latin typeface="Times New Roman"/>
              </a:defRPr>
            </a:pPr>
            <a:r>
              <a:t>• Pemasaran organik sukarela dari ulasan pengunjung dan food vlogger kuliner (viral di media sosial).</a:t>
            </a:r>
          </a:p>
          <a:p>
            <a:pPr>
              <a:defRPr sz="1150">
                <a:solidFill>
                  <a:srgbClr val="0F172A"/>
                </a:solidFill>
                <a:latin typeface="Times New Roman"/>
              </a:defRPr>
            </a:pPr>
            <a:r>
              <a:t>• Papan nama kedai (signage) sederhana di fasad ruko yang terlihat jelas oleh para penjemput sekolah.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C2780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320040"/>
            <a:ext cx="3474720" cy="320040"/>
          </a:xfrm>
          <a:prstGeom prst="roundRect">
            <a:avLst/>
          </a:prstGeom>
          <a:solidFill>
            <a:srgbClr val="FEF3C7"/>
          </a:solidFill>
          <a:ln w="12700">
            <a:solidFill>
              <a:srgbClr val="C2780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defRPr sz="1000" b="1">
                <a:solidFill>
                  <a:srgbClr val="C27803"/>
                </a:solidFill>
                <a:latin typeface="Times New Roman"/>
              </a:defRPr>
            </a:pPr>
            <a:r>
              <a:t>• BAB II: ASPEK PASAR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149840" y="320040"/>
            <a:ext cx="1310335" cy="32004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defRPr sz="1000" b="1">
                <a:solidFill>
                  <a:srgbClr val="0F294D"/>
                </a:solidFill>
                <a:latin typeface="Times New Roman"/>
              </a:defRPr>
            </a:pPr>
            <a:r>
              <a:t>SLIDE 09 / 22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713232"/>
            <a:ext cx="10728655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100" b="1">
                <a:solidFill>
                  <a:srgbClr val="0F294D"/>
                </a:solidFill>
                <a:latin typeface="Times New Roman"/>
              </a:defRPr>
            </a:pPr>
            <a:r>
              <a:t>Strategi Bauran Layanan (3P Extended)</a:t>
            </a:r>
          </a:p>
          <a:p>
            <a:pPr>
              <a:defRPr sz="1150">
                <a:solidFill>
                  <a:srgbClr val="475569"/>
                </a:solidFill>
                <a:latin typeface="Times New Roman"/>
              </a:defRPr>
            </a:pPr>
            <a:r>
              <a:t>Pilar keunggulan operasional: People, Process, dan Physical Evidence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444752"/>
            <a:ext cx="10728655" cy="18288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31520" y="1691640"/>
            <a:ext cx="3456432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2780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46304" bIns="146304"/>
          <a:lstStyle/>
          <a:p>
            <a:pPr algn="ctr">
              <a:defRPr sz="1350" b="1">
                <a:solidFill>
                  <a:srgbClr val="C27803"/>
                </a:solidFill>
                <a:latin typeface="Times New Roman"/>
              </a:defRPr>
            </a:pPr>
            <a:r>
              <a:t>PEOPLE (SUMBER DAYA MANUSIA)</a:t>
            </a:r>
          </a:p>
          <a:p>
            <a:br/>
            <a:pPr>
              <a:defRPr sz="1150">
                <a:solidFill>
                  <a:srgbClr val="0F172A"/>
                </a:solidFill>
                <a:latin typeface="Times New Roman"/>
              </a:defRPr>
            </a:pPr>
            <a:r>
              <a:t>▸ Tim operasional terdiri dari 3 karyawan tetap: Koki Utama, Asisten Koki, dan Kasir-Pramusaji.</a:t>
            </a:r>
          </a:p>
          <a:p>
            <a:br/>
            <a:pPr>
              <a:defRPr sz="1150">
                <a:solidFill>
                  <a:srgbClr val="0F172A"/>
                </a:solidFill>
                <a:latin typeface="Times New Roman"/>
              </a:defRPr>
            </a:pPr>
            <a:r>
              <a:t>▸ Sistem remunerasi berbasis upah bulanan pasti (total alokasi gaji tetap Rp 10.000.000 per bulan).</a:t>
            </a:r>
          </a:p>
          <a:p>
            <a:br/>
            <a:pPr>
              <a:defRPr sz="1150">
                <a:solidFill>
                  <a:srgbClr val="0F172A"/>
                </a:solidFill>
                <a:latin typeface="Times New Roman"/>
              </a:defRPr>
            </a:pPr>
            <a:r>
              <a:t>▸ Fokus tim diarahkan penuh pada konsistensi racikan rasa resep 1999 dan higienitas sajian.</a:t>
            </a:r>
          </a:p>
          <a:p>
            <a:br/>
            <a:pPr>
              <a:defRPr sz="1150">
                <a:solidFill>
                  <a:srgbClr val="0F172A"/>
                </a:solidFill>
                <a:latin typeface="Times New Roman"/>
              </a:defRPr>
            </a:pPr>
            <a:r>
              <a:t>▸ Karyawan berseragam bersih, ramah menyambut tamu, dan menguasai varian menu topping secara rinci.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70832" y="1691640"/>
            <a:ext cx="3456432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46304" bIns="146304"/>
          <a:lstStyle/>
          <a:p>
            <a:pPr algn="ctr">
              <a:defRPr sz="1350" b="1">
                <a:solidFill>
                  <a:srgbClr val="1E3A8A"/>
                </a:solidFill>
                <a:latin typeface="Times New Roman"/>
              </a:defRPr>
            </a:pPr>
            <a:r>
              <a:t>PROCESS (PROSES OPERASIONAL)</a:t>
            </a:r>
          </a:p>
          <a:p>
            <a:br/>
            <a:pPr>
              <a:defRPr sz="1150">
                <a:solidFill>
                  <a:srgbClr val="0F172A"/>
                </a:solidFill>
                <a:latin typeface="Times New Roman"/>
              </a:defRPr>
            </a:pPr>
            <a:r>
              <a:t>▸ Sistem pemesanan kasir menggunakan nota fisik manual yang tertib, cepat, dan transparan.</a:t>
            </a:r>
          </a:p>
          <a:p>
            <a:br/>
            <a:pPr>
              <a:defRPr sz="1150">
                <a:solidFill>
                  <a:srgbClr val="0F172A"/>
                </a:solidFill>
                <a:latin typeface="Times New Roman"/>
              </a:defRPr>
            </a:pPr>
            <a:r>
              <a:t>▸ Alur penyajian kilat: Perebusan mie fresh membutuhkan 45 detik, saji di meja pelanggan &lt; 5 menit.</a:t>
            </a:r>
          </a:p>
          <a:p>
            <a:br/>
            <a:pPr>
              <a:defRPr sz="1150">
                <a:solidFill>
                  <a:srgbClr val="0F172A"/>
                </a:solidFill>
                <a:latin typeface="Times New Roman"/>
              </a:defRPr>
            </a:pPr>
            <a:r>
              <a:t>▸ Siklus produksi adonan mie dibuat mandiri terjadwal setiap minggu tanpa bahan pengawet.</a:t>
            </a:r>
          </a:p>
          <a:p>
            <a:br/>
            <a:pPr>
              <a:defRPr sz="1150">
                <a:solidFill>
                  <a:srgbClr val="0F172A"/>
                </a:solidFill>
                <a:latin typeface="Times New Roman"/>
              </a:defRPr>
            </a:pPr>
            <a:r>
              <a:t>▸ Penyediaan botol saus meja standar resmi (Cap Belibis &amp; Mangga Besar) yang selalu terisi higienis.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10144" y="1691640"/>
            <a:ext cx="3456432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46304" bIns="146304"/>
          <a:lstStyle/>
          <a:p>
            <a:pPr algn="ctr">
              <a:defRPr sz="1350" b="1">
                <a:solidFill>
                  <a:srgbClr val="059669"/>
                </a:solidFill>
                <a:latin typeface="Times New Roman"/>
              </a:defRPr>
            </a:pPr>
            <a:r>
              <a:t>PHYSICAL EVIDENCE (BUKTI FISIK)</a:t>
            </a:r>
          </a:p>
          <a:p>
            <a:br/>
            <a:pPr>
              <a:defRPr sz="1150">
                <a:solidFill>
                  <a:srgbClr val="0F172A"/>
                </a:solidFill>
                <a:latin typeface="Times New Roman"/>
              </a:defRPr>
            </a:pPr>
            <a:r>
              <a:t>▸ Desain interior standar ruko 1 lantai yang bersih, bersahaja, rapi, dan mengutamakan sirkulasi alami.</a:t>
            </a:r>
          </a:p>
          <a:p>
            <a:br/>
            <a:pPr>
              <a:defRPr sz="1150">
                <a:solidFill>
                  <a:srgbClr val="0F172A"/>
                </a:solidFill>
                <a:latin typeface="Times New Roman"/>
              </a:defRPr>
            </a:pPr>
            <a:r>
              <a:t>▸ Fasilitas sirkulasi udara menggunakan 6 unit kipas angin dinding/plafon sejuk bebas rasa pengap.</a:t>
            </a:r>
          </a:p>
          <a:p>
            <a:br/>
            <a:pPr>
              <a:defRPr sz="1150">
                <a:solidFill>
                  <a:srgbClr val="0F172A"/>
                </a:solidFill>
                <a:latin typeface="Times New Roman"/>
              </a:defRPr>
            </a:pPr>
            <a:r>
              <a:t>▸ Kapasitas dine-in mencapai 23 kursi aktif (3 meja reguler 12 kursi + meja dinding 7 kursi + meja teras 4 kursi).</a:t>
            </a:r>
          </a:p>
          <a:p>
            <a:br/>
            <a:pPr>
              <a:defRPr sz="1150">
                <a:solidFill>
                  <a:srgbClr val="0F172A"/>
                </a:solidFill>
                <a:latin typeface="Times New Roman"/>
              </a:defRPr>
            </a:pPr>
            <a:r>
              <a:t>▸ Fasilitas sanitasi wastafel cuci tangan dan toilet bersih tertutup di sudut belakang kedai.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C2780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320040"/>
            <a:ext cx="3474720" cy="320040"/>
          </a:xfrm>
          <a:prstGeom prst="roundRect">
            <a:avLst/>
          </a:prstGeom>
          <a:solidFill>
            <a:srgbClr val="FEF3C7"/>
          </a:solidFill>
          <a:ln w="12700">
            <a:solidFill>
              <a:srgbClr val="C2780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defRPr sz="1000" b="1">
                <a:solidFill>
                  <a:srgbClr val="C27803"/>
                </a:solidFill>
                <a:latin typeface="Times New Roman"/>
              </a:defRPr>
            </a:pPr>
            <a:r>
              <a:t>• BAB III: ASPEK MANAJEMEN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149840" y="320040"/>
            <a:ext cx="1310335" cy="32004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defRPr sz="1000" b="1">
                <a:solidFill>
                  <a:srgbClr val="0F294D"/>
                </a:solidFill>
                <a:latin typeface="Times New Roman"/>
              </a:defRPr>
            </a:pPr>
            <a:r>
              <a:t>SLIDE 10 / 22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713232"/>
            <a:ext cx="10728655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100" b="1">
                <a:solidFill>
                  <a:srgbClr val="0F294D"/>
                </a:solidFill>
                <a:latin typeface="Times New Roman"/>
              </a:defRPr>
            </a:pPr>
            <a:r>
              <a:t>Struktur Organisasi &amp; Pembagian Tugas</a:t>
            </a:r>
          </a:p>
          <a:p>
            <a:pPr>
              <a:defRPr sz="1150">
                <a:solidFill>
                  <a:srgbClr val="475569"/>
                </a:solidFill>
                <a:latin typeface="Times New Roman"/>
              </a:defRPr>
            </a:pPr>
            <a:r>
              <a:t>Desain tata kelola tim operasional gerai Bakmi Mimu Carina Sayang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444752"/>
            <a:ext cx="10728655" cy="18288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3118104" y="1691640"/>
            <a:ext cx="5943600" cy="1234440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C2780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46304" bIns="146304"/>
          <a:lstStyle/>
          <a:p>
            <a:pPr algn="ctr">
              <a:defRPr sz="1350" b="1">
                <a:solidFill>
                  <a:srgbClr val="0F294D"/>
                </a:solidFill>
                <a:latin typeface="Times New Roman"/>
              </a:defRPr>
            </a:pPr>
            <a:r>
              <a:t>OWNER / PENGELOLA UTAMA KEDAI (1 ORANG)</a:t>
            </a:r>
          </a:p>
          <a:p>
            <a:pPr>
              <a:defRPr sz="1150">
                <a:solidFill>
                  <a:srgbClr val="0F172A"/>
                </a:solidFill>
                <a:latin typeface="Times New Roman"/>
              </a:defRPr>
            </a:pPr>
            <a:r>
              <a:t>Tanggung Jawab: Penetapan strategi usaha, pengawasan keuangan harian, kontrol cita rasa SOP resep 1999, pengadaan bahan baku daging segar, dan perencanaan ekspansi 2027/2028.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154680"/>
            <a:ext cx="3456432" cy="3200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46304" bIns="146304"/>
          <a:lstStyle/>
          <a:p>
            <a:pPr algn="ctr">
              <a:defRPr sz="1300" b="1">
                <a:solidFill>
                  <a:srgbClr val="1E3A8A"/>
                </a:solidFill>
                <a:latin typeface="Times New Roman"/>
              </a:defRPr>
            </a:pPr>
            <a:r>
              <a:t>KOKI UTAMA (1 ORANG)</a:t>
            </a:r>
          </a:p>
          <a:p>
            <a:br/>
            <a:pPr>
              <a:defRPr sz="1150">
                <a:solidFill>
                  <a:srgbClr val="0F172A"/>
                </a:solidFill>
                <a:latin typeface="Times New Roman"/>
              </a:defRPr>
            </a:pPr>
            <a:r>
              <a:t>• Membuat adonan mie fresh setiap minggu.</a:t>
            </a:r>
          </a:p>
          <a:p>
            <a:br/>
            <a:pPr>
              <a:defRPr sz="1150">
                <a:solidFill>
                  <a:srgbClr val="0F172A"/>
                </a:solidFill>
                <a:latin typeface="Times New Roman"/>
              </a:defRPr>
            </a:pPr>
            <a:r>
              <a:t>• Memasak 3 topping: ayam, babi kecap, casiu.</a:t>
            </a:r>
          </a:p>
          <a:p>
            <a:br/>
            <a:pPr>
              <a:defRPr sz="1150">
                <a:solidFill>
                  <a:srgbClr val="0F172A"/>
                </a:solidFill>
                <a:latin typeface="Times New Roman"/>
              </a:defRPr>
            </a:pPr>
            <a:r>
              <a:t>• Menyiapkan 3 racikan minyak &amp; rebus kaldu.</a:t>
            </a:r>
          </a:p>
          <a:p>
            <a:br/>
            <a:pPr>
              <a:defRPr sz="1150">
                <a:solidFill>
                  <a:srgbClr val="0F172A"/>
                </a:solidFill>
                <a:latin typeface="Times New Roman"/>
              </a:defRPr>
            </a:pPr>
            <a:r>
              <a:t>• Memimpin perebusan &amp; peracikan mie di gerobak.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70832" y="3154680"/>
            <a:ext cx="3456432" cy="3200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46304" bIns="146304"/>
          <a:lstStyle/>
          <a:p>
            <a:pPr algn="ctr">
              <a:defRPr sz="1300" b="1">
                <a:solidFill>
                  <a:srgbClr val="059669"/>
                </a:solidFill>
                <a:latin typeface="Times New Roman"/>
              </a:defRPr>
            </a:pPr>
            <a:r>
              <a:t>ASISTEN KOKI (1 ORANG)</a:t>
            </a:r>
          </a:p>
          <a:p>
            <a:br/>
            <a:pPr>
              <a:defRPr sz="1150">
                <a:solidFill>
                  <a:srgbClr val="0F172A"/>
                </a:solidFill>
                <a:latin typeface="Times New Roman"/>
              </a:defRPr>
            </a:pPr>
            <a:r>
              <a:t>• Menyiapkan bahan mentah &amp; bumbu dapur.</a:t>
            </a:r>
          </a:p>
          <a:p>
            <a:br/>
            <a:pPr>
              <a:defRPr sz="1150">
                <a:solidFill>
                  <a:srgbClr val="0F172A"/>
                </a:solidFill>
                <a:latin typeface="Times New Roman"/>
              </a:defRPr>
            </a:pPr>
            <a:r>
              <a:t>• Melipat kulit pangsit &amp; swikiaw isian babi-udang.</a:t>
            </a:r>
          </a:p>
          <a:p>
            <a:br/>
            <a:pPr>
              <a:defRPr sz="1150">
                <a:solidFill>
                  <a:srgbClr val="0F172A"/>
                </a:solidFill>
                <a:latin typeface="Times New Roman"/>
              </a:defRPr>
            </a:pPr>
            <a:r>
              <a:t>• Mencuci mangkok, sumpit, panci &amp; alat makan.</a:t>
            </a:r>
          </a:p>
          <a:p>
            <a:br/>
            <a:pPr>
              <a:defRPr sz="1150">
                <a:solidFill>
                  <a:srgbClr val="0F172A"/>
                </a:solidFill>
                <a:latin typeface="Times New Roman"/>
              </a:defRPr>
            </a:pPr>
            <a:r>
              <a:t>• Menjaga kebersihan stasiun open kitchen gerobak.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10144" y="3154680"/>
            <a:ext cx="3456432" cy="3200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2780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46304" bIns="146304"/>
          <a:lstStyle/>
          <a:p>
            <a:pPr algn="ctr">
              <a:defRPr sz="1300" b="1">
                <a:solidFill>
                  <a:srgbClr val="C27803"/>
                </a:solidFill>
                <a:latin typeface="Times New Roman"/>
              </a:defRPr>
            </a:pPr>
            <a:r>
              <a:t>KASIR &amp; PRAMUSAJI (1 ORANG)</a:t>
            </a:r>
          </a:p>
          <a:p>
            <a:br/>
            <a:pPr>
              <a:defRPr sz="1150">
                <a:solidFill>
                  <a:srgbClr val="0F172A"/>
                </a:solidFill>
                <a:latin typeface="Times New Roman"/>
              </a:defRPr>
            </a:pPr>
            <a:r>
              <a:t>• Mencatat pesanan pelanggan dengan nota manual.</a:t>
            </a:r>
          </a:p>
          <a:p>
            <a:br/>
            <a:pPr>
              <a:defRPr sz="1150">
                <a:solidFill>
                  <a:srgbClr val="0F172A"/>
                </a:solidFill>
                <a:latin typeface="Times New Roman"/>
              </a:defRPr>
            </a:pPr>
            <a:r>
              <a:t>• Melayani penerimaan pembayaran tunai &amp; QRIS.</a:t>
            </a:r>
          </a:p>
          <a:p>
            <a:br/>
            <a:pPr>
              <a:defRPr sz="1150">
                <a:solidFill>
                  <a:srgbClr val="0F172A"/>
                </a:solidFill>
                <a:latin typeface="Times New Roman"/>
              </a:defRPr>
            </a:pPr>
            <a:r>
              <a:t>• Menyajikan mangkok mie &amp; minuman ke 23 kursi.</a:t>
            </a:r>
          </a:p>
          <a:p>
            <a:br/>
            <a:pPr>
              <a:defRPr sz="1150">
                <a:solidFill>
                  <a:srgbClr val="0F172A"/>
                </a:solidFill>
                <a:latin typeface="Times New Roman"/>
              </a:defRPr>
            </a:pPr>
            <a:r>
              <a:t>• Membersihkan meja makan &amp; melayani take-away.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C2780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320040"/>
            <a:ext cx="3474720" cy="320040"/>
          </a:xfrm>
          <a:prstGeom prst="roundRect">
            <a:avLst/>
          </a:prstGeom>
          <a:solidFill>
            <a:srgbClr val="FEF3C7"/>
          </a:solidFill>
          <a:ln w="12700">
            <a:solidFill>
              <a:srgbClr val="C2780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defRPr sz="1000" b="1">
                <a:solidFill>
                  <a:srgbClr val="C27803"/>
                </a:solidFill>
                <a:latin typeface="Times New Roman"/>
              </a:defRPr>
            </a:pPr>
            <a:r>
              <a:t>• BAB III: ASPEK MANAJEMEN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149840" y="320040"/>
            <a:ext cx="1310335" cy="32004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defRPr sz="1000" b="1">
                <a:solidFill>
                  <a:srgbClr val="0F294D"/>
                </a:solidFill>
                <a:latin typeface="Times New Roman"/>
              </a:defRPr>
            </a:pPr>
            <a:r>
              <a:t>SLIDE 11 / 22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713232"/>
            <a:ext cx="10728655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100" b="1">
                <a:solidFill>
                  <a:srgbClr val="0F294D"/>
                </a:solidFill>
                <a:latin typeface="Times New Roman"/>
              </a:defRPr>
            </a:pPr>
            <a:r>
              <a:t>Tenaga Kerja &amp; Kebijakan Kompensasi</a:t>
            </a:r>
          </a:p>
          <a:p>
            <a:pPr>
              <a:defRPr sz="1150">
                <a:solidFill>
                  <a:srgbClr val="475569"/>
                </a:solidFill>
                <a:latin typeface="Times New Roman"/>
              </a:defRPr>
            </a:pPr>
            <a:r>
              <a:t>Kebutuhan SDM, alokasi upah bulanan, dan kebijakan ketenagakerjaan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444752"/>
            <a:ext cx="10728655" cy="18288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31520" y="1691640"/>
            <a:ext cx="5212080" cy="1188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2780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46304" bIns="146304"/>
          <a:lstStyle/>
          <a:p>
            <a:pPr algn="ctr">
              <a:defRPr sz="1500" b="1">
                <a:solidFill>
                  <a:srgbClr val="C27803"/>
                </a:solidFill>
                <a:latin typeface="Times New Roman"/>
              </a:defRPr>
            </a:pPr>
            <a:r>
              <a:t>TOTAL TENAGA KERJA: 3 STAF KARYAWAN</a:t>
            </a:r>
          </a:p>
          <a:p>
            <a:pPr>
              <a:defRPr sz="1200">
                <a:solidFill>
                  <a:srgbClr val="0F172A"/>
                </a:solidFill>
                <a:latin typeface="Times New Roman"/>
              </a:defRPr>
            </a:pPr>
            <a:r>
              <a:t>Formasi Fungsional: 1 Koki Utama Dapur, 1 Asisten Koki Dapur, 1 Kasir &amp; Pramusaji.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691640"/>
            <a:ext cx="5212080" cy="1188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46304" bIns="146304"/>
          <a:lstStyle/>
          <a:p>
            <a:pPr algn="ctr">
              <a:defRPr sz="1500" b="1">
                <a:solidFill>
                  <a:srgbClr val="059669"/>
                </a:solidFill>
                <a:latin typeface="Times New Roman"/>
              </a:defRPr>
            </a:pPr>
            <a:r>
              <a:t>TOTAL ANGGARAN GAJI: RP 120.000.000 / TAHUN</a:t>
            </a:r>
          </a:p>
          <a:p>
            <a:pPr>
              <a:defRPr sz="1200">
                <a:solidFill>
                  <a:srgbClr val="0F172A"/>
                </a:solidFill>
                <a:latin typeface="Times New Roman"/>
              </a:defRPr>
            </a:pPr>
            <a:r>
              <a:t>Alokasi anggaran gaji tetap stabil Rp 10.000.000 per bulan (pasti tanpa beban insentif).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108960"/>
            <a:ext cx="5212080" cy="1463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46304" bIns="146304"/>
          <a:lstStyle/>
          <a:p>
            <a:pPr algn="ctr">
              <a:defRPr sz="1250" b="1">
                <a:solidFill>
                  <a:srgbClr val="0F294D"/>
                </a:solidFill>
                <a:latin typeface="Times New Roman"/>
              </a:defRPr>
            </a:pPr>
            <a:r>
              <a:t>• Gaji Koki Utama: Rp 3.800.000 / Bln</a:t>
            </a:r>
          </a:p>
          <a:p>
            <a:pPr>
              <a:defRPr sz="1150">
                <a:solidFill>
                  <a:srgbClr val="0F172A"/>
                </a:solidFill>
                <a:latin typeface="Times New Roman"/>
              </a:defRPr>
            </a:pPr>
            <a:r>
              <a:t>Kompensasi keahlian khusus pembuatan adonan mie mingguan, pengolahan babi casiu madu, ayam putih, dan racikan 3 minyak.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3108960"/>
            <a:ext cx="5212080" cy="1463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46304" bIns="146304"/>
          <a:lstStyle/>
          <a:p>
            <a:pPr algn="ctr">
              <a:defRPr sz="1250" b="1">
                <a:solidFill>
                  <a:srgbClr val="0F294D"/>
                </a:solidFill>
                <a:latin typeface="Times New Roman"/>
              </a:defRPr>
            </a:pPr>
            <a:r>
              <a:t>• Gaji Asisten Koki: Rp 3.200.000 / Bln</a:t>
            </a:r>
          </a:p>
          <a:p>
            <a:pPr>
              <a:defRPr sz="1150">
                <a:solidFill>
                  <a:srgbClr val="0F172A"/>
                </a:solidFill>
                <a:latin typeface="Times New Roman"/>
              </a:defRPr>
            </a:pPr>
            <a:r>
              <a:t>Kompensasi persiapan bahan baku, pengisian kaldu, perakitan swikiaw/pangsit, serta sanitasi intensif alat dapur.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4709160"/>
            <a:ext cx="5212080" cy="1463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46304" bIns="146304"/>
          <a:lstStyle/>
          <a:p>
            <a:pPr algn="ctr">
              <a:defRPr sz="1250" b="1">
                <a:solidFill>
                  <a:srgbClr val="0F294D"/>
                </a:solidFill>
                <a:latin typeface="Times New Roman"/>
              </a:defRPr>
            </a:pPr>
            <a:r>
              <a:t>• Gaji Kasir-Pramusaji: Rp 3.000.000 / Bln</a:t>
            </a:r>
          </a:p>
          <a:p>
            <a:pPr>
              <a:defRPr sz="1150">
                <a:solidFill>
                  <a:srgbClr val="0F172A"/>
                </a:solidFill>
                <a:latin typeface="Times New Roman"/>
              </a:defRPr>
            </a:pPr>
            <a:r>
              <a:t>Kompensasi pencatatan nota pesanan manual, penanganan kas/QRIS, serta kecepatan penyajian ke 23 kursi tamu.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4709160"/>
            <a:ext cx="5212080" cy="1463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46304" bIns="146304"/>
          <a:lstStyle/>
          <a:p>
            <a:pPr algn="ctr">
              <a:defRPr sz="1250" b="1">
                <a:solidFill>
                  <a:srgbClr val="0F294D"/>
                </a:solidFill>
                <a:latin typeface="Times New Roman"/>
              </a:defRPr>
            </a:pPr>
            <a:r>
              <a:t>• Kebijakan Kompensasi Pasti &amp; Fasilitas</a:t>
            </a:r>
          </a:p>
          <a:p>
            <a:pPr>
              <a:defRPr sz="1150">
                <a:solidFill>
                  <a:srgbClr val="0F172A"/>
                </a:solidFill>
                <a:latin typeface="Times New Roman"/>
              </a:defRPr>
            </a:pPr>
            <a:r>
              <a:t>Menerapkan sistem upah bulanan pasti, fasilitas makan kedai harian, serta Tunjangan Hari Raya (THR) tahunan.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C2780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320040"/>
            <a:ext cx="3474720" cy="320040"/>
          </a:xfrm>
          <a:prstGeom prst="roundRect">
            <a:avLst/>
          </a:prstGeom>
          <a:solidFill>
            <a:srgbClr val="FEF3C7"/>
          </a:solidFill>
          <a:ln w="12700">
            <a:solidFill>
              <a:srgbClr val="C2780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defRPr sz="1000" b="1">
                <a:solidFill>
                  <a:srgbClr val="C27803"/>
                </a:solidFill>
                <a:latin typeface="Times New Roman"/>
              </a:defRPr>
            </a:pPr>
            <a:r>
              <a:t>• BAB IV: TEKNIS &amp; OPERASI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149840" y="320040"/>
            <a:ext cx="1310335" cy="32004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defRPr sz="1000" b="1">
                <a:solidFill>
                  <a:srgbClr val="0F294D"/>
                </a:solidFill>
                <a:latin typeface="Times New Roman"/>
              </a:defRPr>
            </a:pPr>
            <a:r>
              <a:t>SLIDE 12 / 22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713232"/>
            <a:ext cx="10728655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100" b="1">
                <a:solidFill>
                  <a:srgbClr val="0F294D"/>
                </a:solidFill>
                <a:latin typeface="Times New Roman"/>
              </a:defRPr>
            </a:pPr>
            <a:r>
              <a:t>Denah Tata Letak Kedai Ruko 1 Lantai</a:t>
            </a:r>
          </a:p>
          <a:p>
            <a:pPr>
              <a:defRPr sz="1150">
                <a:solidFill>
                  <a:srgbClr val="475569"/>
                </a:solidFill>
                <a:latin typeface="Times New Roman"/>
              </a:defRPr>
            </a:pPr>
            <a:r>
              <a:t>Visualisasi zonasi operasional, dapur terbuka teras (open kitchen), dan ruang makan (kapasitas 23 kursi)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444752"/>
            <a:ext cx="10728655" cy="18288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31520" y="1645920"/>
            <a:ext cx="10728655" cy="29077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F29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46304" bIns="146304"/>
          <a:lstStyle/>
          <a:p>
            <a:pPr algn="ctr">
              <a:defRPr sz="1200" b="1">
                <a:solidFill>
                  <a:srgbClr val="0F294D"/>
                </a:solidFill>
                <a:latin typeface="Times New Roman"/>
              </a:defRPr>
            </a:pPr>
            <a:r>
              <a:t>DENAH ARSITEKTURAL TATA LETAK FISIK KEDAI RUKO (ALUR SATU ARAH)</a:t>
            </a:r>
          </a:p>
          <a:p>
            <a:pPr>
              <a:defRPr sz="950">
                <a:solidFill>
                  <a:srgbClr val="475569"/>
                </a:solidFill>
                <a:latin typeface="Times New Roman"/>
              </a:defRPr>
            </a:pPr>
            <a:r>
              <a:t>Alur Kerja: Pintu Masuk ➔ Open Kitchen Teras ➔ Rolling Door ➔ Ruang Santap Utama (Meja Reguler &amp; Dinding) ➔ Fasilitas Sanitasi Belakang</a:t>
            </a:r>
          </a:p>
        </p:txBody>
      </p:sp>
      <p:pic>
        <p:nvPicPr>
          <p:cNvPr id="9" name="Picture 8" descr="denah_tata_letak_ruk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35327" y="2286000"/>
            <a:ext cx="8321040" cy="2148840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731520" y="4681728"/>
            <a:ext cx="3429000" cy="187451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F29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46304" bIns="146304"/>
          <a:lstStyle/>
          <a:p>
            <a:pPr algn="ctr">
              <a:defRPr sz="1150" b="1">
                <a:solidFill>
                  <a:srgbClr val="0F294D"/>
                </a:solidFill>
                <a:latin typeface="Times New Roman"/>
              </a:defRPr>
            </a:pPr>
            <a:r>
              <a:t>ZONA 1: DAPUR TERAS &amp; TERBUKA</a:t>
            </a:r>
          </a:p>
          <a:p>
            <a:pPr>
              <a:defRPr sz="1050">
                <a:solidFill>
                  <a:srgbClr val="0F172A"/>
                </a:solidFill>
                <a:latin typeface="Times New Roman"/>
              </a:defRPr>
            </a:pPr>
            <a:r>
              <a:t>• Etalase kaca display racik mie &amp; kompor gas perebusan</a:t>
            </a:r>
          </a:p>
          <a:p>
            <a:pPr>
              <a:defRPr sz="1050">
                <a:solidFill>
                  <a:srgbClr val="0F172A"/>
                </a:solidFill>
                <a:latin typeface="Times New Roman"/>
              </a:defRPr>
            </a:pPr>
            <a:r>
              <a:t>• Meja kuah kaldu, dispenser minum &amp; kulkas sayur segar</a:t>
            </a:r>
          </a:p>
          <a:p>
            <a:pPr>
              <a:defRPr sz="1050">
                <a:solidFill>
                  <a:srgbClr val="0F172A"/>
                </a:solidFill>
                <a:latin typeface="Times New Roman"/>
              </a:defRPr>
            </a:pPr>
            <a:r>
              <a:t>• Meja persiapan potong sayur &amp; pembungkusan pangsit</a:t>
            </a:r>
          </a:p>
          <a:p>
            <a:pPr>
              <a:defRPr sz="1050">
                <a:solidFill>
                  <a:srgbClr val="0F172A"/>
                </a:solidFill>
                <a:latin typeface="Times New Roman"/>
              </a:defRPr>
            </a:pPr>
            <a:r>
              <a:t>• 1 Meja makan teras (4 kursi) &amp; 1 unit freezer beku daging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79976" y="4681728"/>
            <a:ext cx="3429000" cy="187451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2780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46304" bIns="146304"/>
          <a:lstStyle/>
          <a:p>
            <a:pPr algn="ctr">
              <a:defRPr sz="1150" b="1">
                <a:solidFill>
                  <a:srgbClr val="C27803"/>
                </a:solidFill>
                <a:latin typeface="Times New Roman"/>
              </a:defRPr>
            </a:pPr>
            <a:r>
              <a:t>ZONA 2: RUANG MAKAN (DINE-IN)</a:t>
            </a:r>
          </a:p>
          <a:p>
            <a:pPr>
              <a:defRPr sz="1050">
                <a:solidFill>
                  <a:srgbClr val="0F172A"/>
                </a:solidFill>
                <a:latin typeface="Times New Roman"/>
              </a:defRPr>
            </a:pPr>
            <a:r>
              <a:t>• Pembatas partisi fleksibel Rolling Door (sekat debu/udara)</a:t>
            </a:r>
          </a:p>
          <a:p>
            <a:pPr>
              <a:defRPr sz="1050">
                <a:solidFill>
                  <a:srgbClr val="0F172A"/>
                </a:solidFill>
                <a:latin typeface="Times New Roman"/>
              </a:defRPr>
            </a:pPr>
            <a:r>
              <a:t>• 3 Meja makan reguler kayu (kapasitas 12 kursi santap)</a:t>
            </a:r>
          </a:p>
          <a:p>
            <a:pPr>
              <a:defRPr sz="1050">
                <a:solidFill>
                  <a:srgbClr val="0F172A"/>
                </a:solidFill>
                <a:latin typeface="Times New Roman"/>
              </a:defRPr>
            </a:pPr>
            <a:r>
              <a:t>• 1 Meja makan dinding memanjang (7 kursi solo diner)</a:t>
            </a:r>
          </a:p>
          <a:p>
            <a:pPr>
              <a:defRPr sz="1050">
                <a:solidFill>
                  <a:srgbClr val="0F172A"/>
                </a:solidFill>
                <a:latin typeface="Times New Roman"/>
              </a:defRPr>
            </a:pPr>
            <a:r>
              <a:t>• Sirkulasi 6 kipas angin dinding sejuk bebas pengap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28431" y="4681728"/>
            <a:ext cx="3429000" cy="187451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46304" bIns="146304"/>
          <a:lstStyle/>
          <a:p>
            <a:pPr algn="ctr">
              <a:defRPr sz="1150" b="1">
                <a:solidFill>
                  <a:srgbClr val="1E3A8A"/>
                </a:solidFill>
                <a:latin typeface="Times New Roman"/>
              </a:defRPr>
            </a:pPr>
            <a:r>
              <a:t>ZONA 3: FASILITAS &amp; SANITASI</a:t>
            </a:r>
          </a:p>
          <a:p>
            <a:pPr>
              <a:defRPr sz="1050">
                <a:solidFill>
                  <a:srgbClr val="0F172A"/>
                </a:solidFill>
                <a:latin typeface="Times New Roman"/>
              </a:defRPr>
            </a:pPr>
            <a:r>
              <a:t>• Meja barang penyimpanan stok piring &amp; kemasan bersih</a:t>
            </a:r>
          </a:p>
          <a:p>
            <a:pPr>
              <a:defRPr sz="1050">
                <a:solidFill>
                  <a:srgbClr val="0F172A"/>
                </a:solidFill>
                <a:latin typeface="Times New Roman"/>
              </a:defRPr>
            </a:pPr>
            <a:r>
              <a:t>• Wastafel cuci tangan higienis bagi pengunjung kedai</a:t>
            </a:r>
          </a:p>
          <a:p>
            <a:pPr>
              <a:defRPr sz="1050">
                <a:solidFill>
                  <a:srgbClr val="0F172A"/>
                </a:solidFill>
                <a:latin typeface="Times New Roman"/>
              </a:defRPr>
            </a:pPr>
            <a:r>
              <a:t>• 1 Unit kamar mandi / toilet ruko tertutup higienis</a:t>
            </a:r>
          </a:p>
          <a:p>
            <a:pPr>
              <a:defRPr sz="1050">
                <a:solidFill>
                  <a:srgbClr val="0F172A"/>
                </a:solidFill>
                <a:latin typeface="Times New Roman"/>
              </a:defRPr>
            </a:pPr>
            <a:r>
              <a:t>• Total kapasitas santap kedai: 23 kursi pengunjung aktif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C2780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320040"/>
            <a:ext cx="3474720" cy="320040"/>
          </a:xfrm>
          <a:prstGeom prst="roundRect">
            <a:avLst/>
          </a:prstGeom>
          <a:solidFill>
            <a:srgbClr val="FEF3C7"/>
          </a:solidFill>
          <a:ln w="12700">
            <a:solidFill>
              <a:srgbClr val="C2780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defRPr sz="1000" b="1">
                <a:solidFill>
                  <a:srgbClr val="C27803"/>
                </a:solidFill>
                <a:latin typeface="Times New Roman"/>
              </a:defRPr>
            </a:pPr>
            <a:r>
              <a:t>• BAB IV: TEKNIS &amp; OPERASI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149840" y="320040"/>
            <a:ext cx="1310335" cy="32004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defRPr sz="1000" b="1">
                <a:solidFill>
                  <a:srgbClr val="0F294D"/>
                </a:solidFill>
                <a:latin typeface="Times New Roman"/>
              </a:defRPr>
            </a:pPr>
            <a:r>
              <a:t>SLIDE 13 / 22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713232"/>
            <a:ext cx="10728655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100" b="1">
                <a:solidFill>
                  <a:srgbClr val="0F294D"/>
                </a:solidFill>
                <a:latin typeface="Times New Roman"/>
              </a:defRPr>
            </a:pPr>
            <a:r>
              <a:t>Alur Proses Produksi &amp; Siklus Mingguan Adonan</a:t>
            </a:r>
          </a:p>
          <a:p>
            <a:pPr>
              <a:defRPr sz="1150">
                <a:solidFill>
                  <a:srgbClr val="475569"/>
                </a:solidFill>
                <a:latin typeface="Times New Roman"/>
              </a:defRPr>
            </a:pPr>
            <a:r>
              <a:t>Tahapan pengolahan higienis dari adonan mingguan hingga siap disajikan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444752"/>
            <a:ext cx="10728655" cy="18288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31520" y="1691640"/>
            <a:ext cx="2011680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46304" bIns="146304"/>
          <a:lstStyle/>
          <a:p>
            <a:pPr algn="ctr">
              <a:defRPr sz="1200" b="1">
                <a:solidFill>
                  <a:srgbClr val="C27803"/>
                </a:solidFill>
                <a:latin typeface="Times New Roman"/>
              </a:defRPr>
            </a:pPr>
            <a:r>
              <a:t>LANGKAH 01</a:t>
            </a:r>
          </a:p>
          <a:p>
            <a:pPr>
              <a:defRPr sz="1300" b="1">
                <a:solidFill>
                  <a:srgbClr val="0F294D"/>
                </a:solidFill>
                <a:latin typeface="Times New Roman"/>
              </a:defRPr>
            </a:pPr>
            <a:r>
              <a:t>Adonan Fresh Mingguan</a:t>
            </a:r>
          </a:p>
          <a:p>
            <a:pPr>
              <a:defRPr sz="1100" b="1">
                <a:solidFill>
                  <a:srgbClr val="1E3A8A"/>
                </a:solidFill>
                <a:latin typeface="Times New Roman"/>
              </a:defRPr>
            </a:pPr>
            <a:r>
              <a:t>Waktu: Setiap Minggu Pagi</a:t>
            </a:r>
          </a:p>
          <a:p>
            <a:br/>
            <a:pPr>
              <a:defRPr sz="1150">
                <a:solidFill>
                  <a:srgbClr val="0F172A"/>
                </a:solidFill>
                <a:latin typeface="Times New Roman"/>
              </a:defRPr>
            </a:pPr>
            <a:r>
              <a:t>Adonan mie dibuat mandiri secara konsisten setiap minggu tanpa bahan pengawet kimia.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907791" y="1691640"/>
            <a:ext cx="2011680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46304" bIns="146304"/>
          <a:lstStyle/>
          <a:p>
            <a:pPr algn="ctr">
              <a:defRPr sz="1200" b="1">
                <a:solidFill>
                  <a:srgbClr val="C27803"/>
                </a:solidFill>
                <a:latin typeface="Times New Roman"/>
              </a:defRPr>
            </a:pPr>
            <a:r>
              <a:t>LANGKAH 02</a:t>
            </a:r>
          </a:p>
          <a:p>
            <a:pPr>
              <a:defRPr sz="1300" b="1">
                <a:solidFill>
                  <a:srgbClr val="0F294D"/>
                </a:solidFill>
                <a:latin typeface="Times New Roman"/>
              </a:defRPr>
            </a:pPr>
            <a:r>
              <a:t>Pengolahan 3 Topping</a:t>
            </a:r>
          </a:p>
          <a:p>
            <a:pPr>
              <a:defRPr sz="1100" b="1">
                <a:solidFill>
                  <a:srgbClr val="1E3A8A"/>
                </a:solidFill>
                <a:latin typeface="Times New Roman"/>
              </a:defRPr>
            </a:pPr>
            <a:r>
              <a:t>Waktu: 05.30 - 07.30 WIB</a:t>
            </a:r>
          </a:p>
          <a:p>
            <a:br/>
            <a:pPr>
              <a:defRPr sz="1150">
                <a:solidFill>
                  <a:srgbClr val="0F172A"/>
                </a:solidFill>
                <a:latin typeface="Times New Roman"/>
              </a:defRPr>
            </a:pPr>
            <a:r>
              <a:t>Memanggang babi casiu madu, menumis babi kecap gurih, dan merebus potongan ayam putih.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84064" y="1691640"/>
            <a:ext cx="2011680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46304" bIns="146304"/>
          <a:lstStyle/>
          <a:p>
            <a:pPr algn="ctr">
              <a:defRPr sz="1200" b="1">
                <a:solidFill>
                  <a:srgbClr val="C27803"/>
                </a:solidFill>
                <a:latin typeface="Times New Roman"/>
              </a:defRPr>
            </a:pPr>
            <a:r>
              <a:t>LANGKAH 03</a:t>
            </a:r>
          </a:p>
          <a:p>
            <a:pPr>
              <a:defRPr sz="1300" b="1">
                <a:solidFill>
                  <a:srgbClr val="0F294D"/>
                </a:solidFill>
                <a:latin typeface="Times New Roman"/>
              </a:defRPr>
            </a:pPr>
            <a:r>
              <a:t>Racikan 3 Minyak &amp; Kaldu</a:t>
            </a:r>
          </a:p>
          <a:p>
            <a:pPr>
              <a:defRPr sz="1100" b="1">
                <a:solidFill>
                  <a:srgbClr val="1E3A8A"/>
                </a:solidFill>
                <a:latin typeface="Times New Roman"/>
              </a:defRPr>
            </a:pPr>
            <a:r>
              <a:t>Waktu: 06.00 - 08.00 WIB</a:t>
            </a:r>
          </a:p>
          <a:p>
            <a:br/>
            <a:pPr>
              <a:defRPr sz="1150">
                <a:solidFill>
                  <a:srgbClr val="0F172A"/>
                </a:solidFill>
                <a:latin typeface="Times New Roman"/>
              </a:defRPr>
            </a:pPr>
            <a:r>
              <a:t>Menyiapkan minyak babi, minyak ayam, dan minyak sayur+wijen serta rebusan kaldu tulang gurih.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260336" y="1691640"/>
            <a:ext cx="2011680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2780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46304" bIns="146304"/>
          <a:lstStyle/>
          <a:p>
            <a:pPr algn="ctr">
              <a:defRPr sz="1200" b="1">
                <a:solidFill>
                  <a:srgbClr val="C27803"/>
                </a:solidFill>
                <a:latin typeface="Times New Roman"/>
              </a:defRPr>
            </a:pPr>
            <a:r>
              <a:t>LANGKAH 04</a:t>
            </a:r>
          </a:p>
          <a:p>
            <a:pPr>
              <a:defRPr sz="1300" b="1">
                <a:solidFill>
                  <a:srgbClr val="0F294D"/>
                </a:solidFill>
                <a:latin typeface="Times New Roman"/>
              </a:defRPr>
            </a:pPr>
            <a:r>
              <a:t>Perebusan Mie Seketika</a:t>
            </a:r>
          </a:p>
          <a:p>
            <a:pPr>
              <a:defRPr sz="1100" b="1">
                <a:solidFill>
                  <a:srgbClr val="1E3A8A"/>
                </a:solidFill>
                <a:latin typeface="Times New Roman"/>
              </a:defRPr>
            </a:pPr>
            <a:r>
              <a:t>Waktu: Saat Order Masuk</a:t>
            </a:r>
          </a:p>
          <a:p>
            <a:br/>
            <a:pPr>
              <a:defRPr sz="1150">
                <a:solidFill>
                  <a:srgbClr val="0F172A"/>
                </a:solidFill>
                <a:latin typeface="Times New Roman"/>
              </a:defRPr>
            </a:pPr>
            <a:r>
              <a:t>Mie direbus 45 detik dalam air mendidih saat nota pesanan diterima dari tamu/kasir.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436608" y="1691640"/>
            <a:ext cx="2011680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46304" bIns="146304"/>
          <a:lstStyle/>
          <a:p>
            <a:pPr algn="ctr">
              <a:defRPr sz="1200" b="1">
                <a:solidFill>
                  <a:srgbClr val="C27803"/>
                </a:solidFill>
                <a:latin typeface="Times New Roman"/>
              </a:defRPr>
            </a:pPr>
            <a:r>
              <a:t>LANGKAH 05</a:t>
            </a:r>
          </a:p>
          <a:p>
            <a:pPr>
              <a:defRPr sz="1300" b="1">
                <a:solidFill>
                  <a:srgbClr val="0F294D"/>
                </a:solidFill>
                <a:latin typeface="Times New Roman"/>
              </a:defRPr>
            </a:pPr>
            <a:r>
              <a:t>Plating &amp; Penyajian Meja</a:t>
            </a:r>
          </a:p>
          <a:p>
            <a:pPr>
              <a:defRPr sz="1100" b="1">
                <a:solidFill>
                  <a:srgbClr val="1E3A8A"/>
                </a:solidFill>
                <a:latin typeface="Times New Roman"/>
              </a:defRPr>
            </a:pPr>
            <a:r>
              <a:t>Waktu: &lt; 5 Menit Total</a:t>
            </a:r>
          </a:p>
          <a:p>
            <a:br/>
            <a:pPr>
              <a:defRPr sz="1150">
                <a:solidFill>
                  <a:srgbClr val="0F172A"/>
                </a:solidFill>
                <a:latin typeface="Times New Roman"/>
              </a:defRPr>
            </a:pPr>
            <a:r>
              <a:t>Pencampuran minyak pilihan, penataan topping daging melimpah, daun bawang, &amp; saus meja.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C2780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320040"/>
            <a:ext cx="3474720" cy="320040"/>
          </a:xfrm>
          <a:prstGeom prst="roundRect">
            <a:avLst/>
          </a:prstGeom>
          <a:solidFill>
            <a:srgbClr val="FEF3C7"/>
          </a:solidFill>
          <a:ln w="12700">
            <a:solidFill>
              <a:srgbClr val="C2780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defRPr sz="1000" b="1">
                <a:solidFill>
                  <a:srgbClr val="C27803"/>
                </a:solidFill>
                <a:latin typeface="Times New Roman"/>
              </a:defRPr>
            </a:pPr>
            <a:r>
              <a:t>• BAB IV: TEKNIS &amp; OPERASI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149840" y="320040"/>
            <a:ext cx="1310335" cy="32004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defRPr sz="1000" b="1">
                <a:solidFill>
                  <a:srgbClr val="0F294D"/>
                </a:solidFill>
                <a:latin typeface="Times New Roman"/>
              </a:defRPr>
            </a:pPr>
            <a:r>
              <a:t>SLIDE 14 / 22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713232"/>
            <a:ext cx="10728655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100" b="1">
                <a:solidFill>
                  <a:srgbClr val="0F294D"/>
                </a:solidFill>
                <a:latin typeface="Times New Roman"/>
              </a:defRPr>
            </a:pPr>
            <a:r>
              <a:t>Jadwal Pelaksanaan Pra-Operasi Relokasi 2016</a:t>
            </a:r>
          </a:p>
          <a:p>
            <a:pPr>
              <a:defRPr sz="1150">
                <a:solidFill>
                  <a:srgbClr val="475569"/>
                </a:solidFill>
                <a:latin typeface="Times New Roman"/>
              </a:defRPr>
            </a:pPr>
            <a:r>
              <a:t>Rencana timeline 12 minggu persiapan operasional gerai Duri Kosambi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444752"/>
            <a:ext cx="10728655" cy="18288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31520" y="1691640"/>
            <a:ext cx="521208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2780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46304" bIns="146304"/>
          <a:lstStyle/>
          <a:p>
            <a:pPr algn="ctr">
              <a:defRPr sz="1300" b="1">
                <a:solidFill>
                  <a:srgbClr val="C27803"/>
                </a:solidFill>
                <a:latin typeface="Times New Roman"/>
              </a:defRPr>
            </a:pPr>
            <a:r>
              <a:t>FASE 1: SURVEY &amp; SEWA RUKO</a:t>
            </a:r>
          </a:p>
          <a:p>
            <a:pPr>
              <a:defRPr sz="1100" b="1">
                <a:solidFill>
                  <a:srgbClr val="475569"/>
                </a:solidFill>
                <a:latin typeface="Times New Roman"/>
              </a:defRPr>
            </a:pPr>
            <a:r>
              <a:t>Jadwal Pelaksanaan: Minggu 1 - 4</a:t>
            </a:r>
          </a:p>
          <a:p>
            <a:pPr>
              <a:defRPr sz="1100">
                <a:solidFill>
                  <a:srgbClr val="0F172A"/>
                </a:solidFill>
                <a:latin typeface="Times New Roman"/>
              </a:defRPr>
            </a:pPr>
            <a:r>
              <a:t>• A. Observasi lokasi Jl. Angsoka Hijau IV depan Kalam Kudus.</a:t>
            </a:r>
          </a:p>
          <a:p>
            <a:pPr>
              <a:defRPr sz="1100">
                <a:solidFill>
                  <a:srgbClr val="0F172A"/>
                </a:solidFill>
                <a:latin typeface="Times New Roman"/>
              </a:defRPr>
            </a:pPr>
            <a:r>
              <a:t>• B. Negosiasi dan pembayaran sewa ruko 1 lantai Rp 20.000.000.</a:t>
            </a:r>
          </a:p>
          <a:p>
            <a:pPr>
              <a:defRPr sz="1100">
                <a:solidFill>
                  <a:srgbClr val="0F172A"/>
                </a:solidFill>
                <a:latin typeface="Times New Roman"/>
              </a:defRPr>
            </a:pPr>
            <a:r>
              <a:t>• C. Pengurusan izin lingkungan RT/RW dan retribusi kebersihan.</a:t>
            </a:r>
          </a:p>
          <a:p>
            <a:pPr>
              <a:defRPr sz="1100">
                <a:solidFill>
                  <a:srgbClr val="0F172A"/>
                </a:solidFill>
                <a:latin typeface="Times New Roman"/>
              </a:defRPr>
            </a:pPr>
            <a:r>
              <a:t>• D. Analisis potensi pasar sarapan murid dan orang tua sekolah.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691640"/>
            <a:ext cx="521208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46304" bIns="146304"/>
          <a:lstStyle/>
          <a:p>
            <a:pPr algn="ctr">
              <a:defRPr sz="1300" b="1">
                <a:solidFill>
                  <a:srgbClr val="1E3A8A"/>
                </a:solidFill>
                <a:latin typeface="Times New Roman"/>
              </a:defRPr>
            </a:pPr>
            <a:r>
              <a:t>FASE 2: RENOVASI &amp; FIT-OUT KEDAI</a:t>
            </a:r>
          </a:p>
          <a:p>
            <a:pPr>
              <a:defRPr sz="1100" b="1">
                <a:solidFill>
                  <a:srgbClr val="475569"/>
                </a:solidFill>
                <a:latin typeface="Times New Roman"/>
              </a:defRPr>
            </a:pPr>
            <a:r>
              <a:t>Jadwal Pelaksanaan: Minggu 5 - 8</a:t>
            </a:r>
          </a:p>
          <a:p>
            <a:pPr>
              <a:defRPr sz="1100">
                <a:solidFill>
                  <a:srgbClr val="0F172A"/>
                </a:solidFill>
                <a:latin typeface="Times New Roman"/>
              </a:defRPr>
            </a:pPr>
            <a:r>
              <a:t>• E. Pengecatan ruko 1 lantai dan perbaikan instalasi pipa air.</a:t>
            </a:r>
          </a:p>
          <a:p>
            <a:pPr>
              <a:defRPr sz="1100">
                <a:solidFill>
                  <a:srgbClr val="0F172A"/>
                </a:solidFill>
                <a:latin typeface="Times New Roman"/>
              </a:defRPr>
            </a:pPr>
            <a:r>
              <a:t>• F. Pemasangan 6 unit kipas angin dinding/plafon (@Rp 150.000).</a:t>
            </a:r>
          </a:p>
          <a:p>
            <a:pPr>
              <a:defRPr sz="1100">
                <a:solidFill>
                  <a:srgbClr val="0F172A"/>
                </a:solidFill>
                <a:latin typeface="Times New Roman"/>
              </a:defRPr>
            </a:pPr>
            <a:r>
              <a:t>• G. Penataan teras depan untuk stasiun gerobak open kitchen.</a:t>
            </a:r>
          </a:p>
          <a:p>
            <a:pPr>
              <a:defRPr sz="1100">
                <a:solidFill>
                  <a:srgbClr val="0F172A"/>
                </a:solidFill>
                <a:latin typeface="Times New Roman"/>
              </a:defRPr>
            </a:pPr>
            <a:r>
              <a:t>• H. Pemasangan spanduk dan plang nama kedai Bakmi Mimu.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4023360"/>
            <a:ext cx="521208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46304" bIns="146304"/>
          <a:lstStyle/>
          <a:p>
            <a:pPr algn="ctr">
              <a:defRPr sz="1300" b="1">
                <a:solidFill>
                  <a:srgbClr val="059669"/>
                </a:solidFill>
                <a:latin typeface="Times New Roman"/>
              </a:defRPr>
            </a:pPr>
            <a:r>
              <a:t>FASE 3: PENGADAAN &amp; SETTING DAPUR</a:t>
            </a:r>
          </a:p>
          <a:p>
            <a:pPr>
              <a:defRPr sz="1100" b="1">
                <a:solidFill>
                  <a:srgbClr val="475569"/>
                </a:solidFill>
                <a:latin typeface="Times New Roman"/>
              </a:defRPr>
            </a:pPr>
            <a:r>
              <a:t>Jadwal Pelaksanaan: Minggu 9 - 10</a:t>
            </a:r>
          </a:p>
          <a:p>
            <a:pPr>
              <a:defRPr sz="1100">
                <a:solidFill>
                  <a:srgbClr val="0F172A"/>
                </a:solidFill>
                <a:latin typeface="Times New Roman"/>
              </a:defRPr>
            </a:pPr>
            <a:r>
              <a:t>• I. Pembuatan gerobak etalase kaca stasiun masak (Rp 8 Jt).</a:t>
            </a:r>
          </a:p>
          <a:p>
            <a:pPr>
              <a:defRPr sz="1100">
                <a:solidFill>
                  <a:srgbClr val="0F172A"/>
                </a:solidFill>
                <a:latin typeface="Times New Roman"/>
              </a:defRPr>
            </a:pPr>
            <a:r>
              <a:t>• J. Pengadaan 4 meja pendek, meja dinding, dan kursi 37 pcs.</a:t>
            </a:r>
          </a:p>
          <a:p>
            <a:pPr>
              <a:defRPr sz="1100">
                <a:solidFill>
                  <a:srgbClr val="0F172A"/>
                </a:solidFill>
                <a:latin typeface="Times New Roman"/>
              </a:defRPr>
            </a:pPr>
            <a:r>
              <a:t>• K. Pembelian 1 kulkas, 1 freezer daging, panci masak &amp; mangkok.</a:t>
            </a:r>
          </a:p>
          <a:p>
            <a:pPr>
              <a:defRPr sz="1100">
                <a:solidFill>
                  <a:srgbClr val="0F172A"/>
                </a:solidFill>
                <a:latin typeface="Times New Roman"/>
              </a:defRPr>
            </a:pPr>
            <a:r>
              <a:t>• L. Pengadaan saus standar (Belibis &amp; Mangga Besar) dan botol meja.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4023360"/>
            <a:ext cx="521208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F29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46304" bIns="146304"/>
          <a:lstStyle/>
          <a:p>
            <a:pPr algn="ctr">
              <a:defRPr sz="1300" b="1">
                <a:solidFill>
                  <a:srgbClr val="0F294D"/>
                </a:solidFill>
                <a:latin typeface="Times New Roman"/>
              </a:defRPr>
            </a:pPr>
            <a:r>
              <a:t>FASE 4: TRIAL RUN &amp; PEMBUKAAN</a:t>
            </a:r>
          </a:p>
          <a:p>
            <a:pPr>
              <a:defRPr sz="1100" b="1">
                <a:solidFill>
                  <a:srgbClr val="475569"/>
                </a:solidFill>
                <a:latin typeface="Times New Roman"/>
              </a:defRPr>
            </a:pPr>
            <a:r>
              <a:t>Jadwal Pelaksanaan: Minggu 11 - 12</a:t>
            </a:r>
          </a:p>
          <a:p>
            <a:pPr>
              <a:defRPr sz="1100">
                <a:solidFill>
                  <a:srgbClr val="0F172A"/>
                </a:solidFill>
                <a:latin typeface="Times New Roman"/>
              </a:defRPr>
            </a:pPr>
            <a:r>
              <a:t>• M. Rekrutmen 3 karyawan tetap (Koki, Asisten Koki, Kasir-Pramusaji).</a:t>
            </a:r>
          </a:p>
          <a:p>
            <a:pPr>
              <a:defRPr sz="1100">
                <a:solidFill>
                  <a:srgbClr val="0F172A"/>
                </a:solidFill>
                <a:latin typeface="Times New Roman"/>
              </a:defRPr>
            </a:pPr>
            <a:r>
              <a:t>• N. Uji coba pembuatan adonan mie mingguan dan kaldu SOP 1999.</a:t>
            </a:r>
          </a:p>
          <a:p>
            <a:pPr>
              <a:defRPr sz="1100">
                <a:solidFill>
                  <a:srgbClr val="0F172A"/>
                </a:solidFill>
                <a:latin typeface="Times New Roman"/>
              </a:defRPr>
            </a:pPr>
            <a:r>
              <a:t>• O. Simulasi alur pelayanan meja dine-in 23 kursi dan nota manual.</a:t>
            </a:r>
          </a:p>
          <a:p>
            <a:pPr>
              <a:defRPr sz="1100">
                <a:solidFill>
                  <a:srgbClr val="0F172A"/>
                </a:solidFill>
                <a:latin typeface="Times New Roman"/>
              </a:defRPr>
            </a:pPr>
            <a:r>
              <a:t>• P. Pembukaan resmi gerai Duri Kosambi melayani warga sekitar.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C2780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320040"/>
            <a:ext cx="3474720" cy="320040"/>
          </a:xfrm>
          <a:prstGeom prst="roundRect">
            <a:avLst/>
          </a:prstGeom>
          <a:solidFill>
            <a:srgbClr val="FEF3C7"/>
          </a:solidFill>
          <a:ln w="12700">
            <a:solidFill>
              <a:srgbClr val="C2780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defRPr sz="1000" b="1">
                <a:solidFill>
                  <a:srgbClr val="C27803"/>
                </a:solidFill>
                <a:latin typeface="Times New Roman"/>
              </a:defRPr>
            </a:pPr>
            <a:r>
              <a:t>• BAB V: ASPEK KEUANGAN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149840" y="320040"/>
            <a:ext cx="1310335" cy="32004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defRPr sz="1000" b="1">
                <a:solidFill>
                  <a:srgbClr val="0F294D"/>
                </a:solidFill>
                <a:latin typeface="Times New Roman"/>
              </a:defRPr>
            </a:pPr>
            <a:r>
              <a:t>SLIDE 15 / 22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713232"/>
            <a:ext cx="10728655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100" b="1">
                <a:solidFill>
                  <a:srgbClr val="0F294D"/>
                </a:solidFill>
                <a:latin typeface="Times New Roman"/>
              </a:defRPr>
            </a:pPr>
            <a:r>
              <a:t>Rencana Modal Investasi Awal (Initial Outlay)</a:t>
            </a:r>
          </a:p>
          <a:p>
            <a:pPr>
              <a:defRPr sz="1150">
                <a:solidFill>
                  <a:srgbClr val="475569"/>
                </a:solidFill>
                <a:latin typeface="Times New Roman"/>
              </a:defRPr>
            </a:pPr>
            <a:r>
              <a:t>Alokasi anggaran modal awal relokasi 2016 untuk pembukaan kedai Duri Kosambi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444752"/>
            <a:ext cx="10728655" cy="18288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31520" y="1691640"/>
            <a:ext cx="10728655" cy="12801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2780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46304" bIns="146304"/>
          <a:lstStyle/>
          <a:p>
            <a:pPr algn="ctr">
              <a:defRPr sz="2300" b="1">
                <a:solidFill>
                  <a:srgbClr val="C27803"/>
                </a:solidFill>
                <a:latin typeface="Times New Roman"/>
              </a:defRPr>
            </a:pPr>
            <a:r>
              <a:t>TOTAL INITIAL OUTLAY KEBUTUHAN MODAL: RP 62.000.000</a:t>
            </a:r>
          </a:p>
          <a:p>
            <a:pPr>
              <a:defRPr sz="1200">
                <a:solidFill>
                  <a:srgbClr val="0F172A"/>
                </a:solidFill>
                <a:latin typeface="Times New Roman"/>
              </a:defRPr>
            </a:pPr>
            <a:r>
              <a:t>Investasi awal didanai 100% modal sendiri tanpa utang bank. Seluruh alokasi modal difokuskan untuk pengadaan aktiva tetap gerobak &amp; fasilitas kedai, sewa tempat ruko 1 tahun, dan pra-operasi.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154680"/>
            <a:ext cx="2011680" cy="3200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46304" bIns="146304"/>
          <a:lstStyle/>
          <a:p>
            <a:pPr algn="ctr">
              <a:defRPr sz="1150" b="1">
                <a:solidFill>
                  <a:srgbClr val="0F294D"/>
                </a:solidFill>
                <a:latin typeface="Times New Roman"/>
              </a:defRPr>
            </a:pPr>
            <a:r>
              <a:t>01. Aktiva Tetap (Capex)</a:t>
            </a:r>
          </a:p>
          <a:p>
            <a:pPr>
              <a:defRPr sz="1400" b="1">
                <a:solidFill>
                  <a:srgbClr val="C27803"/>
                </a:solidFill>
                <a:latin typeface="Times New Roman"/>
              </a:defRPr>
            </a:pPr>
            <a:r>
              <a:t>Rp 40.700.000</a:t>
            </a:r>
          </a:p>
          <a:p>
            <a:pPr>
              <a:defRPr sz="1100" b="1">
                <a:solidFill>
                  <a:srgbClr val="059669"/>
                </a:solidFill>
                <a:latin typeface="Times New Roman"/>
              </a:defRPr>
            </a:pPr>
            <a:r>
              <a:t>Porsi: 65,6%</a:t>
            </a:r>
          </a:p>
          <a:p>
            <a:br/>
            <a:pPr>
              <a:defRPr sz="1100">
                <a:solidFill>
                  <a:srgbClr val="0F172A"/>
                </a:solidFill>
                <a:latin typeface="Times New Roman"/>
              </a:defRPr>
            </a:pPr>
            <a:r>
              <a:t>Pengadaan gerobak etalase, meja, kursi 37 pcs, kipas angin, kulkas, freezer, panci, &amp; mangkok.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907791" y="3154680"/>
            <a:ext cx="2011680" cy="3200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46304" bIns="146304"/>
          <a:lstStyle/>
          <a:p>
            <a:pPr algn="ctr">
              <a:defRPr sz="1150" b="1">
                <a:solidFill>
                  <a:srgbClr val="0F294D"/>
                </a:solidFill>
                <a:latin typeface="Times New Roman"/>
              </a:defRPr>
            </a:pPr>
            <a:r>
              <a:t>02. Sewa Tempat Ruko</a:t>
            </a:r>
          </a:p>
          <a:p>
            <a:pPr>
              <a:defRPr sz="1400" b="1">
                <a:solidFill>
                  <a:srgbClr val="C27803"/>
                </a:solidFill>
                <a:latin typeface="Times New Roman"/>
              </a:defRPr>
            </a:pPr>
            <a:r>
              <a:t>Rp 20.000.000</a:t>
            </a:r>
          </a:p>
          <a:p>
            <a:pPr>
              <a:defRPr sz="1100" b="1">
                <a:solidFill>
                  <a:srgbClr val="059669"/>
                </a:solidFill>
                <a:latin typeface="Times New Roman"/>
              </a:defRPr>
            </a:pPr>
            <a:r>
              <a:t>Porsi: 32,3%</a:t>
            </a:r>
          </a:p>
          <a:p>
            <a:br/>
            <a:pPr>
              <a:defRPr sz="1100">
                <a:solidFill>
                  <a:srgbClr val="0F172A"/>
                </a:solidFill>
                <a:latin typeface="Times New Roman"/>
              </a:defRPr>
            </a:pPr>
            <a:r>
              <a:t>Alokasi biaya sewa ruko 1 lantai Duri Kosambi untuk 1 tahun masa operasional.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84064" y="3154680"/>
            <a:ext cx="2011680" cy="3200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46304" bIns="146304"/>
          <a:lstStyle/>
          <a:p>
            <a:pPr algn="ctr">
              <a:defRPr sz="1150" b="1">
                <a:solidFill>
                  <a:srgbClr val="0F294D"/>
                </a:solidFill>
                <a:latin typeface="Times New Roman"/>
              </a:defRPr>
            </a:pPr>
            <a:r>
              <a:t>03. Perizinan &amp; AMDAL</a:t>
            </a:r>
          </a:p>
          <a:p>
            <a:pPr>
              <a:defRPr sz="1400" b="1">
                <a:solidFill>
                  <a:srgbClr val="C27803"/>
                </a:solidFill>
                <a:latin typeface="Times New Roman"/>
              </a:defRPr>
            </a:pPr>
            <a:r>
              <a:t>Rp 300.000</a:t>
            </a:r>
          </a:p>
          <a:p>
            <a:pPr>
              <a:defRPr sz="1100" b="1">
                <a:solidFill>
                  <a:srgbClr val="059669"/>
                </a:solidFill>
                <a:latin typeface="Times New Roman"/>
              </a:defRPr>
            </a:pPr>
            <a:r>
              <a:t>Porsi: 0,5%</a:t>
            </a:r>
          </a:p>
          <a:p>
            <a:br/>
            <a:pPr>
              <a:defRPr sz="1100">
                <a:solidFill>
                  <a:srgbClr val="0F172A"/>
                </a:solidFill>
                <a:latin typeface="Times New Roman"/>
              </a:defRPr>
            </a:pPr>
            <a:r>
              <a:t>Retribusi kebersihan lingkungan RT/RW dan pengadaan tempat sampah kedai higienis.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260336" y="3154680"/>
            <a:ext cx="2011680" cy="3200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46304" bIns="146304"/>
          <a:lstStyle/>
          <a:p>
            <a:pPr algn="ctr">
              <a:defRPr sz="1150" b="1">
                <a:solidFill>
                  <a:srgbClr val="0F294D"/>
                </a:solidFill>
                <a:latin typeface="Times New Roman"/>
              </a:defRPr>
            </a:pPr>
            <a:r>
              <a:t>04. Biaya Survey Pasar</a:t>
            </a:r>
          </a:p>
          <a:p>
            <a:pPr>
              <a:defRPr sz="1400" b="1">
                <a:solidFill>
                  <a:srgbClr val="C27803"/>
                </a:solidFill>
                <a:latin typeface="Times New Roman"/>
              </a:defRPr>
            </a:pPr>
            <a:r>
              <a:t>Rp 500.000</a:t>
            </a:r>
          </a:p>
          <a:p>
            <a:pPr>
              <a:defRPr sz="1100" b="1">
                <a:solidFill>
                  <a:srgbClr val="059669"/>
                </a:solidFill>
                <a:latin typeface="Times New Roman"/>
              </a:defRPr>
            </a:pPr>
            <a:r>
              <a:t>Porsi: 0,8%</a:t>
            </a:r>
          </a:p>
          <a:p>
            <a:br/>
            <a:pPr>
              <a:defRPr sz="1100">
                <a:solidFill>
                  <a:srgbClr val="0F172A"/>
                </a:solidFill>
                <a:latin typeface="Times New Roman"/>
              </a:defRPr>
            </a:pPr>
            <a:r>
              <a:t>Observasi demografi perumahan Kosambi dan potensi kantin sekolah Kalam Kudus.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436608" y="3154680"/>
            <a:ext cx="2011680" cy="3200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46304" bIns="146304"/>
          <a:lstStyle/>
          <a:p>
            <a:pPr algn="ctr">
              <a:defRPr sz="1150" b="1">
                <a:solidFill>
                  <a:srgbClr val="0F294D"/>
                </a:solidFill>
                <a:latin typeface="Times New Roman"/>
              </a:defRPr>
            </a:pPr>
            <a:r>
              <a:t>05. Biaya Promosi Awal</a:t>
            </a:r>
          </a:p>
          <a:p>
            <a:pPr>
              <a:defRPr sz="1400" b="1">
                <a:solidFill>
                  <a:srgbClr val="C27803"/>
                </a:solidFill>
                <a:latin typeface="Times New Roman"/>
              </a:defRPr>
            </a:pPr>
            <a:r>
              <a:t>Rp 500.000</a:t>
            </a:r>
          </a:p>
          <a:p>
            <a:pPr>
              <a:defRPr sz="1100" b="1">
                <a:solidFill>
                  <a:srgbClr val="059669"/>
                </a:solidFill>
                <a:latin typeface="Times New Roman"/>
              </a:defRPr>
            </a:pPr>
            <a:r>
              <a:t>Porsi: 0,8%</a:t>
            </a:r>
          </a:p>
          <a:p>
            <a:br/>
            <a:pPr>
              <a:defRPr sz="1100">
                <a:solidFill>
                  <a:srgbClr val="0F172A"/>
                </a:solidFill>
                <a:latin typeface="Times New Roman"/>
              </a:defRPr>
            </a:pPr>
            <a:r>
              <a:t>Pembuatan spanduk pembukaan dan plang penunjuk arah kedai Bakmi Mimu.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C2780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320040"/>
            <a:ext cx="3474720" cy="320040"/>
          </a:xfrm>
          <a:prstGeom prst="roundRect">
            <a:avLst/>
          </a:prstGeom>
          <a:solidFill>
            <a:srgbClr val="FEF3C7"/>
          </a:solidFill>
          <a:ln w="12700">
            <a:solidFill>
              <a:srgbClr val="C2780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defRPr sz="1000" b="1">
                <a:solidFill>
                  <a:srgbClr val="C27803"/>
                </a:solidFill>
                <a:latin typeface="Times New Roman"/>
              </a:defRPr>
            </a:pPr>
            <a:r>
              <a:t>• BAB V: ASPEK KEUANGAN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149840" y="320040"/>
            <a:ext cx="1310335" cy="32004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defRPr sz="1000" b="1">
                <a:solidFill>
                  <a:srgbClr val="0F294D"/>
                </a:solidFill>
                <a:latin typeface="Times New Roman"/>
              </a:defRPr>
            </a:pPr>
            <a:r>
              <a:t>SLIDE 16 / 22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713232"/>
            <a:ext cx="10728655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100" b="1">
                <a:solidFill>
                  <a:srgbClr val="0F294D"/>
                </a:solidFill>
                <a:latin typeface="Times New Roman"/>
              </a:defRPr>
            </a:pPr>
            <a:r>
              <a:t>Aktiva Tetap &amp; Beban Depresiasi</a:t>
            </a:r>
          </a:p>
          <a:p>
            <a:pPr>
              <a:defRPr sz="1150">
                <a:solidFill>
                  <a:srgbClr val="475569"/>
                </a:solidFill>
                <a:latin typeface="Times New Roman"/>
              </a:defRPr>
            </a:pPr>
            <a:r>
              <a:t>Inventarisasi 12 item aktiva tetap dan penyusutan garis lurus 20% per tahun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444752"/>
            <a:ext cx="10728655" cy="18288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31520" y="1691640"/>
            <a:ext cx="3291840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2780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46304" bIns="146304"/>
          <a:lstStyle/>
          <a:p>
            <a:pPr algn="ctr">
              <a:defRPr sz="1400" b="1">
                <a:solidFill>
                  <a:srgbClr val="C27803"/>
                </a:solidFill>
                <a:latin typeface="Times New Roman"/>
              </a:defRPr>
            </a:pPr>
            <a:r>
              <a:t>PARAMETER DEPRESIASI</a:t>
            </a:r>
          </a:p>
          <a:p>
            <a:br/>
            <a:pPr>
              <a:defRPr sz="1600" b="1">
                <a:solidFill>
                  <a:srgbClr val="0F294D"/>
                </a:solidFill>
                <a:latin typeface="Times New Roman"/>
              </a:defRPr>
            </a:pPr>
            <a:r>
              <a:t>Total Nilai Perolehan:</a:t>
            </a:r>
            <a:br/>
            <a:r>
              <a:t>Rp 40.700.000</a:t>
            </a:r>
          </a:p>
          <a:p>
            <a:br/>
            <a:pPr>
              <a:defRPr sz="1200">
                <a:solidFill>
                  <a:srgbClr val="0F172A"/>
                </a:solidFill>
                <a:latin typeface="Times New Roman"/>
              </a:defRPr>
            </a:pPr>
            <a:r>
              <a:t>Metode Penyusutan:</a:t>
            </a:r>
            <a:br/>
            <a:r>
              <a:t>Metode Garis Lurus (Straight-Line)</a:t>
            </a:r>
          </a:p>
          <a:p>
            <a:br/>
            <a:pPr>
              <a:defRPr sz="1200">
                <a:solidFill>
                  <a:srgbClr val="0F172A"/>
                </a:solidFill>
                <a:latin typeface="Times New Roman"/>
              </a:defRPr>
            </a:pPr>
            <a:r>
              <a:t>Tarif Depresiasi Tahunan:</a:t>
            </a:r>
            <a:br/>
            <a:r>
              <a:t>20,00% (Masa Manfaat 5 Tahun)</a:t>
            </a:r>
          </a:p>
          <a:p>
            <a:br/>
            <a:pPr>
              <a:defRPr sz="1600" b="1">
                <a:solidFill>
                  <a:srgbClr val="059669"/>
                </a:solidFill>
                <a:latin typeface="Times New Roman"/>
              </a:defRPr>
            </a:pPr>
            <a:r>
              <a:t>Beban Depresiasi / Tahun:</a:t>
            </a:r>
            <a:br/>
            <a:r>
              <a:t>Rp 8.140.000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4297680" y="1691640"/>
          <a:ext cx="7162495" cy="4663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6080"/>
                <a:gridCol w="1463040"/>
                <a:gridCol w="2773375"/>
              </a:tblGrid>
              <a:tr h="666205">
                <a:tc>
                  <a:txBody>
                    <a:bodyPr wrap="square" tIns="73152" bIns="73152"/>
                    <a:lstStyle/>
                    <a:p>
                      <a:pPr algn="l">
                        <a:defRPr sz="1200" b="1">
                          <a:solidFill>
                            <a:srgbClr val="FFFFFF"/>
                          </a:solidFill>
                          <a:latin typeface="Times New Roman"/>
                        </a:defRPr>
                      </a:pPr>
                      <a:r>
                        <a:t>Kelompok Aktiva Tetap (12 Item)</a:t>
                      </a:r>
                    </a:p>
                  </a:txBody>
                  <a:tcPr>
                    <a:solidFill>
                      <a:srgbClr val="0F294D"/>
                    </a:solidFill>
                  </a:tcPr>
                </a:tc>
                <a:tc>
                  <a:txBody>
                    <a:bodyPr wrap="square" tIns="73152" bIns="73152"/>
                    <a:lstStyle/>
                    <a:p>
                      <a:pPr algn="r">
                        <a:defRPr sz="1200" b="1">
                          <a:solidFill>
                            <a:srgbClr val="FFFFFF"/>
                          </a:solidFill>
                          <a:latin typeface="Times New Roman"/>
                        </a:defRPr>
                      </a:pPr>
                      <a:r>
                        <a:t>Nilai Perolehan</a:t>
                      </a:r>
                    </a:p>
                  </a:txBody>
                  <a:tcPr>
                    <a:solidFill>
                      <a:srgbClr val="0F294D"/>
                    </a:solidFill>
                  </a:tcPr>
                </a:tc>
                <a:tc>
                  <a:txBody>
                    <a:bodyPr wrap="square" tIns="73152" bIns="73152"/>
                    <a:lstStyle/>
                    <a:p>
                      <a:pPr algn="l">
                        <a:defRPr sz="1200" b="1">
                          <a:solidFill>
                            <a:srgbClr val="FFFFFF"/>
                          </a:solidFill>
                          <a:latin typeface="Times New Roman"/>
                        </a:defRPr>
                      </a:pPr>
                      <a:r>
                        <a:t>Rincian Item Peralatan</a:t>
                      </a:r>
                    </a:p>
                  </a:txBody>
                  <a:tcPr>
                    <a:solidFill>
                      <a:srgbClr val="0F294D"/>
                    </a:solidFill>
                  </a:tcPr>
                </a:tc>
              </a:tr>
              <a:tr h="666205">
                <a:tc>
                  <a:txBody>
                    <a:bodyPr wrap="square" tIns="73152" bIns="73152"/>
                    <a:lstStyle/>
                    <a:p>
                      <a:pPr algn="l">
                        <a:defRPr sz="1150" b="1">
                          <a:solidFill>
                            <a:srgbClr val="0F294D"/>
                          </a:solidFill>
                          <a:latin typeface="Times New Roman"/>
                        </a:defRPr>
                      </a:pPr>
                      <a:r>
                        <a:t>1. Gerobak &amp; Etalase Kaca Depan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tIns="73152" bIns="73152"/>
                    <a:lstStyle/>
                    <a:p>
                      <a:pPr algn="r">
                        <a:defRPr sz="1150" b="1">
                          <a:solidFill>
                            <a:srgbClr val="C27803"/>
                          </a:solidFill>
                          <a:latin typeface="Times New Roman"/>
                        </a:defRPr>
                      </a:pPr>
                      <a:r>
                        <a:t>Rp 8.000.000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tIns="73152" bIns="73152"/>
                    <a:lstStyle/>
                    <a:p>
                      <a:pPr algn="l">
                        <a:defRPr sz="1100" b="0">
                          <a:solidFill>
                            <a:srgbClr val="475569"/>
                          </a:solidFill>
                          <a:latin typeface="Times New Roman"/>
                        </a:defRPr>
                      </a:pPr>
                      <a:r>
                        <a:t>Stasiun masak open kitchen teras ruko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66205">
                <a:tc>
                  <a:txBody>
                    <a:bodyPr wrap="square" tIns="73152" bIns="73152"/>
                    <a:lstStyle/>
                    <a:p>
                      <a:pPr algn="l">
                        <a:defRPr sz="1150" b="1">
                          <a:solidFill>
                            <a:srgbClr val="0F294D"/>
                          </a:solidFill>
                          <a:latin typeface="Times New Roman"/>
                        </a:defRPr>
                      </a:pPr>
                      <a:r>
                        <a:t>2. Perabotan Dine-In (Meja &amp; Kursi)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 wrap="square" tIns="73152" bIns="73152"/>
                    <a:lstStyle/>
                    <a:p>
                      <a:pPr algn="r">
                        <a:defRPr sz="1150" b="1">
                          <a:solidFill>
                            <a:srgbClr val="C27803"/>
                          </a:solidFill>
                          <a:latin typeface="Times New Roman"/>
                        </a:defRPr>
                      </a:pPr>
                      <a:r>
                        <a:t>Rp 8.300.000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 wrap="square" tIns="73152" bIns="73152"/>
                    <a:lstStyle/>
                    <a:p>
                      <a:pPr algn="l">
                        <a:defRPr sz="1100" b="0">
                          <a:solidFill>
                            <a:srgbClr val="475569"/>
                          </a:solidFill>
                          <a:latin typeface="Times New Roman"/>
                        </a:defRPr>
                      </a:pPr>
                      <a:r>
                        <a:t>4 Meja pendek, meja dinding, kursi 37 pcs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666205">
                <a:tc>
                  <a:txBody>
                    <a:bodyPr wrap="square" tIns="73152" bIns="73152"/>
                    <a:lstStyle/>
                    <a:p>
                      <a:pPr algn="l">
                        <a:defRPr sz="1150" b="1">
                          <a:solidFill>
                            <a:srgbClr val="0F294D"/>
                          </a:solidFill>
                          <a:latin typeface="Times New Roman"/>
                        </a:defRPr>
                      </a:pPr>
                      <a:r>
                        <a:t>3. Sirkulasi Udara (6 Kipas Angin)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tIns="73152" bIns="73152"/>
                    <a:lstStyle/>
                    <a:p>
                      <a:pPr algn="r">
                        <a:defRPr sz="1150" b="1">
                          <a:solidFill>
                            <a:srgbClr val="C27803"/>
                          </a:solidFill>
                          <a:latin typeface="Times New Roman"/>
                        </a:defRPr>
                      </a:pPr>
                      <a:r>
                        <a:t>Rp 900.000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tIns="73152" bIns="73152"/>
                    <a:lstStyle/>
                    <a:p>
                      <a:pPr algn="l">
                        <a:defRPr sz="1100" b="0">
                          <a:solidFill>
                            <a:srgbClr val="475569"/>
                          </a:solidFill>
                          <a:latin typeface="Times New Roman"/>
                        </a:defRPr>
                      </a:pPr>
                      <a:r>
                        <a:t>6 Unit kipas angin dinding/plafon @150k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66205">
                <a:tc>
                  <a:txBody>
                    <a:bodyPr wrap="square" tIns="73152" bIns="73152"/>
                    <a:lstStyle/>
                    <a:p>
                      <a:pPr algn="l">
                        <a:defRPr sz="1150" b="1">
                          <a:solidFill>
                            <a:srgbClr val="0F294D"/>
                          </a:solidFill>
                          <a:latin typeface="Times New Roman"/>
                        </a:defRPr>
                      </a:pPr>
                      <a:r>
                        <a:t>4. Pendingin Dapur (Kulkas &amp; Freezer)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 wrap="square" tIns="73152" bIns="73152"/>
                    <a:lstStyle/>
                    <a:p>
                      <a:pPr algn="r">
                        <a:defRPr sz="1150" b="1">
                          <a:solidFill>
                            <a:srgbClr val="C27803"/>
                          </a:solidFill>
                          <a:latin typeface="Times New Roman"/>
                        </a:defRPr>
                      </a:pPr>
                      <a:r>
                        <a:t>Rp 6.000.000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 wrap="square" tIns="73152" bIns="73152"/>
                    <a:lstStyle/>
                    <a:p>
                      <a:pPr algn="l">
                        <a:defRPr sz="1100" b="0">
                          <a:solidFill>
                            <a:srgbClr val="475569"/>
                          </a:solidFill>
                          <a:latin typeface="Times New Roman"/>
                        </a:defRPr>
                      </a:pPr>
                      <a:r>
                        <a:t>1 Kulkas sayur 2,5 Jt, 1 Freezer daging 3,5 Jt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666205">
                <a:tc>
                  <a:txBody>
                    <a:bodyPr wrap="square" tIns="73152" bIns="73152"/>
                    <a:lstStyle/>
                    <a:p>
                      <a:pPr algn="l">
                        <a:defRPr sz="1150" b="1">
                          <a:solidFill>
                            <a:srgbClr val="0F294D"/>
                          </a:solidFill>
                          <a:latin typeface="Times New Roman"/>
                        </a:defRPr>
                      </a:pPr>
                      <a:r>
                        <a:t>5. Panci Masak &amp; Stok Mangkok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tIns="73152" bIns="73152"/>
                    <a:lstStyle/>
                    <a:p>
                      <a:pPr algn="r">
                        <a:defRPr sz="1150" b="1">
                          <a:solidFill>
                            <a:srgbClr val="C27803"/>
                          </a:solidFill>
                          <a:latin typeface="Times New Roman"/>
                        </a:defRPr>
                      </a:pPr>
                      <a:r>
                        <a:t>Rp 6.500.000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tIns="73152" bIns="73152"/>
                    <a:lstStyle/>
                    <a:p>
                      <a:pPr algn="l">
                        <a:defRPr sz="1100" b="0">
                          <a:solidFill>
                            <a:srgbClr val="475569"/>
                          </a:solidFill>
                          <a:latin typeface="Times New Roman"/>
                        </a:defRPr>
                      </a:pPr>
                      <a:r>
                        <a:t>Panci kaldu, mangkok keramik, sendok, sumpit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66210">
                <a:tc>
                  <a:txBody>
                    <a:bodyPr wrap="square" tIns="73152" bIns="73152"/>
                    <a:lstStyle/>
                    <a:p>
                      <a:pPr algn="l">
                        <a:defRPr sz="1150" b="1">
                          <a:solidFill>
                            <a:srgbClr val="0F294D"/>
                          </a:solidFill>
                          <a:latin typeface="Times New Roman"/>
                        </a:defRPr>
                      </a:pPr>
                      <a:r>
                        <a:t>6. Renovasi Ruko &amp; Signage Nama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 wrap="square" tIns="73152" bIns="73152"/>
                    <a:lstStyle/>
                    <a:p>
                      <a:pPr algn="r">
                        <a:defRPr sz="1150" b="1">
                          <a:solidFill>
                            <a:srgbClr val="C27803"/>
                          </a:solidFill>
                          <a:latin typeface="Times New Roman"/>
                        </a:defRPr>
                      </a:pPr>
                      <a:r>
                        <a:t>Rp 11.000.000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 wrap="square" tIns="73152" bIns="73152"/>
                    <a:lstStyle/>
                    <a:p>
                      <a:pPr algn="l">
                        <a:defRPr sz="1100" b="0">
                          <a:solidFill>
                            <a:srgbClr val="475569"/>
                          </a:solidFill>
                          <a:latin typeface="Times New Roman"/>
                        </a:defRPr>
                      </a:pPr>
                      <a:r>
                        <a:t>Cat ruko 1 lantai, kelistrikan/air, plang nama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C2780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320040"/>
            <a:ext cx="3474720" cy="320040"/>
          </a:xfrm>
          <a:prstGeom prst="roundRect">
            <a:avLst/>
          </a:prstGeom>
          <a:solidFill>
            <a:srgbClr val="FEF3C7"/>
          </a:solidFill>
          <a:ln w="12700">
            <a:solidFill>
              <a:srgbClr val="C2780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defRPr sz="1000" b="1">
                <a:solidFill>
                  <a:srgbClr val="C27803"/>
                </a:solidFill>
                <a:latin typeface="Times New Roman"/>
              </a:defRPr>
            </a:pPr>
            <a:r>
              <a:t>• BAB V: ASPEK KEUANGAN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149840" y="320040"/>
            <a:ext cx="1310335" cy="32004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defRPr sz="1000" b="1">
                <a:solidFill>
                  <a:srgbClr val="0F294D"/>
                </a:solidFill>
                <a:latin typeface="Times New Roman"/>
              </a:defRPr>
            </a:pPr>
            <a:r>
              <a:t>SLIDE 17 / 22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713232"/>
            <a:ext cx="10728655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100" b="1">
                <a:solidFill>
                  <a:srgbClr val="0F294D"/>
                </a:solidFill>
                <a:latin typeface="Times New Roman"/>
              </a:defRPr>
            </a:pPr>
            <a:r>
              <a:t>Proyeksi Pendapatan (Cash Inflow 5 Tahun)</a:t>
            </a:r>
          </a:p>
          <a:p>
            <a:pPr>
              <a:defRPr sz="1150">
                <a:solidFill>
                  <a:srgbClr val="475569"/>
                </a:solidFill>
                <a:latin typeface="Times New Roman"/>
              </a:defRPr>
            </a:pPr>
            <a:r>
              <a:t>Estimasi penerimaan kas berbasis 300 hari operasi tahunan dengan eskalasi volume riil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444752"/>
            <a:ext cx="10728655" cy="18288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731520" y="1691640"/>
          <a:ext cx="10728655" cy="4663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2560320"/>
                <a:gridCol w="1645920"/>
                <a:gridCol w="4510735"/>
              </a:tblGrid>
              <a:tr h="777240">
                <a:tc>
                  <a:txBody>
                    <a:bodyPr wrap="square" tIns="73152" bIns="73152"/>
                    <a:lstStyle/>
                    <a:p>
                      <a:pPr algn="l">
                        <a:defRPr sz="1250" b="1">
                          <a:solidFill>
                            <a:srgbClr val="FFFFFF"/>
                          </a:solidFill>
                          <a:latin typeface="Times New Roman"/>
                        </a:defRPr>
                      </a:pPr>
                      <a:r>
                        <a:t>Periode Proyeksi</a:t>
                      </a:r>
                    </a:p>
                  </a:txBody>
                  <a:tcPr>
                    <a:solidFill>
                      <a:srgbClr val="0F294D"/>
                    </a:solidFill>
                  </a:tcPr>
                </a:tc>
                <a:tc>
                  <a:txBody>
                    <a:bodyPr wrap="square" tIns="73152" bIns="73152"/>
                    <a:lstStyle/>
                    <a:p>
                      <a:pPr algn="r">
                        <a:defRPr sz="1250" b="1">
                          <a:solidFill>
                            <a:srgbClr val="FFFFFF"/>
                          </a:solidFill>
                          <a:latin typeface="Times New Roman"/>
                        </a:defRPr>
                      </a:pPr>
                      <a:r>
                        <a:t>Cash Inflow (CIF) / Tahun</a:t>
                      </a:r>
                    </a:p>
                  </a:txBody>
                  <a:tcPr>
                    <a:solidFill>
                      <a:srgbClr val="0F294D"/>
                    </a:solidFill>
                  </a:tcPr>
                </a:tc>
                <a:tc>
                  <a:txBody>
                    <a:bodyPr wrap="square" tIns="73152" bIns="73152"/>
                    <a:lstStyle/>
                    <a:p>
                      <a:pPr algn="ctr">
                        <a:defRPr sz="1250" b="1">
                          <a:solidFill>
                            <a:srgbClr val="FFFFFF"/>
                          </a:solidFill>
                          <a:latin typeface="Times New Roman"/>
                        </a:defRPr>
                      </a:pPr>
                      <a:r>
                        <a:t>Pertumbuhan</a:t>
                      </a:r>
                    </a:p>
                  </a:txBody>
                  <a:tcPr>
                    <a:solidFill>
                      <a:srgbClr val="0F294D"/>
                    </a:solidFill>
                  </a:tcPr>
                </a:tc>
                <a:tc>
                  <a:txBody>
                    <a:bodyPr wrap="square" tIns="73152" bIns="73152"/>
                    <a:lstStyle/>
                    <a:p>
                      <a:pPr algn="l">
                        <a:defRPr sz="1250" b="1">
                          <a:solidFill>
                            <a:srgbClr val="FFFFFF"/>
                          </a:solidFill>
                          <a:latin typeface="Times New Roman"/>
                        </a:defRPr>
                      </a:pPr>
                      <a:r>
                        <a:t>Asumsi &amp; Justifikasi Operasional</a:t>
                      </a:r>
                    </a:p>
                  </a:txBody>
                  <a:tcPr>
                    <a:solidFill>
                      <a:srgbClr val="0F294D"/>
                    </a:solidFill>
                  </a:tcPr>
                </a:tc>
              </a:tr>
              <a:tr h="777240">
                <a:tc>
                  <a:txBody>
                    <a:bodyPr wrap="square" tIns="73152" bIns="73152"/>
                    <a:lstStyle/>
                    <a:p>
                      <a:pPr algn="l">
                        <a:defRPr sz="1150" b="1">
                          <a:solidFill>
                            <a:srgbClr val="0F294D"/>
                          </a:solidFill>
                          <a:latin typeface="Times New Roman"/>
                        </a:defRPr>
                      </a:pPr>
                      <a:r>
                        <a:t>Tahun 1 (2016/17)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tIns="73152" bIns="73152"/>
                    <a:lstStyle/>
                    <a:p>
                      <a:pPr algn="r">
                        <a:defRPr sz="1200" b="1">
                          <a:solidFill>
                            <a:srgbClr val="C27803"/>
                          </a:solidFill>
                          <a:latin typeface="Times New Roman"/>
                        </a:defRPr>
                      </a:pPr>
                      <a:r>
                        <a:t>Rp 1.483.200.000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tIns="73152" bIns="73152"/>
                    <a:lstStyle/>
                    <a:p>
                      <a:pPr algn="ctr">
                        <a:defRPr sz="1150" b="1">
                          <a:solidFill>
                            <a:srgbClr val="059669"/>
                          </a:solidFill>
                          <a:latin typeface="Times New Roman"/>
                        </a:defRPr>
                      </a:pPr>
                      <a:r>
                        <a:t>Basis Awal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tIns="73152" bIns="73152"/>
                    <a:lstStyle/>
                    <a:p>
                      <a:pPr algn="l">
                        <a:defRPr sz="1150" b="0">
                          <a:solidFill>
                            <a:srgbClr val="0F172A"/>
                          </a:solidFill>
                          <a:latin typeface="Times New Roman"/>
                        </a:defRPr>
                      </a:pPr>
                      <a:r>
                        <a:t>Omzet riil 300 hari operasi: rata-rata Rp 4,94 Jt/hari (menu utama + pelengkap).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77240">
                <a:tc>
                  <a:txBody>
                    <a:bodyPr wrap="square" tIns="73152" bIns="73152"/>
                    <a:lstStyle/>
                    <a:p>
                      <a:pPr algn="l">
                        <a:defRPr sz="1150" b="1">
                          <a:solidFill>
                            <a:srgbClr val="0F294D"/>
                          </a:solidFill>
                          <a:latin typeface="Times New Roman"/>
                        </a:defRPr>
                      </a:pPr>
                      <a:r>
                        <a:t>Tahun 2 (2017/18)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 wrap="square" tIns="73152" bIns="73152"/>
                    <a:lstStyle/>
                    <a:p>
                      <a:pPr algn="r">
                        <a:defRPr sz="1200" b="1">
                          <a:solidFill>
                            <a:srgbClr val="C27803"/>
                          </a:solidFill>
                          <a:latin typeface="Times New Roman"/>
                        </a:defRPr>
                      </a:pPr>
                      <a:r>
                        <a:t>Rp 2.008.200.000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 wrap="square" tIns="73152" bIns="73152"/>
                    <a:lstStyle/>
                    <a:p>
                      <a:pPr algn="ctr">
                        <a:defRPr sz="1150" b="1">
                          <a:solidFill>
                            <a:srgbClr val="059669"/>
                          </a:solidFill>
                          <a:latin typeface="Times New Roman"/>
                        </a:defRPr>
                      </a:pPr>
                      <a:r>
                        <a:t>+35.4%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 wrap="square" tIns="73152" bIns="73152"/>
                    <a:lstStyle/>
                    <a:p>
                      <a:pPr algn="l">
                        <a:defRPr sz="1150" b="0">
                          <a:solidFill>
                            <a:srgbClr val="0F172A"/>
                          </a:solidFill>
                          <a:latin typeface="Times New Roman"/>
                        </a:defRPr>
                      </a:pPr>
                      <a:r>
                        <a:t>Peningkatan loyalitas pelanggan sekolah Kalam Kudus &amp; warga perumahan sekitar.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777240">
                <a:tc>
                  <a:txBody>
                    <a:bodyPr wrap="square" tIns="73152" bIns="73152"/>
                    <a:lstStyle/>
                    <a:p>
                      <a:pPr algn="l">
                        <a:defRPr sz="1150" b="1">
                          <a:solidFill>
                            <a:srgbClr val="0F294D"/>
                          </a:solidFill>
                          <a:latin typeface="Times New Roman"/>
                        </a:defRPr>
                      </a:pPr>
                      <a:r>
                        <a:t>Tahun 3 (2018/19)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tIns="73152" bIns="73152"/>
                    <a:lstStyle/>
                    <a:p>
                      <a:pPr algn="r">
                        <a:defRPr sz="1200" b="1">
                          <a:solidFill>
                            <a:srgbClr val="C27803"/>
                          </a:solidFill>
                          <a:latin typeface="Times New Roman"/>
                        </a:defRPr>
                      </a:pPr>
                      <a:r>
                        <a:t>Rp 2.731.800.000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tIns="73152" bIns="73152"/>
                    <a:lstStyle/>
                    <a:p>
                      <a:pPr algn="ctr">
                        <a:defRPr sz="1150" b="1">
                          <a:solidFill>
                            <a:srgbClr val="059669"/>
                          </a:solidFill>
                          <a:latin typeface="Times New Roman"/>
                        </a:defRPr>
                      </a:pPr>
                      <a:r>
                        <a:t>+36.0%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tIns="73152" bIns="73152"/>
                    <a:lstStyle/>
                    <a:p>
                      <a:pPr algn="l">
                        <a:defRPr sz="1150" b="0">
                          <a:solidFill>
                            <a:srgbClr val="0F172A"/>
                          </a:solidFill>
                          <a:latin typeface="Times New Roman"/>
                        </a:defRPr>
                      </a:pPr>
                      <a:r>
                        <a:t>Basis pelanggan mantap terbentuk (2019), pesanan bungkus take-away meningkat pesat.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77240">
                <a:tc>
                  <a:txBody>
                    <a:bodyPr wrap="square" tIns="73152" bIns="73152"/>
                    <a:lstStyle/>
                    <a:p>
                      <a:pPr algn="l">
                        <a:defRPr sz="1150" b="1">
                          <a:solidFill>
                            <a:srgbClr val="0F294D"/>
                          </a:solidFill>
                          <a:latin typeface="Times New Roman"/>
                        </a:defRPr>
                      </a:pPr>
                      <a:r>
                        <a:t>Tahun 4 (2019/20)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 wrap="square" tIns="73152" bIns="73152"/>
                    <a:lstStyle/>
                    <a:p>
                      <a:pPr algn="r">
                        <a:defRPr sz="1200" b="1">
                          <a:solidFill>
                            <a:srgbClr val="C27803"/>
                          </a:solidFill>
                          <a:latin typeface="Times New Roman"/>
                        </a:defRPr>
                      </a:pPr>
                      <a:r>
                        <a:t>Rp 3.691.800.000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 wrap="square" tIns="73152" bIns="73152"/>
                    <a:lstStyle/>
                    <a:p>
                      <a:pPr algn="ctr">
                        <a:defRPr sz="1150" b="1">
                          <a:solidFill>
                            <a:srgbClr val="059669"/>
                          </a:solidFill>
                          <a:latin typeface="Times New Roman"/>
                        </a:defRPr>
                      </a:pPr>
                      <a:r>
                        <a:t>+35.1%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 wrap="square" tIns="73152" bIns="73152"/>
                    <a:lstStyle/>
                    <a:p>
                      <a:pPr algn="l">
                        <a:defRPr sz="1150" b="0">
                          <a:solidFill>
                            <a:srgbClr val="0F172A"/>
                          </a:solidFill>
                          <a:latin typeface="Times New Roman"/>
                        </a:defRPr>
                      </a:pPr>
                      <a:r>
                        <a:t>Penjualan stabil dengan pelanggan tetap keluarga residensial perumahan Duri Kosambi.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777240">
                <a:tc>
                  <a:txBody>
                    <a:bodyPr wrap="square" tIns="73152" bIns="73152"/>
                    <a:lstStyle/>
                    <a:p>
                      <a:pPr algn="l">
                        <a:defRPr sz="1150" b="1">
                          <a:solidFill>
                            <a:srgbClr val="0F294D"/>
                          </a:solidFill>
                          <a:latin typeface="Times New Roman"/>
                        </a:defRPr>
                      </a:pPr>
                      <a:r>
                        <a:t>Tahun 5 (2020/21)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tIns="73152" bIns="73152"/>
                    <a:lstStyle/>
                    <a:p>
                      <a:pPr algn="r">
                        <a:defRPr sz="1200" b="1">
                          <a:solidFill>
                            <a:srgbClr val="C27803"/>
                          </a:solidFill>
                          <a:latin typeface="Times New Roman"/>
                        </a:defRPr>
                      </a:pPr>
                      <a:r>
                        <a:t>Rp 4.969.200.000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tIns="73152" bIns="73152"/>
                    <a:lstStyle/>
                    <a:p>
                      <a:pPr algn="ctr">
                        <a:defRPr sz="1150" b="1">
                          <a:solidFill>
                            <a:srgbClr val="059669"/>
                          </a:solidFill>
                          <a:latin typeface="Times New Roman"/>
                        </a:defRPr>
                      </a:pPr>
                      <a:r>
                        <a:t>+34.6%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tIns="73152" bIns="73152"/>
                    <a:lstStyle/>
                    <a:p>
                      <a:pPr algn="l">
                        <a:defRPr sz="1150" b="0">
                          <a:solidFill>
                            <a:srgbClr val="0F172A"/>
                          </a:solidFill>
                          <a:latin typeface="Times New Roman"/>
                        </a:defRPr>
                      </a:pPr>
                      <a:r>
                        <a:t>Kapasitas kedai ruko optimal &amp; persiapan akumulasi kas untuk rencana ekspansi 2027/28.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C2780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320040"/>
            <a:ext cx="3474720" cy="320040"/>
          </a:xfrm>
          <a:prstGeom prst="roundRect">
            <a:avLst/>
          </a:prstGeom>
          <a:solidFill>
            <a:srgbClr val="FEF3C7"/>
          </a:solidFill>
          <a:ln w="12700">
            <a:solidFill>
              <a:srgbClr val="C2780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defRPr sz="1000" b="1">
                <a:solidFill>
                  <a:srgbClr val="C27803"/>
                </a:solidFill>
                <a:latin typeface="Times New Roman"/>
              </a:defRPr>
            </a:pPr>
            <a:r>
              <a:t>• BAB V: ASPEK KEUANGAN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149840" y="320040"/>
            <a:ext cx="1310335" cy="32004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defRPr sz="1000" b="1">
                <a:solidFill>
                  <a:srgbClr val="0F294D"/>
                </a:solidFill>
                <a:latin typeface="Times New Roman"/>
              </a:defRPr>
            </a:pPr>
            <a:r>
              <a:t>SLIDE 18 / 22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713232"/>
            <a:ext cx="10728655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100" b="1">
                <a:solidFill>
                  <a:srgbClr val="0F294D"/>
                </a:solidFill>
                <a:latin typeface="Times New Roman"/>
              </a:defRPr>
            </a:pPr>
            <a:r>
              <a:t>Proyeksi Biaya &amp; Laba Bersih (NCF / EAT)</a:t>
            </a:r>
          </a:p>
          <a:p>
            <a:pPr>
              <a:defRPr sz="1150">
                <a:solidFill>
                  <a:srgbClr val="475569"/>
                </a:solidFill>
                <a:latin typeface="Times New Roman"/>
              </a:defRPr>
            </a:pPr>
            <a:r>
              <a:t>Analisis arus kas keluar operasional dan laba bersih selama 5 tahun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444752"/>
            <a:ext cx="10728655" cy="18288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731520" y="1691640"/>
          <a:ext cx="10728655" cy="3931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50415"/>
                <a:gridCol w="2194560"/>
                <a:gridCol w="2194560"/>
                <a:gridCol w="2194560"/>
                <a:gridCol w="2194560"/>
              </a:tblGrid>
              <a:tr h="655320">
                <a:tc>
                  <a:txBody>
                    <a:bodyPr wrap="square" tIns="73152" bIns="73152"/>
                    <a:lstStyle/>
                    <a:p>
                      <a:pPr algn="l">
                        <a:defRPr sz="1200" b="1">
                          <a:solidFill>
                            <a:srgbClr val="FFFFFF"/>
                          </a:solidFill>
                          <a:latin typeface="Times New Roman"/>
                        </a:defRPr>
                      </a:pPr>
                      <a:r>
                        <a:t>Tahun Operasi</a:t>
                      </a:r>
                    </a:p>
                  </a:txBody>
                  <a:tcPr>
                    <a:solidFill>
                      <a:srgbClr val="0F294D"/>
                    </a:solidFill>
                  </a:tcPr>
                </a:tc>
                <a:tc>
                  <a:txBody>
                    <a:bodyPr wrap="square" tIns="73152" bIns="73152"/>
                    <a:lstStyle/>
                    <a:p>
                      <a:pPr algn="r">
                        <a:defRPr sz="1200" b="1">
                          <a:solidFill>
                            <a:srgbClr val="FFFFFF"/>
                          </a:solidFill>
                          <a:latin typeface="Times New Roman"/>
                        </a:defRPr>
                      </a:pPr>
                      <a:r>
                        <a:t>Inflow (CIF)</a:t>
                      </a:r>
                    </a:p>
                  </a:txBody>
                  <a:tcPr>
                    <a:solidFill>
                      <a:srgbClr val="0F294D"/>
                    </a:solidFill>
                  </a:tcPr>
                </a:tc>
                <a:tc>
                  <a:txBody>
                    <a:bodyPr wrap="square" tIns="73152" bIns="73152"/>
                    <a:lstStyle/>
                    <a:p>
                      <a:pPr algn="r">
                        <a:defRPr sz="1200" b="1">
                          <a:solidFill>
                            <a:srgbClr val="FFFFFF"/>
                          </a:solidFill>
                          <a:latin typeface="Times New Roman"/>
                        </a:defRPr>
                      </a:pPr>
                      <a:r>
                        <a:t>Outflow (COF)</a:t>
                      </a:r>
                    </a:p>
                  </a:txBody>
                  <a:tcPr>
                    <a:solidFill>
                      <a:srgbClr val="0F294D"/>
                    </a:solidFill>
                  </a:tcPr>
                </a:tc>
                <a:tc>
                  <a:txBody>
                    <a:bodyPr wrap="square" tIns="73152" bIns="73152"/>
                    <a:lstStyle/>
                    <a:p>
                      <a:pPr algn="r">
                        <a:defRPr sz="1200" b="1">
                          <a:solidFill>
                            <a:srgbClr val="FFFFFF"/>
                          </a:solidFill>
                          <a:latin typeface="Times New Roman"/>
                        </a:defRPr>
                      </a:pPr>
                      <a:r>
                        <a:t>Net Cash Flow (EAT)</a:t>
                      </a:r>
                    </a:p>
                  </a:txBody>
                  <a:tcPr>
                    <a:solidFill>
                      <a:srgbClr val="0F294D"/>
                    </a:solidFill>
                  </a:tcPr>
                </a:tc>
                <a:tc>
                  <a:txBody>
                    <a:bodyPr wrap="square" tIns="73152" bIns="73152"/>
                    <a:lstStyle/>
                    <a:p>
                      <a:pPr algn="r">
                        <a:defRPr sz="1200" b="1">
                          <a:solidFill>
                            <a:srgbClr val="FFFFFF"/>
                          </a:solidFill>
                          <a:latin typeface="Times New Roman"/>
                        </a:defRPr>
                      </a:pPr>
                      <a:r>
                        <a:t>Proceed (Kas Riil)</a:t>
                      </a:r>
                    </a:p>
                  </a:txBody>
                  <a:tcPr>
                    <a:solidFill>
                      <a:srgbClr val="0F294D"/>
                    </a:solidFill>
                  </a:tcPr>
                </a:tc>
              </a:tr>
              <a:tr h="655320">
                <a:tc>
                  <a:txBody>
                    <a:bodyPr wrap="square" tIns="73152" bIns="73152"/>
                    <a:lstStyle/>
                    <a:p>
                      <a:pPr algn="l">
                        <a:defRPr sz="1150" b="1">
                          <a:solidFill>
                            <a:srgbClr val="0F294D"/>
                          </a:solidFill>
                          <a:latin typeface="Times New Roman"/>
                        </a:defRPr>
                      </a:pPr>
                      <a:r>
                        <a:t>Tahun 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tIns="73152" bIns="73152"/>
                    <a:lstStyle/>
                    <a:p>
                      <a:pPr algn="r">
                        <a:defRPr sz="1100" b="1">
                          <a:solidFill>
                            <a:srgbClr val="0F172A"/>
                          </a:solidFill>
                          <a:latin typeface="Times New Roman"/>
                        </a:defRPr>
                      </a:pPr>
                      <a:r>
                        <a:t>Rp 1.483.200.000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tIns="73152" bIns="73152"/>
                    <a:lstStyle/>
                    <a:p>
                      <a:pPr algn="r">
                        <a:defRPr sz="1100" b="0">
                          <a:solidFill>
                            <a:srgbClr val="475569"/>
                          </a:solidFill>
                          <a:latin typeface="Times New Roman"/>
                        </a:defRPr>
                      </a:pPr>
                      <a:r>
                        <a:t>Rp 564.000.000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tIns="73152" bIns="73152"/>
                    <a:lstStyle/>
                    <a:p>
                      <a:pPr algn="r">
                        <a:defRPr sz="1150" b="1">
                          <a:solidFill>
                            <a:srgbClr val="059669"/>
                          </a:solidFill>
                          <a:latin typeface="Times New Roman"/>
                        </a:defRPr>
                      </a:pPr>
                      <a:r>
                        <a:t>Rp 919.200.000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tIns="73152" bIns="73152"/>
                    <a:lstStyle/>
                    <a:p>
                      <a:pPr algn="r">
                        <a:defRPr sz="1150" b="1">
                          <a:solidFill>
                            <a:srgbClr val="C27803"/>
                          </a:solidFill>
                          <a:latin typeface="Times New Roman"/>
                        </a:defRPr>
                      </a:pPr>
                      <a:r>
                        <a:t>Rp 911.060.000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55320">
                <a:tc>
                  <a:txBody>
                    <a:bodyPr wrap="square" tIns="73152" bIns="73152"/>
                    <a:lstStyle/>
                    <a:p>
                      <a:pPr algn="l">
                        <a:defRPr sz="1150" b="1">
                          <a:solidFill>
                            <a:srgbClr val="0F294D"/>
                          </a:solidFill>
                          <a:latin typeface="Times New Roman"/>
                        </a:defRPr>
                      </a:pPr>
                      <a:r>
                        <a:t>Tahun 2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 wrap="square" tIns="73152" bIns="73152"/>
                    <a:lstStyle/>
                    <a:p>
                      <a:pPr algn="r">
                        <a:defRPr sz="1100" b="1">
                          <a:solidFill>
                            <a:srgbClr val="0F172A"/>
                          </a:solidFill>
                          <a:latin typeface="Times New Roman"/>
                        </a:defRPr>
                      </a:pPr>
                      <a:r>
                        <a:t>Rp 2.008.200.000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 wrap="square" tIns="73152" bIns="73152"/>
                    <a:lstStyle/>
                    <a:p>
                      <a:pPr algn="r">
                        <a:defRPr sz="1100" b="0">
                          <a:solidFill>
                            <a:srgbClr val="475569"/>
                          </a:solidFill>
                          <a:latin typeface="Times New Roman"/>
                        </a:defRPr>
                      </a:pPr>
                      <a:r>
                        <a:t>Rp 642.244.000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 wrap="square" tIns="73152" bIns="73152"/>
                    <a:lstStyle/>
                    <a:p>
                      <a:pPr algn="r">
                        <a:defRPr sz="1150" b="1">
                          <a:solidFill>
                            <a:srgbClr val="059669"/>
                          </a:solidFill>
                          <a:latin typeface="Times New Roman"/>
                        </a:defRPr>
                      </a:pPr>
                      <a:r>
                        <a:t>Rp 1.365.956.000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 wrap="square" tIns="73152" bIns="73152"/>
                    <a:lstStyle/>
                    <a:p>
                      <a:pPr algn="r">
                        <a:defRPr sz="1150" b="1">
                          <a:solidFill>
                            <a:srgbClr val="C27803"/>
                          </a:solidFill>
                          <a:latin typeface="Times New Roman"/>
                        </a:defRPr>
                      </a:pPr>
                      <a:r>
                        <a:t>Rp 1.357.816.000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655320">
                <a:tc>
                  <a:txBody>
                    <a:bodyPr wrap="square" tIns="73152" bIns="73152"/>
                    <a:lstStyle/>
                    <a:p>
                      <a:pPr algn="l">
                        <a:defRPr sz="1150" b="1">
                          <a:solidFill>
                            <a:srgbClr val="0F294D"/>
                          </a:solidFill>
                          <a:latin typeface="Times New Roman"/>
                        </a:defRPr>
                      </a:pPr>
                      <a:r>
                        <a:t>Tahun 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tIns="73152" bIns="73152"/>
                    <a:lstStyle/>
                    <a:p>
                      <a:pPr algn="r">
                        <a:defRPr sz="1100" b="1">
                          <a:solidFill>
                            <a:srgbClr val="0F172A"/>
                          </a:solidFill>
                          <a:latin typeface="Times New Roman"/>
                        </a:defRPr>
                      </a:pPr>
                      <a:r>
                        <a:t>Rp 2.731.800.000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tIns="73152" bIns="73152"/>
                    <a:lstStyle/>
                    <a:p>
                      <a:pPr algn="r">
                        <a:defRPr sz="1100" b="0">
                          <a:solidFill>
                            <a:srgbClr val="475569"/>
                          </a:solidFill>
                          <a:latin typeface="Times New Roman"/>
                        </a:defRPr>
                      </a:pPr>
                      <a:r>
                        <a:t>Rp 749.011.760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tIns="73152" bIns="73152"/>
                    <a:lstStyle/>
                    <a:p>
                      <a:pPr algn="r">
                        <a:defRPr sz="1150" b="1">
                          <a:solidFill>
                            <a:srgbClr val="059669"/>
                          </a:solidFill>
                          <a:latin typeface="Times New Roman"/>
                        </a:defRPr>
                      </a:pPr>
                      <a:r>
                        <a:t>Rp 1.982.788.240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tIns="73152" bIns="73152"/>
                    <a:lstStyle/>
                    <a:p>
                      <a:pPr algn="r">
                        <a:defRPr sz="1150" b="1">
                          <a:solidFill>
                            <a:srgbClr val="C27803"/>
                          </a:solidFill>
                          <a:latin typeface="Times New Roman"/>
                        </a:defRPr>
                      </a:pPr>
                      <a:r>
                        <a:t>Rp 1.974.648.240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55320">
                <a:tc>
                  <a:txBody>
                    <a:bodyPr wrap="square" tIns="73152" bIns="73152"/>
                    <a:lstStyle/>
                    <a:p>
                      <a:pPr algn="l">
                        <a:defRPr sz="1150" b="1">
                          <a:solidFill>
                            <a:srgbClr val="0F294D"/>
                          </a:solidFill>
                          <a:latin typeface="Times New Roman"/>
                        </a:defRPr>
                      </a:pPr>
                      <a:r>
                        <a:t>Tahun 4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 wrap="square" tIns="73152" bIns="73152"/>
                    <a:lstStyle/>
                    <a:p>
                      <a:pPr algn="r">
                        <a:defRPr sz="1100" b="1">
                          <a:solidFill>
                            <a:srgbClr val="0F172A"/>
                          </a:solidFill>
                          <a:latin typeface="Times New Roman"/>
                        </a:defRPr>
                      </a:pPr>
                      <a:r>
                        <a:t>Rp 3.691.800.000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 wrap="square" tIns="73152" bIns="73152"/>
                    <a:lstStyle/>
                    <a:p>
                      <a:pPr algn="r">
                        <a:defRPr sz="1100" b="0">
                          <a:solidFill>
                            <a:srgbClr val="475569"/>
                          </a:solidFill>
                          <a:latin typeface="Times New Roman"/>
                        </a:defRPr>
                      </a:pPr>
                      <a:r>
                        <a:t>Rp 894.412.054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 wrap="square" tIns="73152" bIns="73152"/>
                    <a:lstStyle/>
                    <a:p>
                      <a:pPr algn="r">
                        <a:defRPr sz="1150" b="1">
                          <a:solidFill>
                            <a:srgbClr val="059669"/>
                          </a:solidFill>
                          <a:latin typeface="Times New Roman"/>
                        </a:defRPr>
                      </a:pPr>
                      <a:r>
                        <a:t>Rp 2.797.387.946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 wrap="square" tIns="73152" bIns="73152"/>
                    <a:lstStyle/>
                    <a:p>
                      <a:pPr algn="r">
                        <a:defRPr sz="1150" b="1">
                          <a:solidFill>
                            <a:srgbClr val="C27803"/>
                          </a:solidFill>
                          <a:latin typeface="Times New Roman"/>
                        </a:defRPr>
                      </a:pPr>
                      <a:r>
                        <a:t>Rp 2.789.247.946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655320">
                <a:tc>
                  <a:txBody>
                    <a:bodyPr wrap="square" tIns="73152" bIns="73152"/>
                    <a:lstStyle/>
                    <a:p>
                      <a:pPr algn="l">
                        <a:defRPr sz="1150" b="1">
                          <a:solidFill>
                            <a:srgbClr val="0F294D"/>
                          </a:solidFill>
                          <a:latin typeface="Times New Roman"/>
                        </a:defRPr>
                      </a:pPr>
                      <a:r>
                        <a:t>Tahun 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tIns="73152" bIns="73152"/>
                    <a:lstStyle/>
                    <a:p>
                      <a:pPr algn="r">
                        <a:defRPr sz="1100" b="1">
                          <a:solidFill>
                            <a:srgbClr val="0F172A"/>
                          </a:solidFill>
                          <a:latin typeface="Times New Roman"/>
                        </a:defRPr>
                      </a:pPr>
                      <a:r>
                        <a:t>Rp 4.969.200.000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tIns="73152" bIns="73152"/>
                    <a:lstStyle/>
                    <a:p>
                      <a:pPr algn="r">
                        <a:defRPr sz="1100" b="0">
                          <a:solidFill>
                            <a:srgbClr val="475569"/>
                          </a:solidFill>
                          <a:latin typeface="Times New Roman"/>
                        </a:defRPr>
                      </a:pPr>
                      <a:r>
                        <a:t>Rp 1.093.312.782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tIns="73152" bIns="73152"/>
                    <a:lstStyle/>
                    <a:p>
                      <a:pPr algn="r">
                        <a:defRPr sz="1150" b="1">
                          <a:solidFill>
                            <a:srgbClr val="059669"/>
                          </a:solidFill>
                          <a:latin typeface="Times New Roman"/>
                        </a:defRPr>
                      </a:pPr>
                      <a:r>
                        <a:t>Rp 3.875.887.218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tIns="73152" bIns="73152"/>
                    <a:lstStyle/>
                    <a:p>
                      <a:pPr algn="r">
                        <a:defRPr sz="1150" b="1">
                          <a:solidFill>
                            <a:srgbClr val="C27803"/>
                          </a:solidFill>
                          <a:latin typeface="Times New Roman"/>
                        </a:defRPr>
                      </a:pPr>
                      <a:r>
                        <a:t>Rp 3.867.747.218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731520" y="5715000"/>
            <a:ext cx="10728655" cy="777240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46304" bIns="146304"/>
          <a:lstStyle/>
          <a:p>
            <a:pPr algn="ctr">
              <a:defRPr sz="1200" b="1">
                <a:solidFill>
                  <a:srgbClr val="059669"/>
                </a:solidFill>
                <a:latin typeface="Times New Roman"/>
              </a:defRPr>
            </a:pPr>
            <a:r>
              <a:t>KESIMPULAN KINERJA: Margin Laba Bersih Operasional Mencapai 61,97% di Tahun Pertama</a:t>
            </a:r>
          </a:p>
          <a:p>
            <a:pPr>
              <a:defRPr sz="1100">
                <a:solidFill>
                  <a:srgbClr val="0F172A"/>
                </a:solidFill>
                <a:latin typeface="Times New Roman"/>
              </a:defRPr>
            </a:pPr>
            <a:r>
              <a:t>Arus kas masuk sangat likuid untuk menutup seluruh beban sewa ruko Rp 20 Jt, gaji 3 staf Rp 120 Jt, serta HPP bahan baku daging mingguan.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C2780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320040"/>
            <a:ext cx="3474720" cy="320040"/>
          </a:xfrm>
          <a:prstGeom prst="roundRect">
            <a:avLst/>
          </a:prstGeom>
          <a:solidFill>
            <a:srgbClr val="FEF3C7"/>
          </a:solidFill>
          <a:ln w="12700">
            <a:solidFill>
              <a:srgbClr val="C2780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defRPr sz="1000" b="1">
                <a:solidFill>
                  <a:srgbClr val="C27803"/>
                </a:solidFill>
                <a:latin typeface="Times New Roman"/>
              </a:defRPr>
            </a:pPr>
            <a:r>
              <a:t>• BAB VI: KELAYAKAN INVESTASI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149840" y="320040"/>
            <a:ext cx="1310335" cy="32004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defRPr sz="1000" b="1">
                <a:solidFill>
                  <a:srgbClr val="0F294D"/>
                </a:solidFill>
                <a:latin typeface="Times New Roman"/>
              </a:defRPr>
            </a:pPr>
            <a:r>
              <a:t>SLIDE 19 / 22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713232"/>
            <a:ext cx="10728655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100" b="1">
                <a:solidFill>
                  <a:srgbClr val="0F294D"/>
                </a:solidFill>
                <a:latin typeface="Times New Roman"/>
              </a:defRPr>
            </a:pPr>
            <a:r>
              <a:t>Evaluasi Modal: Net Present Value (NPV)</a:t>
            </a:r>
          </a:p>
          <a:p>
            <a:pPr>
              <a:defRPr sz="1150">
                <a:solidFill>
                  <a:srgbClr val="475569"/>
                </a:solidFill>
                <a:latin typeface="Times New Roman"/>
              </a:defRPr>
            </a:pPr>
            <a:r>
              <a:t>Hasil perhitungan nilai sekarang bersih kas masuk dengan discount rate 20%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444752"/>
            <a:ext cx="10728655" cy="18288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31520" y="1691640"/>
            <a:ext cx="4114800" cy="46634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46304" bIns="146304"/>
          <a:lstStyle/>
          <a:p>
            <a:pPr algn="ctr">
              <a:defRPr sz="1500" b="1">
                <a:solidFill>
                  <a:srgbClr val="C27803"/>
                </a:solidFill>
                <a:latin typeface="Times New Roman"/>
              </a:defRPr>
            </a:pPr>
            <a:r>
              <a:t>NET PRESENT VALUE (NPV)</a:t>
            </a:r>
          </a:p>
          <a:p>
            <a:pPr>
              <a:defRPr sz="2700" b="1">
                <a:solidFill>
                  <a:srgbClr val="059669"/>
                </a:solidFill>
                <a:latin typeface="Times New Roman"/>
              </a:defRPr>
            </a:pPr>
            <a:r>
              <a:t>Rp 5.682.364.987</a:t>
            </a:r>
          </a:p>
          <a:p>
            <a:br/>
            <a:pPr>
              <a:defRPr sz="1300" b="1">
                <a:solidFill>
                  <a:srgbClr val="0F294D"/>
                </a:solidFill>
                <a:latin typeface="Times New Roman"/>
              </a:defRPr>
            </a:pPr>
            <a:r>
              <a:t>STATUS KELAYAKAN: SANGAT LAYAK (NPV &gt; 0)</a:t>
            </a:r>
          </a:p>
          <a:p>
            <a:br/>
            <a:pPr>
              <a:defRPr sz="1200">
                <a:solidFill>
                  <a:srgbClr val="0F172A"/>
                </a:solidFill>
                <a:latin typeface="Times New Roman"/>
              </a:defRPr>
            </a:pPr>
            <a:r>
              <a:t>Berdasarkan kriteria standar FEB UKRIDA, rencana investasi dinyatakan LAYAK jika NPV &gt; 0. Nilai NPV sebesar Rp 5.68 Milyar membuktikan bahwa proyek Bakmi Mimu Carina Sayang mampu menutupi seluruh modal investasi awal Rp 62 Juta dan menghasilkan surplus kekayaan bersih yang luar biasa.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029200" y="1691640"/>
          <a:ext cx="6430975" cy="4663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/>
                <a:gridCol w="2011680"/>
                <a:gridCol w="2041855"/>
              </a:tblGrid>
              <a:tr h="666205">
                <a:tc>
                  <a:txBody>
                    <a:bodyPr wrap="square" tIns="73152" bIns="73152"/>
                    <a:lstStyle/>
                    <a:p>
                      <a:pPr algn="l">
                        <a:defRPr sz="1200" b="1">
                          <a:solidFill>
                            <a:srgbClr val="FFFFFF"/>
                          </a:solidFill>
                          <a:latin typeface="Times New Roman"/>
                        </a:defRPr>
                      </a:pPr>
                      <a:r>
                        <a:t>Periode Aliran Kas</a:t>
                      </a:r>
                    </a:p>
                  </a:txBody>
                  <a:tcPr>
                    <a:solidFill>
                      <a:srgbClr val="0F294D"/>
                    </a:solidFill>
                  </a:tcPr>
                </a:tc>
                <a:tc>
                  <a:txBody>
                    <a:bodyPr wrap="square" tIns="73152" bIns="73152"/>
                    <a:lstStyle/>
                    <a:p>
                      <a:pPr algn="r">
                        <a:defRPr sz="1200" b="1">
                          <a:solidFill>
                            <a:srgbClr val="FFFFFF"/>
                          </a:solidFill>
                          <a:latin typeface="Times New Roman"/>
                        </a:defRPr>
                      </a:pPr>
                      <a:r>
                        <a:t>Nominal Arus Kas</a:t>
                      </a:r>
                    </a:p>
                  </a:txBody>
                  <a:tcPr>
                    <a:solidFill>
                      <a:srgbClr val="0F294D"/>
                    </a:solidFill>
                  </a:tcPr>
                </a:tc>
                <a:tc>
                  <a:txBody>
                    <a:bodyPr wrap="square" tIns="73152" bIns="73152"/>
                    <a:lstStyle/>
                    <a:p>
                      <a:pPr algn="r">
                        <a:defRPr sz="1200" b="1">
                          <a:solidFill>
                            <a:srgbClr val="FFFFFF"/>
                          </a:solidFill>
                          <a:latin typeface="Times New Roman"/>
                        </a:defRPr>
                      </a:pPr>
                      <a:r>
                        <a:t>Present Value (DF 20%)</a:t>
                      </a:r>
                    </a:p>
                  </a:txBody>
                  <a:tcPr>
                    <a:solidFill>
                      <a:srgbClr val="0F294D"/>
                    </a:solidFill>
                  </a:tcPr>
                </a:tc>
              </a:tr>
              <a:tr h="666205">
                <a:tc>
                  <a:txBody>
                    <a:bodyPr wrap="square" tIns="73152" bIns="73152"/>
                    <a:lstStyle/>
                    <a:p>
                      <a:pPr algn="l">
                        <a:defRPr sz="1150" b="1">
                          <a:solidFill>
                            <a:srgbClr val="0F294D"/>
                          </a:solidFill>
                          <a:latin typeface="Times New Roman"/>
                        </a:defRPr>
                      </a:pPr>
                      <a:r>
                        <a:t>Tahun 0 (Initial Outlay)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tIns="73152" bIns="73152"/>
                    <a:lstStyle/>
                    <a:p>
                      <a:pPr algn="r">
                        <a:defRPr sz="1100" b="0">
                          <a:solidFill>
                            <a:srgbClr val="0F172A"/>
                          </a:solidFill>
                          <a:latin typeface="Times New Roman"/>
                        </a:defRPr>
                      </a:pPr>
                      <a:r>
                        <a:t>-Rp 62.000.000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tIns="73152" bIns="73152"/>
                    <a:lstStyle/>
                    <a:p>
                      <a:pPr algn="r">
                        <a:defRPr sz="1150" b="1">
                          <a:solidFill>
                            <a:srgbClr val="C27803"/>
                          </a:solidFill>
                          <a:latin typeface="Times New Roman"/>
                        </a:defRPr>
                      </a:pPr>
                      <a:r>
                        <a:t>Modal Awal Relokasi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66205">
                <a:tc>
                  <a:txBody>
                    <a:bodyPr wrap="square" tIns="73152" bIns="73152"/>
                    <a:lstStyle/>
                    <a:p>
                      <a:pPr algn="l">
                        <a:defRPr sz="1150" b="1">
                          <a:solidFill>
                            <a:srgbClr val="0F294D"/>
                          </a:solidFill>
                          <a:latin typeface="Times New Roman"/>
                        </a:defRPr>
                      </a:pPr>
                      <a:r>
                        <a:t>Tahun 1 (Proceed Thn 1)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 wrap="square" tIns="73152" bIns="73152"/>
                    <a:lstStyle/>
                    <a:p>
                      <a:pPr algn="r">
                        <a:defRPr sz="1100" b="0">
                          <a:solidFill>
                            <a:srgbClr val="0F172A"/>
                          </a:solidFill>
                          <a:latin typeface="Times New Roman"/>
                        </a:defRPr>
                      </a:pPr>
                      <a:r>
                        <a:t>Rp 911.060.000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 wrap="square" tIns="73152" bIns="73152"/>
                    <a:lstStyle/>
                    <a:p>
                      <a:pPr algn="r">
                        <a:defRPr sz="1150" b="1">
                          <a:solidFill>
                            <a:srgbClr val="C27803"/>
                          </a:solidFill>
                          <a:latin typeface="Times New Roman"/>
                        </a:defRPr>
                      </a:pPr>
                      <a:r>
                        <a:t>Rp 759.216.667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666205">
                <a:tc>
                  <a:txBody>
                    <a:bodyPr wrap="square" tIns="73152" bIns="73152"/>
                    <a:lstStyle/>
                    <a:p>
                      <a:pPr algn="l">
                        <a:defRPr sz="1150" b="1">
                          <a:solidFill>
                            <a:srgbClr val="0F294D"/>
                          </a:solidFill>
                          <a:latin typeface="Times New Roman"/>
                        </a:defRPr>
                      </a:pPr>
                      <a:r>
                        <a:t>Tahun 2 (Proceed Thn 2)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tIns="73152" bIns="73152"/>
                    <a:lstStyle/>
                    <a:p>
                      <a:pPr algn="r">
                        <a:defRPr sz="1100" b="0">
                          <a:solidFill>
                            <a:srgbClr val="0F172A"/>
                          </a:solidFill>
                          <a:latin typeface="Times New Roman"/>
                        </a:defRPr>
                      </a:pPr>
                      <a:r>
                        <a:t>Rp 1.357.816.000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tIns="73152" bIns="73152"/>
                    <a:lstStyle/>
                    <a:p>
                      <a:pPr algn="r">
                        <a:defRPr sz="1150" b="1">
                          <a:solidFill>
                            <a:srgbClr val="C27803"/>
                          </a:solidFill>
                          <a:latin typeface="Times New Roman"/>
                        </a:defRPr>
                      </a:pPr>
                      <a:r>
                        <a:t>Rp 942.927.778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66205">
                <a:tc>
                  <a:txBody>
                    <a:bodyPr wrap="square" tIns="73152" bIns="73152"/>
                    <a:lstStyle/>
                    <a:p>
                      <a:pPr algn="l">
                        <a:defRPr sz="1150" b="1">
                          <a:solidFill>
                            <a:srgbClr val="0F294D"/>
                          </a:solidFill>
                          <a:latin typeface="Times New Roman"/>
                        </a:defRPr>
                      </a:pPr>
                      <a:r>
                        <a:t>Tahun 3 (Proceed Thn 3)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 wrap="square" tIns="73152" bIns="73152"/>
                    <a:lstStyle/>
                    <a:p>
                      <a:pPr algn="r">
                        <a:defRPr sz="1100" b="0">
                          <a:solidFill>
                            <a:srgbClr val="0F172A"/>
                          </a:solidFill>
                          <a:latin typeface="Times New Roman"/>
                        </a:defRPr>
                      </a:pPr>
                      <a:r>
                        <a:t>Rp 1.974.648.240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 wrap="square" tIns="73152" bIns="73152"/>
                    <a:lstStyle/>
                    <a:p>
                      <a:pPr algn="r">
                        <a:defRPr sz="1150" b="1">
                          <a:solidFill>
                            <a:srgbClr val="C27803"/>
                          </a:solidFill>
                          <a:latin typeface="Times New Roman"/>
                        </a:defRPr>
                      </a:pPr>
                      <a:r>
                        <a:t>Rp 1.142.736.250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666205">
                <a:tc>
                  <a:txBody>
                    <a:bodyPr wrap="square" tIns="73152" bIns="73152"/>
                    <a:lstStyle/>
                    <a:p>
                      <a:pPr algn="l">
                        <a:defRPr sz="1150" b="1">
                          <a:solidFill>
                            <a:srgbClr val="0F294D"/>
                          </a:solidFill>
                          <a:latin typeface="Times New Roman"/>
                        </a:defRPr>
                      </a:pPr>
                      <a:r>
                        <a:t>Tahun 4 (Proceed Thn 4)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tIns="73152" bIns="73152"/>
                    <a:lstStyle/>
                    <a:p>
                      <a:pPr algn="r">
                        <a:defRPr sz="1100" b="0">
                          <a:solidFill>
                            <a:srgbClr val="0F172A"/>
                          </a:solidFill>
                          <a:latin typeface="Times New Roman"/>
                        </a:defRPr>
                      </a:pPr>
                      <a:r>
                        <a:t>Rp 2.789.247.946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tIns="73152" bIns="73152"/>
                    <a:lstStyle/>
                    <a:p>
                      <a:pPr algn="r">
                        <a:defRPr sz="1150" b="1">
                          <a:solidFill>
                            <a:srgbClr val="C27803"/>
                          </a:solidFill>
                          <a:latin typeface="Times New Roman"/>
                        </a:defRPr>
                      </a:pPr>
                      <a:r>
                        <a:t>Rp 1.345.123.431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66210">
                <a:tc>
                  <a:txBody>
                    <a:bodyPr wrap="square" tIns="73152" bIns="73152"/>
                    <a:lstStyle/>
                    <a:p>
                      <a:pPr algn="l">
                        <a:defRPr sz="1150" b="1">
                          <a:solidFill>
                            <a:srgbClr val="0F294D"/>
                          </a:solidFill>
                          <a:latin typeface="Times New Roman"/>
                        </a:defRPr>
                      </a:pPr>
                      <a:r>
                        <a:t>Tahun 5 (Proceed Thn 5)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 wrap="square" tIns="73152" bIns="73152"/>
                    <a:lstStyle/>
                    <a:p>
                      <a:pPr algn="r">
                        <a:defRPr sz="1100" b="0">
                          <a:solidFill>
                            <a:srgbClr val="0F172A"/>
                          </a:solidFill>
                          <a:latin typeface="Times New Roman"/>
                        </a:defRPr>
                      </a:pPr>
                      <a:r>
                        <a:t>Rp 3.867.747.218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 wrap="square" tIns="73152" bIns="73152"/>
                    <a:lstStyle/>
                    <a:p>
                      <a:pPr algn="r">
                        <a:defRPr sz="1150" b="1">
                          <a:solidFill>
                            <a:srgbClr val="C27803"/>
                          </a:solidFill>
                          <a:latin typeface="Times New Roman"/>
                        </a:defRPr>
                      </a:pPr>
                      <a:r>
                        <a:t>Rp 1.554.360.861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C2780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320040"/>
            <a:ext cx="3474720" cy="320040"/>
          </a:xfrm>
          <a:prstGeom prst="roundRect">
            <a:avLst/>
          </a:prstGeom>
          <a:solidFill>
            <a:srgbClr val="FEF3C7"/>
          </a:solidFill>
          <a:ln w="12700">
            <a:solidFill>
              <a:srgbClr val="C2780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defRPr sz="1000" b="1">
                <a:solidFill>
                  <a:srgbClr val="C27803"/>
                </a:solidFill>
                <a:latin typeface="Times New Roman"/>
              </a:defRPr>
            </a:pPr>
            <a:r>
              <a:t>• BAB VI: KELAYAKAN INVESTASI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149840" y="320040"/>
            <a:ext cx="1310335" cy="32004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defRPr sz="1000" b="1">
                <a:solidFill>
                  <a:srgbClr val="0F294D"/>
                </a:solidFill>
                <a:latin typeface="Times New Roman"/>
              </a:defRPr>
            </a:pPr>
            <a:r>
              <a:t>SLIDE 20 / 22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713232"/>
            <a:ext cx="10728655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100" b="1">
                <a:solidFill>
                  <a:srgbClr val="0F294D"/>
                </a:solidFill>
                <a:latin typeface="Times New Roman"/>
              </a:defRPr>
            </a:pPr>
            <a:r>
              <a:t>Evaluasi Modal: IRR &amp; Payback Period</a:t>
            </a:r>
          </a:p>
          <a:p>
            <a:pPr>
              <a:defRPr sz="1150">
                <a:solidFill>
                  <a:srgbClr val="475569"/>
                </a:solidFill>
                <a:latin typeface="Times New Roman"/>
              </a:defRPr>
            </a:pPr>
            <a:r>
              <a:t>Tingkat pengembalian internal dan kecepatan pemulihan modal investasi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444752"/>
            <a:ext cx="10728655" cy="18288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31520" y="1691640"/>
            <a:ext cx="5212080" cy="4663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46304" bIns="146304"/>
          <a:lstStyle/>
          <a:p>
            <a:pPr algn="ctr">
              <a:defRPr sz="1500" b="1">
                <a:solidFill>
                  <a:srgbClr val="C27803"/>
                </a:solidFill>
                <a:latin typeface="Times New Roman"/>
              </a:defRPr>
            </a:pPr>
            <a:r>
              <a:t>INTERNAL RATE OF RETURN (IRR)</a:t>
            </a:r>
          </a:p>
          <a:p>
            <a:pPr>
              <a:defRPr sz="3800" b="1">
                <a:solidFill>
                  <a:srgbClr val="059669"/>
                </a:solidFill>
                <a:latin typeface="Times New Roman"/>
              </a:defRPr>
            </a:pPr>
            <a:r>
              <a:t>&gt; 20,00%</a:t>
            </a:r>
          </a:p>
          <a:p>
            <a:br/>
            <a:pPr>
              <a:defRPr sz="1250" b="1">
                <a:solidFill>
                  <a:srgbClr val="0F294D"/>
                </a:solidFill>
                <a:latin typeface="Times New Roman"/>
              </a:defRPr>
            </a:pPr>
            <a:r>
              <a:t>TARGET / STANDAR FEB: &gt; 20,00% (Opportunity Cost)</a:t>
            </a:r>
          </a:p>
          <a:p>
            <a:br/>
            <a:pPr>
              <a:defRPr sz="1250" b="1">
                <a:solidFill>
                  <a:srgbClr val="059669"/>
                </a:solidFill>
                <a:latin typeface="Times New Roman"/>
              </a:defRPr>
            </a:pPr>
            <a:r>
              <a:t>STATUS: SANGAT LAYAK (Jauh Melampaui Standar)</a:t>
            </a:r>
          </a:p>
          <a:p>
            <a:br/>
            <a:pPr>
              <a:defRPr sz="1200">
                <a:solidFill>
                  <a:srgbClr val="0F172A"/>
                </a:solidFill>
                <a:latin typeface="Times New Roman"/>
              </a:defRPr>
            </a:pPr>
            <a:r>
              <a:t>Nilai IRR yang melampaui 20,00% membuktikan efisiensi operasional kedai yang sangat prima. Imbal hasil riil proyek jauh melampaui tingkat diskonto modal dan suku bunga deposito perbankan.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691640"/>
            <a:ext cx="5212080" cy="4663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46304" bIns="146304"/>
          <a:lstStyle/>
          <a:p>
            <a:pPr algn="ctr">
              <a:defRPr sz="1500" b="1">
                <a:solidFill>
                  <a:srgbClr val="1E3A8A"/>
                </a:solidFill>
                <a:latin typeface="Times New Roman"/>
              </a:defRPr>
            </a:pPr>
            <a:r>
              <a:t>PAYBACK PERIOD (PP)</a:t>
            </a:r>
          </a:p>
          <a:p>
            <a:pPr>
              <a:defRPr sz="3800" b="1">
                <a:solidFill>
                  <a:srgbClr val="1E3A8A"/>
                </a:solidFill>
                <a:latin typeface="Times New Roman"/>
              </a:defRPr>
            </a:pPr>
            <a:r>
              <a:t>0.82 BULAN</a:t>
            </a:r>
          </a:p>
          <a:p>
            <a:br/>
            <a:pPr>
              <a:defRPr sz="1250" b="1">
                <a:solidFill>
                  <a:srgbClr val="0F294D"/>
                </a:solidFill>
                <a:latin typeface="Times New Roman"/>
              </a:defRPr>
            </a:pPr>
            <a:r>
              <a:t>SETARA: 0.07 TAHUN (KURANG DARI 1 BULAN OPERASI)</a:t>
            </a:r>
          </a:p>
          <a:p>
            <a:br/>
            <a:pPr>
              <a:defRPr sz="1250" b="1">
                <a:solidFill>
                  <a:srgbClr val="059669"/>
                </a:solidFill>
                <a:latin typeface="Times New Roman"/>
              </a:defRPr>
            </a:pPr>
            <a:r>
              <a:t>TARGET / STANDAR FEB: &lt; 3,00 TAHUN (36 BULAN) ➔ SANGAT LAYAK</a:t>
            </a:r>
          </a:p>
          <a:p>
            <a:br/>
            <a:pPr>
              <a:defRPr sz="1200">
                <a:solidFill>
                  <a:srgbClr val="0F172A"/>
                </a:solidFill>
                <a:latin typeface="Times New Roman"/>
              </a:defRPr>
            </a:pPr>
            <a:r>
              <a:t>Modal awal sebesar Rp 62.000.000 telah pulih kembali sepenuhnya hanya dalam tempo 0.82 bulan (sekitar 25 hari kerja pada bulan pertama). Seluruh arus kas berikutnya murni menjadi keuntungan likuid.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C2780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320040"/>
            <a:ext cx="3474720" cy="320040"/>
          </a:xfrm>
          <a:prstGeom prst="roundRect">
            <a:avLst/>
          </a:prstGeom>
          <a:solidFill>
            <a:srgbClr val="FEF3C7"/>
          </a:solidFill>
          <a:ln w="12700">
            <a:solidFill>
              <a:srgbClr val="C2780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defRPr sz="1000" b="1">
                <a:solidFill>
                  <a:srgbClr val="C27803"/>
                </a:solidFill>
                <a:latin typeface="Times New Roman"/>
              </a:defRPr>
            </a:pPr>
            <a:r>
              <a:t>• BAB VI: KELAYAKAN INVESTASI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149840" y="320040"/>
            <a:ext cx="1310335" cy="32004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defRPr sz="1000" b="1">
                <a:solidFill>
                  <a:srgbClr val="0F294D"/>
                </a:solidFill>
                <a:latin typeface="Times New Roman"/>
              </a:defRPr>
            </a:pPr>
            <a:r>
              <a:t>SLIDE 21 / 22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713232"/>
            <a:ext cx="10728655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100" b="1">
                <a:solidFill>
                  <a:srgbClr val="0F294D"/>
                </a:solidFill>
                <a:latin typeface="Times New Roman"/>
              </a:defRPr>
            </a:pPr>
            <a:r>
              <a:t>Profitability Index &amp; Matriks Kelayakan</a:t>
            </a:r>
          </a:p>
          <a:p>
            <a:pPr>
              <a:defRPr sz="1150">
                <a:solidFill>
                  <a:srgbClr val="475569"/>
                </a:solidFill>
                <a:latin typeface="Times New Roman"/>
              </a:defRPr>
            </a:pPr>
            <a:r>
              <a:t>Rangkuman skor evaluasi investasi dan ketahanan terhadap risiko pasar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444752"/>
            <a:ext cx="10728655" cy="18288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731520" y="1691640"/>
          <a:ext cx="10728655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0400"/>
                <a:gridCol w="2560320"/>
                <a:gridCol w="2560320"/>
                <a:gridCol w="2407615"/>
              </a:tblGrid>
              <a:tr h="585216">
                <a:tc>
                  <a:txBody>
                    <a:bodyPr wrap="square" tIns="73152" bIns="73152"/>
                    <a:lstStyle/>
                    <a:p>
                      <a:pPr algn="l">
                        <a:defRPr sz="1250" b="1">
                          <a:solidFill>
                            <a:srgbClr val="FFFFFF"/>
                          </a:solidFill>
                          <a:latin typeface="Times New Roman"/>
                        </a:defRPr>
                      </a:pPr>
                      <a:r>
                        <a:t>Metode Kriteria Investasi</a:t>
                      </a:r>
                    </a:p>
                  </a:txBody>
                  <a:tcPr>
                    <a:solidFill>
                      <a:srgbClr val="0F294D"/>
                    </a:solidFill>
                  </a:tcPr>
                </a:tc>
                <a:tc>
                  <a:txBody>
                    <a:bodyPr wrap="square" tIns="73152" bIns="73152"/>
                    <a:lstStyle/>
                    <a:p>
                      <a:pPr algn="r">
                        <a:defRPr sz="1250" b="1">
                          <a:solidFill>
                            <a:srgbClr val="FFFFFF"/>
                          </a:solidFill>
                          <a:latin typeface="Times New Roman"/>
                        </a:defRPr>
                      </a:pPr>
                      <a:r>
                        <a:t>Hasil Perhitungan</a:t>
                      </a:r>
                    </a:p>
                  </a:txBody>
                  <a:tcPr>
                    <a:solidFill>
                      <a:srgbClr val="0F294D"/>
                    </a:solidFill>
                  </a:tcPr>
                </a:tc>
                <a:tc>
                  <a:txBody>
                    <a:bodyPr wrap="square" tIns="73152" bIns="73152"/>
                    <a:lstStyle/>
                    <a:p>
                      <a:pPr algn="ctr">
                        <a:defRPr sz="1250" b="1">
                          <a:solidFill>
                            <a:srgbClr val="FFFFFF"/>
                          </a:solidFill>
                          <a:latin typeface="Times New Roman"/>
                        </a:defRPr>
                      </a:pPr>
                      <a:r>
                        <a:t>Standar Kelayakan FEB</a:t>
                      </a:r>
                    </a:p>
                  </a:txBody>
                  <a:tcPr>
                    <a:solidFill>
                      <a:srgbClr val="0F294D"/>
                    </a:solidFill>
                  </a:tcPr>
                </a:tc>
                <a:tc>
                  <a:txBody>
                    <a:bodyPr wrap="square" tIns="73152" bIns="73152"/>
                    <a:lstStyle/>
                    <a:p>
                      <a:pPr algn="ctr">
                        <a:defRPr sz="1250" b="1">
                          <a:solidFill>
                            <a:srgbClr val="FFFFFF"/>
                          </a:solidFill>
                          <a:latin typeface="Times New Roman"/>
                        </a:defRPr>
                      </a:pPr>
                      <a:r>
                        <a:t>Status Evaluasi</a:t>
                      </a:r>
                    </a:p>
                  </a:txBody>
                  <a:tcPr>
                    <a:solidFill>
                      <a:srgbClr val="0F294D"/>
                    </a:solidFill>
                  </a:tcPr>
                </a:tc>
              </a:tr>
              <a:tr h="585216">
                <a:tc>
                  <a:txBody>
                    <a:bodyPr wrap="square" tIns="73152" bIns="73152"/>
                    <a:lstStyle/>
                    <a:p>
                      <a:pPr algn="l">
                        <a:defRPr sz="1150" b="1">
                          <a:solidFill>
                            <a:srgbClr val="0F294D"/>
                          </a:solidFill>
                          <a:latin typeface="Times New Roman"/>
                        </a:defRPr>
                      </a:pPr>
                      <a:r>
                        <a:t>Net Present Value (NPV)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tIns="73152" bIns="73152"/>
                    <a:lstStyle/>
                    <a:p>
                      <a:pPr algn="r">
                        <a:defRPr sz="1200" b="1">
                          <a:solidFill>
                            <a:srgbClr val="C27803"/>
                          </a:solidFill>
                          <a:latin typeface="Times New Roman"/>
                        </a:defRPr>
                      </a:pPr>
                      <a:r>
                        <a:t>Rp 5.682.364.987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tIns="73152" bIns="73152"/>
                    <a:lstStyle/>
                    <a:p>
                      <a:pPr algn="ctr">
                        <a:defRPr sz="1100" b="0">
                          <a:solidFill>
                            <a:srgbClr val="475569"/>
                          </a:solidFill>
                          <a:latin typeface="Times New Roman"/>
                        </a:defRPr>
                      </a:pPr>
                      <a:r>
                        <a:t>&gt; Rp 0 (Positif)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tIns="73152" bIns="73152"/>
                    <a:lstStyle/>
                    <a:p>
                      <a:pPr algn="ctr">
                        <a:defRPr sz="1150" b="1">
                          <a:solidFill>
                            <a:srgbClr val="059669"/>
                          </a:solidFill>
                          <a:latin typeface="Times New Roman"/>
                        </a:defRPr>
                      </a:pPr>
                      <a:r>
                        <a:t>SANGAT LAYAK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85216">
                <a:tc>
                  <a:txBody>
                    <a:bodyPr wrap="square" tIns="73152" bIns="73152"/>
                    <a:lstStyle/>
                    <a:p>
                      <a:pPr algn="l">
                        <a:defRPr sz="1150" b="1">
                          <a:solidFill>
                            <a:srgbClr val="0F294D"/>
                          </a:solidFill>
                          <a:latin typeface="Times New Roman"/>
                        </a:defRPr>
                      </a:pPr>
                      <a:r>
                        <a:t>Internal Rate of Return (IRR)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 wrap="square" tIns="73152" bIns="73152"/>
                    <a:lstStyle/>
                    <a:p>
                      <a:pPr algn="r">
                        <a:defRPr sz="1200" b="1">
                          <a:solidFill>
                            <a:srgbClr val="C27803"/>
                          </a:solidFill>
                          <a:latin typeface="Times New Roman"/>
                        </a:defRPr>
                      </a:pPr>
                      <a:r>
                        <a:t>&gt; 20,00%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 wrap="square" tIns="73152" bIns="73152"/>
                    <a:lstStyle/>
                    <a:p>
                      <a:pPr algn="ctr">
                        <a:defRPr sz="1100" b="0">
                          <a:solidFill>
                            <a:srgbClr val="475569"/>
                          </a:solidFill>
                          <a:latin typeface="Times New Roman"/>
                        </a:defRPr>
                      </a:pPr>
                      <a:r>
                        <a:t>&gt; 20,00% (Opportunity Cost)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 wrap="square" tIns="73152" bIns="73152"/>
                    <a:lstStyle/>
                    <a:p>
                      <a:pPr algn="ctr">
                        <a:defRPr sz="1150" b="1">
                          <a:solidFill>
                            <a:srgbClr val="059669"/>
                          </a:solidFill>
                          <a:latin typeface="Times New Roman"/>
                        </a:defRPr>
                      </a:pPr>
                      <a:r>
                        <a:t>SANGAT LAYAK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585216">
                <a:tc>
                  <a:txBody>
                    <a:bodyPr wrap="square" tIns="73152" bIns="73152"/>
                    <a:lstStyle/>
                    <a:p>
                      <a:pPr algn="l">
                        <a:defRPr sz="1150" b="1">
                          <a:solidFill>
                            <a:srgbClr val="0F294D"/>
                          </a:solidFill>
                          <a:latin typeface="Times New Roman"/>
                        </a:defRPr>
                      </a:pPr>
                      <a:r>
                        <a:t>Payback Period (PP)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tIns="73152" bIns="73152"/>
                    <a:lstStyle/>
                    <a:p>
                      <a:pPr algn="r">
                        <a:defRPr sz="1200" b="1">
                          <a:solidFill>
                            <a:srgbClr val="C27803"/>
                          </a:solidFill>
                          <a:latin typeface="Times New Roman"/>
                        </a:defRPr>
                      </a:pPr>
                      <a:r>
                        <a:t>0.82 Bulan (0,07 Thn)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tIns="73152" bIns="73152"/>
                    <a:lstStyle/>
                    <a:p>
                      <a:pPr algn="ctr">
                        <a:defRPr sz="1100" b="0">
                          <a:solidFill>
                            <a:srgbClr val="475569"/>
                          </a:solidFill>
                          <a:latin typeface="Times New Roman"/>
                        </a:defRPr>
                      </a:pPr>
                      <a:r>
                        <a:t>&lt; 36 Bulan (3 Tahun)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tIns="73152" bIns="73152"/>
                    <a:lstStyle/>
                    <a:p>
                      <a:pPr algn="ctr">
                        <a:defRPr sz="1150" b="1">
                          <a:solidFill>
                            <a:srgbClr val="059669"/>
                          </a:solidFill>
                          <a:latin typeface="Times New Roman"/>
                        </a:defRPr>
                      </a:pPr>
                      <a:r>
                        <a:t>SANGAT LAYAK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85216">
                <a:tc>
                  <a:txBody>
                    <a:bodyPr wrap="square" tIns="73152" bIns="73152"/>
                    <a:lstStyle/>
                    <a:p>
                      <a:pPr algn="l">
                        <a:defRPr sz="1150" b="1">
                          <a:solidFill>
                            <a:srgbClr val="0F294D"/>
                          </a:solidFill>
                          <a:latin typeface="Times New Roman"/>
                        </a:defRPr>
                      </a:pPr>
                      <a:r>
                        <a:t>Profitability Index (PI)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 wrap="square" tIns="73152" bIns="73152"/>
                    <a:lstStyle/>
                    <a:p>
                      <a:pPr algn="r">
                        <a:defRPr sz="1200" b="1">
                          <a:solidFill>
                            <a:srgbClr val="C27803"/>
                          </a:solidFill>
                          <a:latin typeface="Times New Roman"/>
                        </a:defRPr>
                      </a:pPr>
                      <a:r>
                        <a:t>175.81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 wrap="square" tIns="73152" bIns="73152"/>
                    <a:lstStyle/>
                    <a:p>
                      <a:pPr algn="ctr">
                        <a:defRPr sz="1100" b="0">
                          <a:solidFill>
                            <a:srgbClr val="475569"/>
                          </a:solidFill>
                          <a:latin typeface="Times New Roman"/>
                        </a:defRPr>
                      </a:pPr>
                      <a:r>
                        <a:t>&gt; 1,20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 wrap="square" tIns="73152" bIns="73152"/>
                    <a:lstStyle/>
                    <a:p>
                      <a:pPr algn="ctr">
                        <a:defRPr sz="1150" b="1">
                          <a:solidFill>
                            <a:srgbClr val="059669"/>
                          </a:solidFill>
                          <a:latin typeface="Times New Roman"/>
                        </a:defRPr>
                      </a:pPr>
                      <a:r>
                        <a:t>SANGAT LAYAK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731520" y="4800600"/>
            <a:ext cx="10728655" cy="1645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93C5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46304" bIns="146304"/>
          <a:lstStyle/>
          <a:p>
            <a:pPr algn="ctr">
              <a:defRPr sz="1250" b="1">
                <a:solidFill>
                  <a:srgbClr val="1E3A8A"/>
                </a:solidFill>
                <a:latin typeface="Times New Roman"/>
              </a:defRPr>
            </a:pPr>
            <a:r>
              <a:t>ANALISIS SENSITIVITAS &amp; KETAHANAN TERHADAP RISIKO PASAR</a:t>
            </a:r>
          </a:p>
          <a:p>
            <a:pPr>
              <a:defRPr sz="1150">
                <a:solidFill>
                  <a:srgbClr val="0F172A"/>
                </a:solidFill>
                <a:latin typeface="Times New Roman"/>
              </a:defRPr>
            </a:pPr>
            <a:r>
              <a:t>• Skenario Kenaikan Harga Bahan Baku Daging (+10%): Nilai NPV tetap positif di atas Rp 5,2 Milyar dengan Payback Period tetap &lt; 1 bulan.</a:t>
            </a:r>
            <a:br/>
            <a:r>
              <a:t>• Skenario Penurunan Volume Penjualan (-15%): Kedai tetap menghasilkan arus kas operasional surplus yang sangat sehat untuk menutup gaji dan sewa ruko.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C2780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457200"/>
            <a:ext cx="10728655" cy="59436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46304" bIns="146304"/>
          <a:lstStyle/>
          <a:p>
            <a:pPr algn="ctr"/>
          </a:p>
        </p:txBody>
      </p:sp>
      <p:pic>
        <p:nvPicPr>
          <p:cNvPr id="5" name="Picture 4" descr="logo_ukrid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46750" y="640080"/>
            <a:ext cx="1097280" cy="10972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914400" y="1828800"/>
            <a:ext cx="10362895" cy="4389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600" b="1">
                <a:solidFill>
                  <a:srgbClr val="C27803"/>
                </a:solidFill>
                <a:latin typeface="Times New Roman"/>
              </a:defRPr>
            </a:pPr>
            <a:r>
              <a:t>KESIMPULAN AKHIR KELAYAKAN INVESTASI</a:t>
            </a:r>
          </a:p>
          <a:p>
            <a:pPr algn="ctr">
              <a:defRPr sz="3400" b="1">
                <a:solidFill>
                  <a:srgbClr val="059669"/>
                </a:solidFill>
                <a:latin typeface="Times New Roman"/>
              </a:defRPr>
            </a:pPr>
            <a:r>
              <a:t>“ BISNIS DINYATAKAN SANGAT LAYAK ”</a:t>
            </a:r>
          </a:p>
          <a:p>
            <a:pPr algn="ctr">
              <a:defRPr sz="1300">
                <a:solidFill>
                  <a:srgbClr val="0F172A"/>
                </a:solidFill>
                <a:latin typeface="Times New Roman"/>
              </a:defRPr>
            </a:pPr>
            <a:br/>
            <a:r>
              <a:t>Berdasarkan hasil analisis komprehensif aspek pasar. manajemen. teknis operasi. dan finansial.</a:t>
            </a:r>
            <a:br/>
            <a:r>
              <a:t>proyek Bakmi Mimu Carina Sayang menghasilkan NPV Rp 5.682.364.987, IRR &gt; 20,00%, Payback Period 0.82 bulan (hanya 0,07 tahun), dan Profitability Index 175.81.</a:t>
            </a:r>
          </a:p>
          <a:p>
            <a:pPr algn="ctr">
              <a:defRPr sz="1200" b="1">
                <a:solidFill>
                  <a:srgbClr val="0F294D"/>
                </a:solidFill>
                <a:latin typeface="Times New Roman"/>
              </a:defRPr>
            </a:pPr>
            <a:br/>
            <a:r>
              <a:t>Disusun Oleh Tim Mahasiswa:</a:t>
            </a:r>
            <a:br/>
            <a:r>
              <a:t>Arthur Reezan (312023002)   •   Jennese Putra Alamsyah Sukadi (312023033)   •   Valendrik Dwiputra Wirawan (312023013)</a:t>
            </a:r>
            <a:br/>
            <a:r>
              <a:t>Affandy (312023075)   •   Steven Putra Tjhin (312023015)</a:t>
            </a:r>
          </a:p>
          <a:p>
            <a:pPr algn="ctr">
              <a:defRPr sz="1200">
                <a:solidFill>
                  <a:srgbClr val="475569"/>
                </a:solidFill>
                <a:latin typeface="Times New Roman"/>
              </a:defRPr>
            </a:pPr>
            <a:br/>
            <a:r>
              <a:t>Sekian &amp; Terima Kasih  |  Sesi Tanya Jawab Dibuka</a:t>
            </a:r>
            <a:br/>
            <a:r>
              <a:t>Program Studi Manajemen  |  Fakultas Ekonomi &amp; Bisnis  |  Universitas Kristen Krida Wacana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